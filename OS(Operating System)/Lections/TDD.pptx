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ED7D31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94660"/>
  </p:normalViewPr>
  <p:slideViewPr>
    <p:cSldViewPr snapToGrid="0">
      <p:cViewPr>
        <p:scale>
          <a:sx n="75" d="100"/>
          <a:sy n="75" d="100"/>
        </p:scale>
        <p:origin x="1277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0864320866141731"/>
          <c:y val="9.7804681483471864E-2"/>
          <c:w val="0.58271358267716533"/>
          <c:h val="0.87407032024665843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 </c:v>
                </c:pt>
              </c:strCache>
            </c:strRef>
          </c:tx>
          <c:explosion val="4"/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Лист1!$A$2:$A$5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E4-4177-9548-4C4E0D612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u="none"/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0.43645</cdr:x>
      <cdr:y>0.06527</cdr:y>
    </cdr:from>
    <cdr:to>
      <cdr:x>0.5168</cdr:x>
      <cdr:y>0.25246</cdr:y>
    </cdr:to>
    <cdr:sp macro="" textlink="">
      <cdr:nvSpPr>
        <cdr:cNvPr id="2" name="Равнобедренный треугольник 1">
          <a:extLst xmlns:a="http://schemas.openxmlformats.org/drawingml/2006/main">
            <a:ext uri="{FF2B5EF4-FFF2-40B4-BE49-F238E27FC236}">
              <a16:creationId xmlns:a16="http://schemas.microsoft.com/office/drawing/2014/main" id="{CF1F3892-A59A-2640-278B-9474183DBF7D}"/>
            </a:ext>
          </a:extLst>
        </cdr:cNvPr>
        <cdr:cNvSpPr/>
      </cdr:nvSpPr>
      <cdr:spPr>
        <a:xfrm xmlns:a="http://schemas.openxmlformats.org/drawingml/2006/main" rot="16200000">
          <a:off x="4749115" y="609600"/>
          <a:ext cx="1252151" cy="906162"/>
        </a:xfrm>
        <a:prstGeom xmlns:a="http://schemas.openxmlformats.org/drawingml/2006/main" prst="triangle">
          <a:avLst/>
        </a:prstGeom>
        <a:solidFill xmlns:a="http://schemas.openxmlformats.org/drawingml/2006/main">
          <a:srgbClr val="ED7D31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 kern="1200"/>
        </a:p>
      </cdr:txBody>
    </cdr:sp>
  </cdr:relSizeAnchor>
  <cdr:relSizeAnchor xmlns:cdr="http://schemas.openxmlformats.org/drawingml/2006/chartDrawing">
    <cdr:from>
      <cdr:x>0.25834</cdr:x>
      <cdr:y>0.67721</cdr:y>
    </cdr:from>
    <cdr:to>
      <cdr:x>0.36937</cdr:x>
      <cdr:y>0.81268</cdr:y>
    </cdr:to>
    <cdr:sp macro="" textlink="">
      <cdr:nvSpPr>
        <cdr:cNvPr id="3" name="Равнобедренный треугольник 2">
          <a:extLst xmlns:a="http://schemas.openxmlformats.org/drawingml/2006/main">
            <a:ext uri="{FF2B5EF4-FFF2-40B4-BE49-F238E27FC236}">
              <a16:creationId xmlns:a16="http://schemas.microsoft.com/office/drawing/2014/main" id="{0602F593-9D85-DCA4-7639-7679B6C3E453}"/>
            </a:ext>
          </a:extLst>
        </cdr:cNvPr>
        <cdr:cNvSpPr/>
      </cdr:nvSpPr>
      <cdr:spPr>
        <a:xfrm xmlns:a="http://schemas.openxmlformats.org/drawingml/2006/main" rot="9067672">
          <a:off x="2913450" y="4529944"/>
          <a:ext cx="1252151" cy="906162"/>
        </a:xfrm>
        <a:prstGeom xmlns:a="http://schemas.openxmlformats.org/drawingml/2006/main" prst="triangle">
          <a:avLst/>
        </a:prstGeom>
        <a:solidFill xmlns:a="http://schemas.openxmlformats.org/drawingml/2006/main">
          <a:srgbClr val="70AD47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 kern="1200"/>
        </a:p>
      </cdr:txBody>
    </cdr:sp>
  </cdr:relSizeAnchor>
  <cdr:relSizeAnchor xmlns:cdr="http://schemas.openxmlformats.org/drawingml/2006/chartDrawing">
    <cdr:from>
      <cdr:x>0.6478</cdr:x>
      <cdr:y>0.62666</cdr:y>
    </cdr:from>
    <cdr:to>
      <cdr:x>0.75883</cdr:x>
      <cdr:y>0.76213</cdr:y>
    </cdr:to>
    <cdr:sp macro="" textlink="">
      <cdr:nvSpPr>
        <cdr:cNvPr id="4" name="Равнобедренный треугольник 3">
          <a:extLst xmlns:a="http://schemas.openxmlformats.org/drawingml/2006/main">
            <a:ext uri="{FF2B5EF4-FFF2-40B4-BE49-F238E27FC236}">
              <a16:creationId xmlns:a16="http://schemas.microsoft.com/office/drawing/2014/main" id="{729C6AE7-F698-13AD-F5A4-2B480CF3E4CB}"/>
            </a:ext>
          </a:extLst>
        </cdr:cNvPr>
        <cdr:cNvSpPr/>
      </cdr:nvSpPr>
      <cdr:spPr>
        <a:xfrm xmlns:a="http://schemas.openxmlformats.org/drawingml/2006/main" rot="1796804">
          <a:off x="7305590" y="4191835"/>
          <a:ext cx="1252151" cy="906162"/>
        </a:xfrm>
        <a:prstGeom xmlns:a="http://schemas.openxmlformats.org/drawingml/2006/main" prst="triangle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 kern="1200"/>
        </a:p>
      </cdr:txBody>
    </cdr:sp>
  </cdr:relSizeAnchor>
  <cdr:relSizeAnchor xmlns:cdr="http://schemas.openxmlformats.org/drawingml/2006/chartDrawing">
    <cdr:from>
      <cdr:x>0.76443</cdr:x>
      <cdr:y>0.21059</cdr:y>
    </cdr:from>
    <cdr:to>
      <cdr:x>0.87765</cdr:x>
      <cdr:y>0.33005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3A74702C-8C1B-8D5F-E86D-E7FA87D960F3}"/>
            </a:ext>
          </a:extLst>
        </cdr:cNvPr>
        <cdr:cNvSpPr txBox="1"/>
      </cdr:nvSpPr>
      <cdr:spPr>
        <a:xfrm xmlns:a="http://schemas.openxmlformats.org/drawingml/2006/main">
          <a:off x="8620897" y="1408670"/>
          <a:ext cx="1276865" cy="7990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4400" b="1" kern="1200" dirty="0">
              <a:ln w="22225">
                <a:solidFill>
                  <a:srgbClr val="C00000"/>
                </a:solidFill>
                <a:prstDash val="solid"/>
              </a:ln>
              <a:solidFill>
                <a:srgbClr val="ED7D31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RED</a:t>
          </a:r>
          <a:endParaRPr lang="ru-RU" sz="4400" b="1" kern="1200" dirty="0">
            <a:ln w="22225">
              <a:solidFill>
                <a:srgbClr val="C00000"/>
              </a:solidFill>
              <a:prstDash val="solid"/>
            </a:ln>
            <a:solidFill>
              <a:srgbClr val="ED7D31"/>
            </a:solidFill>
            <a:latin typeface="Cascadia Code Light" panose="020B0609020000020004" pitchFamily="49" charset="0"/>
            <a:cs typeface="Cascadia Code Light" panose="020B0609020000020004" pitchFamily="49" charset="0"/>
          </a:endParaRPr>
        </a:p>
      </cdr:txBody>
    </cdr:sp>
  </cdr:relSizeAnchor>
  <cdr:relSizeAnchor xmlns:cdr="http://schemas.openxmlformats.org/drawingml/2006/chartDrawing">
    <cdr:from>
      <cdr:x>0.08741</cdr:x>
      <cdr:y>0.2108</cdr:y>
    </cdr:from>
    <cdr:to>
      <cdr:x>0.25603</cdr:x>
      <cdr:y>0.33025</cdr:y>
    </cdr:to>
    <cdr:sp macro="" textlink="">
      <cdr:nvSpPr>
        <cdr:cNvPr id="7" name="TextBox 1">
          <a:extLst xmlns:a="http://schemas.openxmlformats.org/drawingml/2006/main">
            <a:ext uri="{FF2B5EF4-FFF2-40B4-BE49-F238E27FC236}">
              <a16:creationId xmlns:a16="http://schemas.microsoft.com/office/drawing/2014/main" id="{2FFFB805-224C-4927-7369-50CFEAED2C70}"/>
            </a:ext>
          </a:extLst>
        </cdr:cNvPr>
        <cdr:cNvSpPr txBox="1"/>
      </cdr:nvSpPr>
      <cdr:spPr>
        <a:xfrm xmlns:a="http://schemas.openxmlformats.org/drawingml/2006/main">
          <a:off x="985793" y="1410043"/>
          <a:ext cx="1901569" cy="7990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4400" b="1" kern="1200" cap="none" spc="0" dirty="0">
              <a:ln w="22225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scadia Code Light" panose="020B0609020000020004" pitchFamily="49" charset="0"/>
              <a:cs typeface="Cascadia Code Light" panose="020B0609020000020004" pitchFamily="49" charset="0"/>
            </a:rPr>
            <a:t>GREEN</a:t>
          </a:r>
          <a:endParaRPr lang="ru-RU" sz="4400" b="1" kern="1200" cap="none" spc="0" dirty="0">
            <a:ln w="22225">
              <a:solidFill>
                <a:schemeClr val="accent6">
                  <a:lumMod val="75000"/>
                </a:schemeClr>
              </a:solidFill>
              <a:prstDash val="solid"/>
            </a:ln>
            <a:solidFill>
              <a:schemeClr val="accent6">
                <a:lumMod val="40000"/>
                <a:lumOff val="60000"/>
              </a:schemeClr>
            </a:solidFill>
            <a:effectLst/>
            <a:latin typeface="Cascadia Code Light" panose="020B0609020000020004" pitchFamily="49" charset="0"/>
            <a:cs typeface="Cascadia Code Light" panose="020B0609020000020004" pitchFamily="49" charset="0"/>
          </a:endParaRPr>
        </a:p>
      </cdr:txBody>
    </cdr:sp>
  </cdr:relSizeAnchor>
  <cdr:relSizeAnchor xmlns:cdr="http://schemas.openxmlformats.org/drawingml/2006/chartDrawing">
    <cdr:from>
      <cdr:x>0.37311</cdr:x>
      <cdr:y>0.69944</cdr:y>
    </cdr:from>
    <cdr:to>
      <cdr:x>0.62689</cdr:x>
      <cdr:y>0.8189</cdr:y>
    </cdr:to>
    <cdr:sp macro="" textlink="">
      <cdr:nvSpPr>
        <cdr:cNvPr id="8" name="TextBox 1">
          <a:extLst xmlns:a="http://schemas.openxmlformats.org/drawingml/2006/main">
            <a:ext uri="{FF2B5EF4-FFF2-40B4-BE49-F238E27FC236}">
              <a16:creationId xmlns:a16="http://schemas.microsoft.com/office/drawing/2014/main" id="{3B59C459-3796-C9BB-1CB9-172B69FB0C61}"/>
            </a:ext>
          </a:extLst>
        </cdr:cNvPr>
        <cdr:cNvSpPr txBox="1"/>
      </cdr:nvSpPr>
      <cdr:spPr>
        <a:xfrm xmlns:a="http://schemas.openxmlformats.org/drawingml/2006/main">
          <a:off x="4207817" y="4678656"/>
          <a:ext cx="2861964" cy="79907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4400" b="1" kern="1200" dirty="0">
              <a:ln w="22225">
                <a:solidFill>
                  <a:srgbClr val="ED7D31"/>
                </a:solidFill>
                <a:prstDash val="solid"/>
              </a:ln>
              <a:solidFill>
                <a:srgbClr val="FFC000"/>
              </a:solidFill>
              <a:latin typeface="Cascadia Code Light" panose="020B0609020000020004" pitchFamily="49" charset="0"/>
              <a:cs typeface="Cascadia Code Light" panose="020B0609020000020004" pitchFamily="49" charset="0"/>
            </a:rPr>
            <a:t>REFACTOR</a:t>
          </a:r>
          <a:endParaRPr lang="ru-RU" sz="4400" b="1" kern="1200" cap="none" spc="0" dirty="0">
            <a:ln w="22225">
              <a:solidFill>
                <a:srgbClr val="ED7D31"/>
              </a:solidFill>
              <a:prstDash val="solid"/>
            </a:ln>
            <a:solidFill>
              <a:srgbClr val="FFC000"/>
            </a:solidFill>
            <a:effectLst/>
            <a:latin typeface="Cascadia Code Light" panose="020B0609020000020004" pitchFamily="49" charset="0"/>
            <a:cs typeface="Cascadia Code Light" panose="020B0609020000020004" pitchFamily="49" charset="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09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92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68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01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67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08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36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18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2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39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16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5797D-3955-4A57-9502-EAC0472116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615D1-90A3-4F61-B657-8C8703924F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04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673E45C6-5653-9983-BD71-CBF33A6706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2640666"/>
              </p:ext>
            </p:extLst>
          </p:nvPr>
        </p:nvGraphicFramePr>
        <p:xfrm>
          <a:off x="457200" y="-255373"/>
          <a:ext cx="11277599" cy="6689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D2848-8ACC-5A14-61A8-A57762EAF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375425"/>
            <a:ext cx="9144000" cy="1427527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TDD</a:t>
            </a:r>
            <a:br>
              <a:rPr lang="en-US" dirty="0"/>
            </a:b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Driven Development</a:t>
            </a:r>
            <a:endParaRPr lang="ru-RU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659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4DB73-A284-8737-E6CE-5D5B945F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egoe UI Black" panose="020B0A02040204020203" pitchFamily="34" charset="0"/>
                <a:ea typeface="Segoe UI Black" panose="020B0A02040204020203" pitchFamily="34" charset="0"/>
              </a:rPr>
              <a:t>Преимущества 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TDD</a:t>
            </a:r>
            <a:endParaRPr lang="ru-RU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CFC7C5-313F-3212-1B3B-ADB000BCE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11530" cy="4351338"/>
          </a:xfrm>
        </p:spPr>
        <p:txBody>
          <a:bodyPr>
            <a:normAutofit/>
          </a:bodyPr>
          <a:lstStyle/>
          <a:p>
            <a:r>
              <a:rPr lang="ru-RU" sz="3200" dirty="0"/>
              <a:t>Гарантируемое</a:t>
            </a:r>
            <a:r>
              <a:rPr lang="en-US" sz="3200" dirty="0"/>
              <a:t> </a:t>
            </a:r>
            <a:r>
              <a:rPr lang="ru-RU" sz="3200" dirty="0"/>
              <a:t>покрытие</a:t>
            </a:r>
            <a:r>
              <a:rPr lang="en-US" sz="3200" dirty="0"/>
              <a:t> </a:t>
            </a:r>
            <a:r>
              <a:rPr lang="ru-RU" sz="3200" dirty="0"/>
              <a:t>кода</a:t>
            </a:r>
            <a:r>
              <a:rPr lang="en-US" sz="3200" dirty="0"/>
              <a:t> </a:t>
            </a:r>
            <a:r>
              <a:rPr lang="ru-RU" sz="3200" dirty="0"/>
              <a:t>тестами</a:t>
            </a:r>
            <a:endParaRPr lang="en-US" sz="3200" dirty="0"/>
          </a:p>
          <a:p>
            <a:r>
              <a:rPr lang="ru-RU" sz="3200" dirty="0"/>
              <a:t>Упрощение и безопасность рефакторинга</a:t>
            </a:r>
          </a:p>
          <a:p>
            <a:r>
              <a:rPr lang="ru-RU" sz="3200" dirty="0"/>
              <a:t>Документирование ожидаемого поведения</a:t>
            </a:r>
          </a:p>
          <a:p>
            <a:r>
              <a:rPr lang="ru-RU" sz="3200" dirty="0"/>
              <a:t>Скорость обнаружения и исправления ошибок</a:t>
            </a:r>
          </a:p>
          <a:p>
            <a:r>
              <a:rPr lang="ru-RU" sz="3200" dirty="0"/>
              <a:t>Экономия времени на долгосрочной перспективе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6F0F83-158F-3F13-C328-0565290011C5}"/>
              </a:ext>
            </a:extLst>
          </p:cNvPr>
          <p:cNvSpPr/>
          <p:nvPr/>
        </p:nvSpPr>
        <p:spPr>
          <a:xfrm>
            <a:off x="7660640" y="0"/>
            <a:ext cx="6012000" cy="7026876"/>
          </a:xfrm>
          <a:custGeom>
            <a:avLst/>
            <a:gdLst>
              <a:gd name="connsiteX0" fmla="*/ 0 w 4390768"/>
              <a:gd name="connsiteY0" fmla="*/ 0 h 7026876"/>
              <a:gd name="connsiteX1" fmla="*/ 4390768 w 4390768"/>
              <a:gd name="connsiteY1" fmla="*/ 0 h 7026876"/>
              <a:gd name="connsiteX2" fmla="*/ 4390768 w 4390768"/>
              <a:gd name="connsiteY2" fmla="*/ 7026876 h 7026876"/>
              <a:gd name="connsiteX3" fmla="*/ 0 w 4390768"/>
              <a:gd name="connsiteY3" fmla="*/ 7026876 h 7026876"/>
              <a:gd name="connsiteX4" fmla="*/ 0 w 4390768"/>
              <a:gd name="connsiteY4" fmla="*/ 0 h 7026876"/>
              <a:gd name="connsiteX0" fmla="*/ 0 w 4390768"/>
              <a:gd name="connsiteY0" fmla="*/ 0 h 7026876"/>
              <a:gd name="connsiteX1" fmla="*/ 4390768 w 4390768"/>
              <a:gd name="connsiteY1" fmla="*/ 0 h 7026876"/>
              <a:gd name="connsiteX2" fmla="*/ 4390768 w 4390768"/>
              <a:gd name="connsiteY2" fmla="*/ 7026876 h 7026876"/>
              <a:gd name="connsiteX3" fmla="*/ 1985319 w 4390768"/>
              <a:gd name="connsiteY3" fmla="*/ 7026876 h 7026876"/>
              <a:gd name="connsiteX4" fmla="*/ 0 w 4390768"/>
              <a:gd name="connsiteY4" fmla="*/ 0 h 7026876"/>
              <a:gd name="connsiteX0" fmla="*/ 0 w 4390768"/>
              <a:gd name="connsiteY0" fmla="*/ 0 h 7047196"/>
              <a:gd name="connsiteX1" fmla="*/ 4390768 w 4390768"/>
              <a:gd name="connsiteY1" fmla="*/ 0 h 7047196"/>
              <a:gd name="connsiteX2" fmla="*/ 4390768 w 4390768"/>
              <a:gd name="connsiteY2" fmla="*/ 7026876 h 7047196"/>
              <a:gd name="connsiteX3" fmla="*/ 1102316 w 4390768"/>
              <a:gd name="connsiteY3" fmla="*/ 7047196 h 7047196"/>
              <a:gd name="connsiteX4" fmla="*/ 0 w 4390768"/>
              <a:gd name="connsiteY4" fmla="*/ 0 h 7047196"/>
              <a:gd name="connsiteX0" fmla="*/ 0 w 4390768"/>
              <a:gd name="connsiteY0" fmla="*/ 0 h 7057356"/>
              <a:gd name="connsiteX1" fmla="*/ 4390768 w 4390768"/>
              <a:gd name="connsiteY1" fmla="*/ 0 h 7057356"/>
              <a:gd name="connsiteX2" fmla="*/ 4390768 w 4390768"/>
              <a:gd name="connsiteY2" fmla="*/ 7026876 h 7057356"/>
              <a:gd name="connsiteX3" fmla="*/ 1911117 w 4390768"/>
              <a:gd name="connsiteY3" fmla="*/ 7057356 h 7057356"/>
              <a:gd name="connsiteX4" fmla="*/ 0 w 4390768"/>
              <a:gd name="connsiteY4" fmla="*/ 0 h 7057356"/>
              <a:gd name="connsiteX0" fmla="*/ 0 w 4390768"/>
              <a:gd name="connsiteY0" fmla="*/ 0 h 7026876"/>
              <a:gd name="connsiteX1" fmla="*/ 4390768 w 4390768"/>
              <a:gd name="connsiteY1" fmla="*/ 0 h 7026876"/>
              <a:gd name="connsiteX2" fmla="*/ 4390768 w 4390768"/>
              <a:gd name="connsiteY2" fmla="*/ 7026876 h 7026876"/>
              <a:gd name="connsiteX3" fmla="*/ 1784974 w 4390768"/>
              <a:gd name="connsiteY3" fmla="*/ 7026876 h 7026876"/>
              <a:gd name="connsiteX4" fmla="*/ 0 w 4390768"/>
              <a:gd name="connsiteY4" fmla="*/ 0 h 702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0768" h="7026876">
                <a:moveTo>
                  <a:pt x="0" y="0"/>
                </a:moveTo>
                <a:lnTo>
                  <a:pt x="4390768" y="0"/>
                </a:lnTo>
                <a:lnTo>
                  <a:pt x="4390768" y="7026876"/>
                </a:lnTo>
                <a:lnTo>
                  <a:pt x="1784974" y="70268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76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D3662-FBE3-D201-8459-19500A6F2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Segoe UI Black" panose="020B0A02040204020203" pitchFamily="34" charset="0"/>
                <a:ea typeface="Segoe UI Black" panose="020B0A02040204020203" pitchFamily="34" charset="0"/>
              </a:rPr>
              <a:t>Поставленная 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2E2977-3A92-017C-FD65-D9FEF7B75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068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Реализовать класс-калькулятор математических выражений с простейшими алгебраическими действиями без скобок с учётом приоритета действий.</a:t>
            </a:r>
          </a:p>
          <a:p>
            <a:pPr marL="0" indent="0">
              <a:buNone/>
            </a:pPr>
            <a:r>
              <a:rPr lang="ru-RU" dirty="0"/>
              <a:t>Оговоренные ограничения:</a:t>
            </a:r>
          </a:p>
          <a:p>
            <a:r>
              <a:rPr lang="ru-RU" dirty="0"/>
              <a:t>Все выражения лексически верные (для наглядности)</a:t>
            </a:r>
          </a:p>
          <a:p>
            <a:r>
              <a:rPr lang="ru-RU" dirty="0"/>
              <a:t>Рассматриваются только случаи с целочисленным делением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Дедус | Фиксипедия | Fandom">
            <a:extLst>
              <a:ext uri="{FF2B5EF4-FFF2-40B4-BE49-F238E27FC236}">
                <a16:creationId xmlns:a16="http://schemas.microsoft.com/office/drawing/2014/main" id="{9497B665-78C0-7C00-0F62-A9B4CEEC6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515" y="495959"/>
            <a:ext cx="4820285" cy="586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19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18474-E0D6-965D-C123-813B2DDB2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be-BY" sz="7200" dirty="0">
                <a:latin typeface="Segoe UI Black" panose="020B0A02040204020203" pitchFamily="34" charset="0"/>
                <a:ea typeface="Segoe UI Black" panose="020B0A02040204020203" pitchFamily="34" charset="0"/>
              </a:rPr>
              <a:t>Реализация</a:t>
            </a:r>
            <a:endParaRPr lang="ru-RU" sz="7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7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E2851-8369-DB5E-521E-FC196B43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588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Подготовка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B85DD5-E665-BC51-3426-17B80C0E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1137920"/>
            <a:ext cx="4258169" cy="560832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383DF7-990A-5560-E2A2-1CEF6D284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889" y="1785706"/>
            <a:ext cx="7649643" cy="3934374"/>
          </a:xfrm>
          <a:prstGeom prst="rect">
            <a:avLst/>
          </a:prstGeom>
        </p:spPr>
      </p:pic>
      <p:sp>
        <p:nvSpPr>
          <p:cNvPr id="13" name="Овал 12">
            <a:extLst>
              <a:ext uri="{FF2B5EF4-FFF2-40B4-BE49-F238E27FC236}">
                <a16:creationId xmlns:a16="http://schemas.microsoft.com/office/drawing/2014/main" id="{C4D5A241-AFD3-B70B-11BB-9102BFED5969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16C1DF-F3B0-D1B9-50C9-A943E4925ADA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622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F1C0B2-83E6-81E1-5F3A-937925CC4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73" y="37627"/>
            <a:ext cx="6096851" cy="33913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5593BD-2EDC-07CB-0DF2-104A6071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8" y="3514737"/>
            <a:ext cx="11774543" cy="3305636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317FABA2-1B29-3D6C-D3C6-7781A6AF1258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0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59E12-2766-CB28-9333-772B723A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Добавление пустого выражения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5E8C7E-A8CE-6A6E-D51B-258D590E3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296"/>
          <a:stretch>
            <a:fillRect/>
          </a:stretch>
        </p:blipFill>
        <p:spPr>
          <a:xfrm>
            <a:off x="1137920" y="1170305"/>
            <a:ext cx="9670224" cy="22586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5FE517-0F2E-AC0D-8651-7676D62C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221" r="47666"/>
          <a:stretch>
            <a:fillRect/>
          </a:stretch>
        </p:blipFill>
        <p:spPr>
          <a:xfrm>
            <a:off x="1311855" y="3464275"/>
            <a:ext cx="9322354" cy="3300121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6F064F4C-DD2C-514D-47A5-35C9B40F788E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23F59-6C28-DA3A-D428-54599335661C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0655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2D4D0C-489A-1A3C-B40A-51AE0DE0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404"/>
          <a:stretch>
            <a:fillRect/>
          </a:stretch>
        </p:blipFill>
        <p:spPr>
          <a:xfrm>
            <a:off x="265885" y="1838959"/>
            <a:ext cx="11660227" cy="12642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2EF356-B7B3-6CC9-9C42-BFD067E133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344"/>
          <a:stretch>
            <a:fillRect/>
          </a:stretch>
        </p:blipFill>
        <p:spPr>
          <a:xfrm>
            <a:off x="508825" y="3754743"/>
            <a:ext cx="11174345" cy="1503680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33368B6C-DB9F-362B-87F3-719FD3747096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3C807-EAC6-3F0D-EBB0-A443D1C6F4D9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458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CB16EE-FD3E-D5C7-0BF8-9B5FB4AC9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336" r="41615"/>
          <a:stretch>
            <a:fillRect/>
          </a:stretch>
        </p:blipFill>
        <p:spPr>
          <a:xfrm>
            <a:off x="231105" y="1645920"/>
            <a:ext cx="11463055" cy="3718319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945D3806-2144-26C2-3680-09B4C0D5F471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431E3-57CE-1603-2D1D-64BBAD6C1263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6549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117DA-334E-F6E0-F52E-F72E7167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08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Добавление ввода одного числа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5FBA63-86F8-5E0A-0EE1-697FFA39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88" y="1497648"/>
            <a:ext cx="7729824" cy="18145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11B164-1947-34BE-35CC-5F81D58E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032" r="38333"/>
          <a:stretch>
            <a:fillRect/>
          </a:stretch>
        </p:blipFill>
        <p:spPr>
          <a:xfrm>
            <a:off x="1558198" y="3429000"/>
            <a:ext cx="8968870" cy="3103880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38EA7C93-0B08-5BE0-DE4D-B2C0DB681C34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EC236-C949-B35D-0A95-859F7A9222E2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6261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EEE13C-4F04-22A5-791A-AB45B11BD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13" y="316137"/>
            <a:ext cx="8878385" cy="42558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3DAFA7-5033-E5B1-180E-CC94FF37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488"/>
          <a:stretch>
            <a:fillRect/>
          </a:stretch>
        </p:blipFill>
        <p:spPr>
          <a:xfrm>
            <a:off x="582841" y="4998720"/>
            <a:ext cx="10455928" cy="1391920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46DC838D-5F29-C160-77B3-1B94EBA86638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BA2C0-AC17-CEFB-3000-D2B26CAADC9D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0454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03871F-2492-412A-C864-8562BECC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253" y="470432"/>
            <a:ext cx="9075494" cy="21305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2E2571-6AE2-C5F8-F73D-718E03BC0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741" r="37957"/>
          <a:stretch>
            <a:fillRect/>
          </a:stretch>
        </p:blipFill>
        <p:spPr>
          <a:xfrm>
            <a:off x="630202" y="2694145"/>
            <a:ext cx="10931595" cy="4074683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AFD0F595-0031-A79D-BFA7-FC442F282646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BED74-CC42-7BDF-DA3A-C82E7020BABD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6943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B178D9-1698-7946-984F-7A4298D6764B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6C6CF6-0B5D-B28F-0B45-4605AB68D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36" y="125233"/>
            <a:ext cx="7133728" cy="466556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7CD5DB-C0FE-5C4F-D0ED-669162DDE9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330"/>
          <a:stretch>
            <a:fillRect/>
          </a:stretch>
        </p:blipFill>
        <p:spPr>
          <a:xfrm>
            <a:off x="771171" y="4876800"/>
            <a:ext cx="10649657" cy="1351280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9A33EAF8-7C6A-9ECA-8EA6-B2BB3D6FA402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211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213820-FC00-2D6F-B1AC-8BC6291D1D27}"/>
              </a:ext>
            </a:extLst>
          </p:cNvPr>
          <p:cNvSpPr txBox="1"/>
          <p:nvPr/>
        </p:nvSpPr>
        <p:spPr>
          <a:xfrm>
            <a:off x="335280" y="125233"/>
            <a:ext cx="3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9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9235D168-5B46-5EA1-6538-62EFE62C62DA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FB6AB8-17D1-57EA-34AB-7BFF136BA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96" y="1167612"/>
            <a:ext cx="9852806" cy="306751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95DBFB-6115-9CC5-0CDF-B3D936A41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644"/>
          <a:stretch>
            <a:fillRect/>
          </a:stretch>
        </p:blipFill>
        <p:spPr>
          <a:xfrm>
            <a:off x="543120" y="4815841"/>
            <a:ext cx="11105759" cy="144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32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3F7541-33E8-BC5B-9596-6900D2499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577" y="362368"/>
            <a:ext cx="9144845" cy="39962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1923CA-754B-441B-282B-1D2EE311D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87" y="4635058"/>
            <a:ext cx="11458626" cy="15625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DEBA4C-DFEF-981E-0DA8-B9D948FC9A97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7A9D29C-1AF3-C061-924E-9123029E81A5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53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999D8-4D18-FAFE-6513-0FBB815C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889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Добавление обработки действий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19825-746B-2841-92D0-FD37BC134FF3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11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56C03A9-1242-E944-3949-3A87E723C84B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1042A5-F503-22D5-4769-69BB336C3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81" y="1654456"/>
            <a:ext cx="9262437" cy="200872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C5101E-5E6E-7AE5-2F54-20EA665BE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70" y="3778604"/>
            <a:ext cx="10247860" cy="28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73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168BF9-98AB-59F1-02D7-085F97FF1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31" y="76541"/>
            <a:ext cx="8341537" cy="51504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8193F4-B5AC-0AA0-86A9-6774831E5B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382"/>
          <a:stretch>
            <a:fillRect/>
          </a:stretch>
        </p:blipFill>
        <p:spPr>
          <a:xfrm>
            <a:off x="1043203" y="5313680"/>
            <a:ext cx="10105594" cy="1016000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16D0605F-6B01-BB36-3B29-D22B7477AA6E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85062-1B65-C325-926E-27DFCE3AD9A2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9847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704C-BE1D-F70A-1BAE-00336213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вал 7">
            <a:extLst>
              <a:ext uri="{FF2B5EF4-FFF2-40B4-BE49-F238E27FC236}">
                <a16:creationId xmlns:a16="http://schemas.microsoft.com/office/drawing/2014/main" id="{365919D6-6DB6-6348-1670-C85D145946C7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E45EA-347E-BFF7-FCAE-6C49065B2A64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13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2603EA-C627-3146-48BE-6396598DA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13" y="1117601"/>
            <a:ext cx="10289573" cy="21811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54E873-D8DD-AC3A-5AE8-B1508603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79" y="3381232"/>
            <a:ext cx="10289573" cy="321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58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E5F5FE-9B6E-8CE0-81D9-F2FA3BDF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1" y="69893"/>
            <a:ext cx="5314298" cy="5222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1C1B5-2148-D785-E2B3-1E3BEDD6532C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14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B8E77193-E366-338C-C579-DFAD8A20202D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42FAB3-F20D-5435-7784-87E4847A0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710" y="5362832"/>
            <a:ext cx="9182060" cy="120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70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E9D9-8B18-067C-90DD-435FC19D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4C782A-3987-0FB4-41E6-C2EEE2657A57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15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212BDFE-5C1C-706A-FF9C-24ADEA99DB57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8056B6-2FE0-06D2-08F4-4A5E4B20E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10" y="5362832"/>
            <a:ext cx="9182060" cy="120052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6E454F-72F8-6112-E080-6EBCA61E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197" y="125233"/>
            <a:ext cx="5047086" cy="517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50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2B5A39-41B8-1143-EC8F-64683BE28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28" y="965183"/>
            <a:ext cx="10038344" cy="21371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45E343-86A5-A60E-1CA3-702F1595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28" y="3173515"/>
            <a:ext cx="10038343" cy="3075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9E5CBF-D8E8-AC35-3D43-472A6EF9AB6F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16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A5C49DC9-C7B6-31EB-7824-B15C17FCABE3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1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795B89-ECA7-8E14-AFAE-8272D93FD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233679"/>
            <a:ext cx="5384799" cy="536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DDF9AC-F584-282F-CD8C-21909A416B40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17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9B68F7-5912-3728-3FE5-1D0832008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849" y="2762233"/>
            <a:ext cx="6354062" cy="2838846"/>
          </a:xfrm>
          <a:prstGeom prst="rect">
            <a:avLst/>
          </a:prstGeom>
        </p:spPr>
      </p:pic>
      <p:sp>
        <p:nvSpPr>
          <p:cNvPr id="9" name="Овал 8">
            <a:extLst>
              <a:ext uri="{FF2B5EF4-FFF2-40B4-BE49-F238E27FC236}">
                <a16:creationId xmlns:a16="http://schemas.microsoft.com/office/drawing/2014/main" id="{DB27337C-1B09-211C-3DB6-16A7793C6A6E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7587D28-86C4-1455-BD32-5B5B9767B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574" y="5671688"/>
            <a:ext cx="682085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09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FAE50-A7D9-A7C0-9955-3E4E27D0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945515"/>
          </a:xfrm>
        </p:spPr>
        <p:txBody>
          <a:bodyPr/>
          <a:lstStyle/>
          <a:p>
            <a:pPr algn="ctr"/>
            <a:r>
              <a:rPr lang="ru-RU" dirty="0"/>
              <a:t>Увеличение количества операнд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D9489-8D6A-4A6E-3BAA-6304BC122E2F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18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22D50BE-F913-EDEC-913C-D9DD60A9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82" y="1367652"/>
            <a:ext cx="9794089" cy="190222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EE7F0E-16C7-C16C-F555-AD5D46643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81" y="3418326"/>
            <a:ext cx="9803331" cy="2758953"/>
          </a:xfrm>
          <a:prstGeom prst="rect">
            <a:avLst/>
          </a:prstGeom>
        </p:spPr>
      </p:pic>
      <p:sp>
        <p:nvSpPr>
          <p:cNvPr id="11" name="Овал 10">
            <a:extLst>
              <a:ext uri="{FF2B5EF4-FFF2-40B4-BE49-F238E27FC236}">
                <a16:creationId xmlns:a16="http://schemas.microsoft.com/office/drawing/2014/main" id="{E3D5083E-C661-59E4-0E1E-ED90903F95F7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85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BF6F59-3C03-3980-CD78-FFF86649C7AD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19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58C280A-3C46-A76E-A5D1-499EECAD17DC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1E4CD8-D100-7722-322A-C01DC59BF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652974"/>
            <a:ext cx="5221575" cy="607979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769AF7E-62C6-09D4-7741-C8E063A8F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0" y="1811420"/>
            <a:ext cx="7211431" cy="37629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698D14E-A218-552C-0BB6-7AB510A33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938" y="5793472"/>
            <a:ext cx="6642773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70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646BD-8A4B-68F3-0933-62E23812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63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Добавление приоритета действий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64270-78BA-D3B5-A3BD-C6DA762CE4DF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20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5921243D-9337-53C1-A321-543497CF885B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360DDC-C258-26FE-975B-D179CBBC6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27" y="1138712"/>
            <a:ext cx="8694944" cy="35506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6D7772-D643-6771-030D-9F029D0D1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47" r="33382"/>
          <a:stretch>
            <a:fillRect/>
          </a:stretch>
        </p:blipFill>
        <p:spPr>
          <a:xfrm>
            <a:off x="2247020" y="4760500"/>
            <a:ext cx="7697959" cy="197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71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49804C-C2C2-F524-A29C-AD8B73E6B5F4}"/>
              </a:ext>
            </a:extLst>
          </p:cNvPr>
          <p:cNvSpPr txBox="1"/>
          <p:nvPr/>
        </p:nvSpPr>
        <p:spPr>
          <a:xfrm>
            <a:off x="335280" y="12523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21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24392F3-1F75-B495-4C8E-F2FB3989911E}"/>
              </a:ext>
            </a:extLst>
          </p:cNvPr>
          <p:cNvSpPr/>
          <p:nvPr/>
        </p:nvSpPr>
        <p:spPr>
          <a:xfrm>
            <a:off x="11054080" y="69893"/>
            <a:ext cx="965200" cy="965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9C4BA1-C306-5C7E-31DE-A1B46A5EC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586898"/>
            <a:ext cx="5547360" cy="60564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C782A31-BE1D-30C8-E080-C1DFD6B9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080" y="1111050"/>
            <a:ext cx="6079848" cy="553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66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0375F-AA17-7065-EA50-26482F3C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Segoe UI Black" panose="020B0A02040204020203" pitchFamily="34" charset="0"/>
                <a:ea typeface="Segoe UI Black" panose="020B0A02040204020203" pitchFamily="34" charset="0"/>
              </a:rPr>
              <a:t>Итого получили 21 коммит</a:t>
            </a:r>
            <a:br>
              <a:rPr lang="ru-RU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ru-RU" dirty="0">
                <a:latin typeface="Segoe UI Black" panose="020B0A02040204020203" pitchFamily="34" charset="0"/>
                <a:ea typeface="Segoe UI Black" panose="020B0A02040204020203" pitchFamily="34" charset="0"/>
              </a:rPr>
              <a:t>на 70 строк кода</a:t>
            </a:r>
          </a:p>
        </p:txBody>
      </p:sp>
    </p:spTree>
    <p:extLst>
      <p:ext uri="{BB962C8B-B14F-4D97-AF65-F5344CB8AC3E}">
        <p14:creationId xmlns:p14="http://schemas.microsoft.com/office/powerpoint/2010/main" val="18988285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</TotalTime>
  <Words>114</Words>
  <Application>Microsoft Office PowerPoint</Application>
  <PresentationFormat>Широкоэкранный</PresentationFormat>
  <Paragraphs>45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Cascadia Code Light</vt:lpstr>
      <vt:lpstr>Segoe UI Black</vt:lpstr>
      <vt:lpstr>Тема Office</vt:lpstr>
      <vt:lpstr>TDD Test Driven Development</vt:lpstr>
      <vt:lpstr>Преимущества TDD</vt:lpstr>
      <vt:lpstr>Поставленная задача</vt:lpstr>
      <vt:lpstr>Реализация</vt:lpstr>
      <vt:lpstr>Подготовка</vt:lpstr>
      <vt:lpstr>Презентация PowerPoint</vt:lpstr>
      <vt:lpstr>Добавление пустого выражения</vt:lpstr>
      <vt:lpstr>Презентация PowerPoint</vt:lpstr>
      <vt:lpstr>Презентация PowerPoint</vt:lpstr>
      <vt:lpstr>Добавление ввода одного числа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Добавление обработки действий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Увеличение количества операнд</vt:lpstr>
      <vt:lpstr>Презентация PowerPoint</vt:lpstr>
      <vt:lpstr>Добавление приоритета действий</vt:lpstr>
      <vt:lpstr>Презентация PowerPoint</vt:lpstr>
      <vt:lpstr>Итого получили 21 коммит на 70 строк кода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Старовойтов</dc:creator>
  <cp:lastModifiedBy>Илья Старовойтов</cp:lastModifiedBy>
  <cp:revision>2</cp:revision>
  <dcterms:created xsi:type="dcterms:W3CDTF">2025-10-16T04:51:26Z</dcterms:created>
  <dcterms:modified xsi:type="dcterms:W3CDTF">2025-10-16T06:09:08Z</dcterms:modified>
</cp:coreProperties>
</file>