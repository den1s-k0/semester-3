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4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  <p:sldMasterId id="2147483747" r:id="rId2"/>
    <p:sldMasterId id="2147483730" r:id="rId3"/>
    <p:sldMasterId id="2147483759" r:id="rId4"/>
    <p:sldMasterId id="2147483777" r:id="rId5"/>
  </p:sldMasterIdLst>
  <p:notesMasterIdLst>
    <p:notesMasterId r:id="rId59"/>
  </p:notesMasterIdLst>
  <p:sldIdLst>
    <p:sldId id="256" r:id="rId6"/>
    <p:sldId id="267" r:id="rId7"/>
    <p:sldId id="307" r:id="rId8"/>
    <p:sldId id="260" r:id="rId9"/>
    <p:sldId id="259" r:id="rId10"/>
    <p:sldId id="261" r:id="rId11"/>
    <p:sldId id="262" r:id="rId12"/>
    <p:sldId id="263" r:id="rId13"/>
    <p:sldId id="264" r:id="rId14"/>
    <p:sldId id="274" r:id="rId15"/>
    <p:sldId id="266" r:id="rId16"/>
    <p:sldId id="275" r:id="rId17"/>
    <p:sldId id="276" r:id="rId18"/>
    <p:sldId id="270" r:id="rId19"/>
    <p:sldId id="271" r:id="rId20"/>
    <p:sldId id="272" r:id="rId21"/>
    <p:sldId id="273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278" r:id="rId38"/>
    <p:sldId id="277" r:id="rId39"/>
    <p:sldId id="257" r:id="rId40"/>
    <p:sldId id="25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65" r:id="rId52"/>
    <p:sldId id="289" r:id="rId53"/>
    <p:sldId id="290" r:id="rId54"/>
    <p:sldId id="268" r:id="rId55"/>
    <p:sldId id="308" r:id="rId56"/>
    <p:sldId id="269" r:id="rId57"/>
    <p:sldId id="291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2085C0-9A02-459F-B4A1-190FAA6BC86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333DDA76-8E5B-4E0C-9F65-A9FC5D28EEF9}">
      <dgm:prSet custT="1"/>
      <dgm:spPr/>
      <dgm:t>
        <a:bodyPr/>
        <a:lstStyle/>
        <a:p>
          <a:pPr rtl="0"/>
          <a:r>
            <a:rPr lang="en-US" sz="4800"/>
            <a:t>Model</a:t>
          </a:r>
        </a:p>
      </dgm:t>
    </dgm:pt>
    <dgm:pt modelId="{0E445572-6390-4AA7-ACDA-EE6F0A4A14E8}" type="parTrans" cxnId="{72D93C72-BB59-4E9F-BE36-8CD56A64E666}">
      <dgm:prSet/>
      <dgm:spPr/>
      <dgm:t>
        <a:bodyPr/>
        <a:lstStyle/>
        <a:p>
          <a:endParaRPr lang="ru-RU"/>
        </a:p>
      </dgm:t>
    </dgm:pt>
    <dgm:pt modelId="{A45068FB-5FC8-421B-81A7-BC4BF2244495}" type="sibTrans" cxnId="{72D93C72-BB59-4E9F-BE36-8CD56A64E666}">
      <dgm:prSet/>
      <dgm:spPr/>
      <dgm:t>
        <a:bodyPr/>
        <a:lstStyle/>
        <a:p>
          <a:endParaRPr lang="ru-RU"/>
        </a:p>
      </dgm:t>
    </dgm:pt>
    <dgm:pt modelId="{789ABBA4-3DE7-42C9-B663-8FA57FC3AF3D}">
      <dgm:prSet custT="1"/>
      <dgm:spPr/>
      <dgm:t>
        <a:bodyPr/>
        <a:lstStyle/>
        <a:p>
          <a:pPr rtl="0"/>
          <a:r>
            <a:rPr lang="en-US" sz="4800"/>
            <a:t>View</a:t>
          </a:r>
        </a:p>
      </dgm:t>
    </dgm:pt>
    <dgm:pt modelId="{C00C74D3-30EC-4C1E-BE22-0DEA2EDE9A44}" type="parTrans" cxnId="{5942166A-211D-4AB9-BDC7-1AB6FC214435}">
      <dgm:prSet/>
      <dgm:spPr/>
      <dgm:t>
        <a:bodyPr/>
        <a:lstStyle/>
        <a:p>
          <a:endParaRPr lang="ru-RU"/>
        </a:p>
      </dgm:t>
    </dgm:pt>
    <dgm:pt modelId="{FF69C1E9-1D15-48CF-AB99-1ACA9E38296E}" type="sibTrans" cxnId="{5942166A-211D-4AB9-BDC7-1AB6FC214435}">
      <dgm:prSet/>
      <dgm:spPr/>
      <dgm:t>
        <a:bodyPr/>
        <a:lstStyle/>
        <a:p>
          <a:endParaRPr lang="ru-RU"/>
        </a:p>
      </dgm:t>
    </dgm:pt>
    <dgm:pt modelId="{9C37E025-8E1F-4BD9-BD9C-A3B184AACF58}">
      <dgm:prSet custT="1"/>
      <dgm:spPr/>
      <dgm:t>
        <a:bodyPr/>
        <a:lstStyle/>
        <a:p>
          <a:pPr rtl="0"/>
          <a:r>
            <a:rPr lang="en-US" sz="4800"/>
            <a:t>Presenter</a:t>
          </a:r>
        </a:p>
      </dgm:t>
    </dgm:pt>
    <dgm:pt modelId="{B399ECE5-B872-40B0-B6D4-AB6CE1903344}" type="parTrans" cxnId="{7164A9EF-A3C8-4FBB-A57E-EA1D7EEBDD8A}">
      <dgm:prSet/>
      <dgm:spPr/>
      <dgm:t>
        <a:bodyPr/>
        <a:lstStyle/>
        <a:p>
          <a:endParaRPr lang="ru-RU"/>
        </a:p>
      </dgm:t>
    </dgm:pt>
    <dgm:pt modelId="{B1FE8D6B-6C3F-4D0E-8CE4-90EDC86AEBD7}" type="sibTrans" cxnId="{7164A9EF-A3C8-4FBB-A57E-EA1D7EEBDD8A}">
      <dgm:prSet/>
      <dgm:spPr/>
      <dgm:t>
        <a:bodyPr/>
        <a:lstStyle/>
        <a:p>
          <a:endParaRPr lang="ru-RU"/>
        </a:p>
      </dgm:t>
    </dgm:pt>
    <dgm:pt modelId="{81F90D29-F071-4BE4-827B-C96C6CCE7C23}" type="pres">
      <dgm:prSet presAssocID="{112085C0-9A02-459F-B4A1-190FAA6BC86B}" presName="linear" presStyleCnt="0">
        <dgm:presLayoutVars>
          <dgm:dir/>
          <dgm:animLvl val="lvl"/>
          <dgm:resizeHandles val="exact"/>
        </dgm:presLayoutVars>
      </dgm:prSet>
      <dgm:spPr/>
    </dgm:pt>
    <dgm:pt modelId="{1B501242-4635-4B64-BF33-CB790D9195E9}" type="pres">
      <dgm:prSet presAssocID="{333DDA76-8E5B-4E0C-9F65-A9FC5D28EEF9}" presName="parentLin" presStyleCnt="0"/>
      <dgm:spPr/>
    </dgm:pt>
    <dgm:pt modelId="{6E3E3F97-8D91-46EC-B2C2-0EEA54DE6D7C}" type="pres">
      <dgm:prSet presAssocID="{333DDA76-8E5B-4E0C-9F65-A9FC5D28EEF9}" presName="parentLeftMargin" presStyleLbl="node1" presStyleIdx="0" presStyleCnt="3"/>
      <dgm:spPr/>
    </dgm:pt>
    <dgm:pt modelId="{72D7F288-4F35-427E-B568-EE4275245708}" type="pres">
      <dgm:prSet presAssocID="{333DDA76-8E5B-4E0C-9F65-A9FC5D28EEF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C837287-1E53-40AB-BBF9-106EC1CFC885}" type="pres">
      <dgm:prSet presAssocID="{333DDA76-8E5B-4E0C-9F65-A9FC5D28EEF9}" presName="negativeSpace" presStyleCnt="0"/>
      <dgm:spPr/>
    </dgm:pt>
    <dgm:pt modelId="{E7ED4D1B-795F-4A6F-AB9F-FD2BBBDB4854}" type="pres">
      <dgm:prSet presAssocID="{333DDA76-8E5B-4E0C-9F65-A9FC5D28EEF9}" presName="childText" presStyleLbl="conFgAcc1" presStyleIdx="0" presStyleCnt="3">
        <dgm:presLayoutVars>
          <dgm:bulletEnabled val="1"/>
        </dgm:presLayoutVars>
      </dgm:prSet>
      <dgm:spPr/>
    </dgm:pt>
    <dgm:pt modelId="{508DC995-8D31-4CEB-A42D-83BA957F25D8}" type="pres">
      <dgm:prSet presAssocID="{A45068FB-5FC8-421B-81A7-BC4BF2244495}" presName="spaceBetweenRectangles" presStyleCnt="0"/>
      <dgm:spPr/>
    </dgm:pt>
    <dgm:pt modelId="{5856FA00-29CE-41AF-87C6-BFFDE7827DC7}" type="pres">
      <dgm:prSet presAssocID="{789ABBA4-3DE7-42C9-B663-8FA57FC3AF3D}" presName="parentLin" presStyleCnt="0"/>
      <dgm:spPr/>
    </dgm:pt>
    <dgm:pt modelId="{C370DFDD-5445-421A-98E4-630963317525}" type="pres">
      <dgm:prSet presAssocID="{789ABBA4-3DE7-42C9-B663-8FA57FC3AF3D}" presName="parentLeftMargin" presStyleLbl="node1" presStyleIdx="0" presStyleCnt="3"/>
      <dgm:spPr/>
    </dgm:pt>
    <dgm:pt modelId="{AE7C2202-23CE-4B4E-8115-1842B8F4C77B}" type="pres">
      <dgm:prSet presAssocID="{789ABBA4-3DE7-42C9-B663-8FA57FC3AF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8928F39-7A4E-45B5-8AEE-9E48F6C1A086}" type="pres">
      <dgm:prSet presAssocID="{789ABBA4-3DE7-42C9-B663-8FA57FC3AF3D}" presName="negativeSpace" presStyleCnt="0"/>
      <dgm:spPr/>
    </dgm:pt>
    <dgm:pt modelId="{85E7B9A6-4028-4B85-9041-D728AFB42C79}" type="pres">
      <dgm:prSet presAssocID="{789ABBA4-3DE7-42C9-B663-8FA57FC3AF3D}" presName="childText" presStyleLbl="conFgAcc1" presStyleIdx="1" presStyleCnt="3">
        <dgm:presLayoutVars>
          <dgm:bulletEnabled val="1"/>
        </dgm:presLayoutVars>
      </dgm:prSet>
      <dgm:spPr/>
    </dgm:pt>
    <dgm:pt modelId="{38E839A6-C165-48A0-870D-73750E962636}" type="pres">
      <dgm:prSet presAssocID="{FF69C1E9-1D15-48CF-AB99-1ACA9E38296E}" presName="spaceBetweenRectangles" presStyleCnt="0"/>
      <dgm:spPr/>
    </dgm:pt>
    <dgm:pt modelId="{22258AFD-24F0-4F6F-B98F-436620002BB0}" type="pres">
      <dgm:prSet presAssocID="{9C37E025-8E1F-4BD9-BD9C-A3B184AACF58}" presName="parentLin" presStyleCnt="0"/>
      <dgm:spPr/>
    </dgm:pt>
    <dgm:pt modelId="{DA671C44-BE58-4578-A21D-7826BAEE3AE3}" type="pres">
      <dgm:prSet presAssocID="{9C37E025-8E1F-4BD9-BD9C-A3B184AACF58}" presName="parentLeftMargin" presStyleLbl="node1" presStyleIdx="1" presStyleCnt="3"/>
      <dgm:spPr/>
    </dgm:pt>
    <dgm:pt modelId="{B473F860-740E-4422-9C0C-A33A6A130119}" type="pres">
      <dgm:prSet presAssocID="{9C37E025-8E1F-4BD9-BD9C-A3B184AACF5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40F36A7-22EB-4F7C-9682-BE8625F3D57A}" type="pres">
      <dgm:prSet presAssocID="{9C37E025-8E1F-4BD9-BD9C-A3B184AACF58}" presName="negativeSpace" presStyleCnt="0"/>
      <dgm:spPr/>
    </dgm:pt>
    <dgm:pt modelId="{056005B7-D26F-4387-9B3A-39A94839AE5B}" type="pres">
      <dgm:prSet presAssocID="{9C37E025-8E1F-4BD9-BD9C-A3B184AACF5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81FC61B-30E2-4DA4-AC7E-F5F13BC7BCB6}" type="presOf" srcId="{9C37E025-8E1F-4BD9-BD9C-A3B184AACF58}" destId="{B473F860-740E-4422-9C0C-A33A6A130119}" srcOrd="1" destOrd="0" presId="urn:microsoft.com/office/officeart/2005/8/layout/list1"/>
    <dgm:cxn modelId="{0F2BE947-3ECB-464A-B7AA-834ED0E60385}" type="presOf" srcId="{333DDA76-8E5B-4E0C-9F65-A9FC5D28EEF9}" destId="{72D7F288-4F35-427E-B568-EE4275245708}" srcOrd="1" destOrd="0" presId="urn:microsoft.com/office/officeart/2005/8/layout/list1"/>
    <dgm:cxn modelId="{5942166A-211D-4AB9-BDC7-1AB6FC214435}" srcId="{112085C0-9A02-459F-B4A1-190FAA6BC86B}" destId="{789ABBA4-3DE7-42C9-B663-8FA57FC3AF3D}" srcOrd="1" destOrd="0" parTransId="{C00C74D3-30EC-4C1E-BE22-0DEA2EDE9A44}" sibTransId="{FF69C1E9-1D15-48CF-AB99-1ACA9E38296E}"/>
    <dgm:cxn modelId="{72D93C72-BB59-4E9F-BE36-8CD56A64E666}" srcId="{112085C0-9A02-459F-B4A1-190FAA6BC86B}" destId="{333DDA76-8E5B-4E0C-9F65-A9FC5D28EEF9}" srcOrd="0" destOrd="0" parTransId="{0E445572-6390-4AA7-ACDA-EE6F0A4A14E8}" sibTransId="{A45068FB-5FC8-421B-81A7-BC4BF2244495}"/>
    <dgm:cxn modelId="{753C2B8E-A0B7-47F9-B75E-5797BE4B2C1B}" type="presOf" srcId="{789ABBA4-3DE7-42C9-B663-8FA57FC3AF3D}" destId="{C370DFDD-5445-421A-98E4-630963317525}" srcOrd="0" destOrd="0" presId="urn:microsoft.com/office/officeart/2005/8/layout/list1"/>
    <dgm:cxn modelId="{5592C3AA-47A2-4BC4-9843-FD21F8E9DC5A}" type="presOf" srcId="{112085C0-9A02-459F-B4A1-190FAA6BC86B}" destId="{81F90D29-F071-4BE4-827B-C96C6CCE7C23}" srcOrd="0" destOrd="0" presId="urn:microsoft.com/office/officeart/2005/8/layout/list1"/>
    <dgm:cxn modelId="{39E2F8CC-3EC9-42E7-840E-8804831AE3F1}" type="presOf" srcId="{9C37E025-8E1F-4BD9-BD9C-A3B184AACF58}" destId="{DA671C44-BE58-4578-A21D-7826BAEE3AE3}" srcOrd="0" destOrd="0" presId="urn:microsoft.com/office/officeart/2005/8/layout/list1"/>
    <dgm:cxn modelId="{A41AB4DF-447E-41C2-963C-255DF08DF227}" type="presOf" srcId="{789ABBA4-3DE7-42C9-B663-8FA57FC3AF3D}" destId="{AE7C2202-23CE-4B4E-8115-1842B8F4C77B}" srcOrd="1" destOrd="0" presId="urn:microsoft.com/office/officeart/2005/8/layout/list1"/>
    <dgm:cxn modelId="{7164A9EF-A3C8-4FBB-A57E-EA1D7EEBDD8A}" srcId="{112085C0-9A02-459F-B4A1-190FAA6BC86B}" destId="{9C37E025-8E1F-4BD9-BD9C-A3B184AACF58}" srcOrd="2" destOrd="0" parTransId="{B399ECE5-B872-40B0-B6D4-AB6CE1903344}" sibTransId="{B1FE8D6B-6C3F-4D0E-8CE4-90EDC86AEBD7}"/>
    <dgm:cxn modelId="{89ADCBF6-6E9F-44F4-B16B-19511624E42A}" type="presOf" srcId="{333DDA76-8E5B-4E0C-9F65-A9FC5D28EEF9}" destId="{6E3E3F97-8D91-46EC-B2C2-0EEA54DE6D7C}" srcOrd="0" destOrd="0" presId="urn:microsoft.com/office/officeart/2005/8/layout/list1"/>
    <dgm:cxn modelId="{ADD0DFC5-38EE-4CB3-8597-213FE3D2F382}" type="presParOf" srcId="{81F90D29-F071-4BE4-827B-C96C6CCE7C23}" destId="{1B501242-4635-4B64-BF33-CB790D9195E9}" srcOrd="0" destOrd="0" presId="urn:microsoft.com/office/officeart/2005/8/layout/list1"/>
    <dgm:cxn modelId="{DDB75E53-D956-4BAB-9D96-40119426E61E}" type="presParOf" srcId="{1B501242-4635-4B64-BF33-CB790D9195E9}" destId="{6E3E3F97-8D91-46EC-B2C2-0EEA54DE6D7C}" srcOrd="0" destOrd="0" presId="urn:microsoft.com/office/officeart/2005/8/layout/list1"/>
    <dgm:cxn modelId="{DA591091-FE5A-4CA0-88D1-C9620B14FED2}" type="presParOf" srcId="{1B501242-4635-4B64-BF33-CB790D9195E9}" destId="{72D7F288-4F35-427E-B568-EE4275245708}" srcOrd="1" destOrd="0" presId="urn:microsoft.com/office/officeart/2005/8/layout/list1"/>
    <dgm:cxn modelId="{BC9DD384-D283-423E-B20D-12C201EC8456}" type="presParOf" srcId="{81F90D29-F071-4BE4-827B-C96C6CCE7C23}" destId="{1C837287-1E53-40AB-BBF9-106EC1CFC885}" srcOrd="1" destOrd="0" presId="urn:microsoft.com/office/officeart/2005/8/layout/list1"/>
    <dgm:cxn modelId="{E8BF3E50-18EE-4E05-B854-AD74B272DC5E}" type="presParOf" srcId="{81F90D29-F071-4BE4-827B-C96C6CCE7C23}" destId="{E7ED4D1B-795F-4A6F-AB9F-FD2BBBDB4854}" srcOrd="2" destOrd="0" presId="urn:microsoft.com/office/officeart/2005/8/layout/list1"/>
    <dgm:cxn modelId="{2826CC0A-2B5A-4503-B65A-B3195036B069}" type="presParOf" srcId="{81F90D29-F071-4BE4-827B-C96C6CCE7C23}" destId="{508DC995-8D31-4CEB-A42D-83BA957F25D8}" srcOrd="3" destOrd="0" presId="urn:microsoft.com/office/officeart/2005/8/layout/list1"/>
    <dgm:cxn modelId="{BE04D529-9139-4226-A951-E8A29EBADD21}" type="presParOf" srcId="{81F90D29-F071-4BE4-827B-C96C6CCE7C23}" destId="{5856FA00-29CE-41AF-87C6-BFFDE7827DC7}" srcOrd="4" destOrd="0" presId="urn:microsoft.com/office/officeart/2005/8/layout/list1"/>
    <dgm:cxn modelId="{8C0C3559-8F5F-4612-944B-94D745EA8800}" type="presParOf" srcId="{5856FA00-29CE-41AF-87C6-BFFDE7827DC7}" destId="{C370DFDD-5445-421A-98E4-630963317525}" srcOrd="0" destOrd="0" presId="urn:microsoft.com/office/officeart/2005/8/layout/list1"/>
    <dgm:cxn modelId="{2B93F390-2422-4192-8D9C-9CC04AB7EEF0}" type="presParOf" srcId="{5856FA00-29CE-41AF-87C6-BFFDE7827DC7}" destId="{AE7C2202-23CE-4B4E-8115-1842B8F4C77B}" srcOrd="1" destOrd="0" presId="urn:microsoft.com/office/officeart/2005/8/layout/list1"/>
    <dgm:cxn modelId="{6512E37A-7E4A-4030-9B66-82FF628E9346}" type="presParOf" srcId="{81F90D29-F071-4BE4-827B-C96C6CCE7C23}" destId="{88928F39-7A4E-45B5-8AEE-9E48F6C1A086}" srcOrd="5" destOrd="0" presId="urn:microsoft.com/office/officeart/2005/8/layout/list1"/>
    <dgm:cxn modelId="{8C361DF8-079B-4218-A6A9-BCB8DB376203}" type="presParOf" srcId="{81F90D29-F071-4BE4-827B-C96C6CCE7C23}" destId="{85E7B9A6-4028-4B85-9041-D728AFB42C79}" srcOrd="6" destOrd="0" presId="urn:microsoft.com/office/officeart/2005/8/layout/list1"/>
    <dgm:cxn modelId="{083757B8-4CFE-4C32-B30C-337895F0B1B9}" type="presParOf" srcId="{81F90D29-F071-4BE4-827B-C96C6CCE7C23}" destId="{38E839A6-C165-48A0-870D-73750E962636}" srcOrd="7" destOrd="0" presId="urn:microsoft.com/office/officeart/2005/8/layout/list1"/>
    <dgm:cxn modelId="{85D19AE0-1035-4AD2-BBFD-8881BB6E9219}" type="presParOf" srcId="{81F90D29-F071-4BE4-827B-C96C6CCE7C23}" destId="{22258AFD-24F0-4F6F-B98F-436620002BB0}" srcOrd="8" destOrd="0" presId="urn:microsoft.com/office/officeart/2005/8/layout/list1"/>
    <dgm:cxn modelId="{8F799C0C-AC42-4737-AEF6-B22F6D9C79EB}" type="presParOf" srcId="{22258AFD-24F0-4F6F-B98F-436620002BB0}" destId="{DA671C44-BE58-4578-A21D-7826BAEE3AE3}" srcOrd="0" destOrd="0" presId="urn:microsoft.com/office/officeart/2005/8/layout/list1"/>
    <dgm:cxn modelId="{16AB4F85-3975-4C91-8081-3EAC3745F071}" type="presParOf" srcId="{22258AFD-24F0-4F6F-B98F-436620002BB0}" destId="{B473F860-740E-4422-9C0C-A33A6A130119}" srcOrd="1" destOrd="0" presId="urn:microsoft.com/office/officeart/2005/8/layout/list1"/>
    <dgm:cxn modelId="{761E5BEB-AFB9-4AB9-9B2E-BED27C6D8CD6}" type="presParOf" srcId="{81F90D29-F071-4BE4-827B-C96C6CCE7C23}" destId="{940F36A7-22EB-4F7C-9682-BE8625F3D57A}" srcOrd="9" destOrd="0" presId="urn:microsoft.com/office/officeart/2005/8/layout/list1"/>
    <dgm:cxn modelId="{1AB0CAD0-5C2F-4C35-82F3-0B856A388DDF}" type="presParOf" srcId="{81F90D29-F071-4BE4-827B-C96C6CCE7C23}" destId="{056005B7-D26F-4387-9B3A-39A94839AE5B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D4D1B-795F-4A6F-AB9F-FD2BBBDB4854}">
      <dsp:nvSpPr>
        <dsp:cNvPr id="0" name=""/>
        <dsp:cNvSpPr/>
      </dsp:nvSpPr>
      <dsp:spPr>
        <a:xfrm>
          <a:off x="0" y="473566"/>
          <a:ext cx="8596668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D7F288-4F35-427E-B568-EE4275245708}">
      <dsp:nvSpPr>
        <dsp:cNvPr id="0" name=""/>
        <dsp:cNvSpPr/>
      </dsp:nvSpPr>
      <dsp:spPr>
        <a:xfrm>
          <a:off x="429833" y="45526"/>
          <a:ext cx="6017667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54" tIns="0" rIns="227454" bIns="0" numCol="1" spcCol="1270" anchor="ctr" anchorCtr="0">
          <a:noAutofit/>
        </a:bodyPr>
        <a:lstStyle/>
        <a:p>
          <a:pPr marL="0" lvl="0" indent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Model</a:t>
          </a:r>
        </a:p>
      </dsp:txBody>
      <dsp:txXfrm>
        <a:off x="471623" y="87316"/>
        <a:ext cx="5934087" cy="772500"/>
      </dsp:txXfrm>
    </dsp:sp>
    <dsp:sp modelId="{85E7B9A6-4028-4B85-9041-D728AFB42C79}">
      <dsp:nvSpPr>
        <dsp:cNvPr id="0" name=""/>
        <dsp:cNvSpPr/>
      </dsp:nvSpPr>
      <dsp:spPr>
        <a:xfrm>
          <a:off x="0" y="1789006"/>
          <a:ext cx="8596668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C2202-23CE-4B4E-8115-1842B8F4C77B}">
      <dsp:nvSpPr>
        <dsp:cNvPr id="0" name=""/>
        <dsp:cNvSpPr/>
      </dsp:nvSpPr>
      <dsp:spPr>
        <a:xfrm>
          <a:off x="429833" y="1360966"/>
          <a:ext cx="6017667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54" tIns="0" rIns="227454" bIns="0" numCol="1" spcCol="1270" anchor="ctr" anchorCtr="0">
          <a:noAutofit/>
        </a:bodyPr>
        <a:lstStyle/>
        <a:p>
          <a:pPr marL="0" lvl="0" indent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View</a:t>
          </a:r>
        </a:p>
      </dsp:txBody>
      <dsp:txXfrm>
        <a:off x="471623" y="1402756"/>
        <a:ext cx="5934087" cy="772500"/>
      </dsp:txXfrm>
    </dsp:sp>
    <dsp:sp modelId="{056005B7-D26F-4387-9B3A-39A94839AE5B}">
      <dsp:nvSpPr>
        <dsp:cNvPr id="0" name=""/>
        <dsp:cNvSpPr/>
      </dsp:nvSpPr>
      <dsp:spPr>
        <a:xfrm>
          <a:off x="0" y="3104446"/>
          <a:ext cx="8596668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3F860-740E-4422-9C0C-A33A6A130119}">
      <dsp:nvSpPr>
        <dsp:cNvPr id="0" name=""/>
        <dsp:cNvSpPr/>
      </dsp:nvSpPr>
      <dsp:spPr>
        <a:xfrm>
          <a:off x="429833" y="2676406"/>
          <a:ext cx="6017667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54" tIns="0" rIns="227454" bIns="0" numCol="1" spcCol="1270" anchor="ctr" anchorCtr="0">
          <a:noAutofit/>
        </a:bodyPr>
        <a:lstStyle/>
        <a:p>
          <a:pPr marL="0" lvl="0" indent="0" algn="l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Presenter</a:t>
          </a:r>
        </a:p>
      </dsp:txBody>
      <dsp:txXfrm>
        <a:off x="471623" y="2718196"/>
        <a:ext cx="5934087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22068-3C2B-463C-903C-C7E19BF7FFF2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CAE5A-4004-4B48-A31F-A2BB218E4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3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ECAE5A-4004-4B48-A31F-A2BB218E43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46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7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496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50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68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09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7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42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3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3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86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0162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59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6411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1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22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19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13C8-9834-44ED-A03B-D8242E0040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9C297-5C22-4E7E-87FB-6308D2EED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1CF6D-9E8F-4473-B82C-83CBDB179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710BB-7900-47F3-8070-837FD9BE7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D21B9-6915-46A1-AE15-5B83CC2C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605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B667-5901-44E8-9B29-AE10AC1B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F6BC-7774-47B9-B003-23892F73A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8B9F3-88F1-48C6-92F0-887E3079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8F04A-D574-4302-9D32-66775B470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E63E-C695-40C3-863A-4528B19A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133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E6AD-94B4-477B-8DB8-A58FCDE1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BFA08-67D8-4285-8F01-630DC9BF7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F84F5-C86F-48A6-8DE2-B5C926DF7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A504D-8B2C-482B-9969-C61D4B6F1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6DA8B-EDA3-4681-98D4-0D40EEEC6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412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9B5C9-A082-468C-97F2-5A41A959C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FE6E1-A75C-4A6A-B175-AC2DEFB9EF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0F8181-029C-42FB-BE17-14CDF8A5B2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9206C-A5D5-47D7-B6AA-CB697FB4A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CBF3A-FBD5-4709-B73F-B367EAD20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606F9-4915-4C74-8FC5-6E09DD40C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383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9B2FB-8E5E-4583-ABE8-92772F76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30075-A218-4ECB-BCD6-C0AA8C2D0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C6574-3FA2-4C9C-BEFD-BEB73B689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00F415-6C98-4662-B646-F1C7C3163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AC2716-DF0D-42D8-B857-99870AF27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B86431-E681-4A98-8331-8707475D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D0891-0828-49B5-B55C-FF99F68B9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EE6BB0-6332-4DB5-8F8A-A2D6B3237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32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7D02-6D9B-431F-B68F-4BA43E8C3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66DD1-0BB2-4B9F-8D5A-F3CED8BE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AC21D-9515-41C6-8EE2-F179D87B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36746-262C-4F49-BD1E-570CDC35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50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441635-145D-4FDD-9499-B8B509A8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B5D0CF-AB7D-4AB7-977C-190B0D5E2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92490-F6D1-47BB-8ECD-A8D466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125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C251A-A2F7-487F-88AA-9350CD0F1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03760-7FC9-4A10-9FA7-5EBE49E0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40BF1-E5C8-40B8-A432-DF83E2D8AE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CEC9D-70CA-4A7D-8268-1E6C31B88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FA475-935B-4BF4-B078-C3EA857B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65433-6084-48FA-BC31-1121A4B6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4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D3C3-AE36-458F-9CB2-F381FBF9A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9EE88E-F1ED-4C80-A317-0835B29824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C7D40C-C13A-4BCC-B96E-78E138DB7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C312A-0C2E-4EAC-8DC6-8C4CC786F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E2450-EE0A-45E8-9FEA-C8C970180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42D65-AD34-485E-973E-0E45A0D2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60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EBA3-C6C6-48FE-966E-7C0B1086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140AA-BAA0-4E7A-819F-CD15911CC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57D8F-A9B9-46B4-80F9-727CB752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034B9-E16B-480F-AD81-123610EE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FFBCB-D568-467F-BC51-9DB76619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90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9CB51-A2E5-46FA-B150-4128D8A6B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155D6-3698-4B20-9E38-84AE47423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10F58-3ACF-44EC-91BD-954B93586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B88D8-1FD3-40F7-A85A-9A31F0D9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E2044-7CB4-4482-B891-018D5E40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2829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825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CAD2316-0875-48B1-A672-0AE9244BB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0D0B3C6-9CAA-4AA5-ABEE-C657FED1C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C45473D-1068-4B69-A863-38942054BA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4D8DD32D-21D6-44A9-B41C-862ABA0D6B23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570AFB5A-22ED-4938-A8C5-C6A32FD46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BDE1483-4CCC-48FD-81CD-910D6881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8565D9F5-9FAB-4066-90B8-413B3DA407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7136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872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493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899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784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070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233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163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964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2286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879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41288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644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363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E9FA3-12BE-479B-A078-1896C09ED28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19E0-0BDD-4A25-8C2B-E03C2E641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9913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F937D-8FC0-488F-8BCF-78796F9093E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6536B-CA3F-4D20-A1B7-449D542C37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908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4897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064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666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753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79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864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39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526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589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663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80067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7661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211477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408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06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781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69940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1158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4490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0092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557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064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862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035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28285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2232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774415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62679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826060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9539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7048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7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5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7CC2C-F8B0-4BEF-95EF-82ED016CB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D8431-DFD7-40D2-BCC5-2C85A2B22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9D66B-3955-43E4-9898-6B84CF021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78269-8A50-46A4-97E5-96C9BFEDE90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A6B36-37FF-47BD-94A7-D542DECEC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78CEB-38D4-4840-A774-70FF20CA3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9C83A-BA35-49C4-B1A5-0EEA432F4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33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10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7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2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DD32D-21D6-44A9-B41C-862ABA0D6B23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565D9F5-9FAB-4066-90B8-413B3DA40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1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1A58-99AA-44CE-8C07-E88C8BD94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612" y="2404534"/>
            <a:ext cx="8413391" cy="1646302"/>
          </a:xfrm>
        </p:spPr>
        <p:txBody>
          <a:bodyPr/>
          <a:lstStyle/>
          <a:p>
            <a:r>
              <a:rPr lang="en-US" sz="9600" dirty="0"/>
              <a:t>UI Related DPs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DDE58-7B35-4FFD-B47E-37C7E4B7A1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1255" y="4040660"/>
            <a:ext cx="7766936" cy="1096899"/>
          </a:xfrm>
        </p:spPr>
        <p:txBody>
          <a:bodyPr>
            <a:noAutofit/>
          </a:bodyPr>
          <a:lstStyle/>
          <a:p>
            <a:r>
              <a:rPr lang="ru-RU" sz="4000" i="1" dirty="0"/>
              <a:t>Авторы: Кирчук Александр, Корытко Анастасия, Куприянчик Мария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718973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7E2E2C-8F2D-47CD-9429-9EF6612DA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463" y="1665195"/>
            <a:ext cx="4726640" cy="472664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D87C78E-73CF-43E8-B06D-A43DC327A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2" y="466165"/>
            <a:ext cx="8914901" cy="1320800"/>
          </a:xfrm>
        </p:spPr>
        <p:txBody>
          <a:bodyPr>
            <a:noAutofit/>
          </a:bodyPr>
          <a:lstStyle/>
          <a:p>
            <a:r>
              <a:rPr lang="en-US" sz="4800" dirty="0"/>
              <a:t>QR-</a:t>
            </a:r>
            <a:r>
              <a:rPr lang="ru-RU" sz="4800" dirty="0"/>
              <a:t>код репозитория на </a:t>
            </a:r>
            <a:r>
              <a:rPr lang="en-US" sz="4800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183432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B75F-DBE2-4A6A-84A5-D2F635B6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587254" cy="1320800"/>
          </a:xfrm>
        </p:spPr>
        <p:txBody>
          <a:bodyPr>
            <a:noAutofit/>
          </a:bodyPr>
          <a:lstStyle/>
          <a:p>
            <a:r>
              <a:rPr lang="ru-RU" sz="6000" dirty="0"/>
              <a:t>Что такое </a:t>
            </a:r>
            <a:r>
              <a:rPr lang="en-US" sz="6000" dirty="0"/>
              <a:t>Humble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5C445-AE68-4762-AC18-3F12834FE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Autofit/>
          </a:bodyPr>
          <a:lstStyle/>
          <a:p>
            <a:r>
              <a:rPr lang="ru-RU" sz="3600" dirty="0"/>
              <a:t>Предложен Майклом Фэзерсом (Michael Feathers)</a:t>
            </a:r>
          </a:p>
          <a:p>
            <a:r>
              <a:rPr lang="ru-RU" sz="3600" dirty="0"/>
              <a:t>Цель — разделить тестируемую и нетестируемую части</a:t>
            </a:r>
          </a:p>
          <a:p>
            <a:r>
              <a:rPr lang="ru-RU" sz="3600" dirty="0"/>
              <a:t>Humble Object — компонент, который взаимодействует с внешним миром и содержит минимум логики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4124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4FC4D-E21B-4717-AD0B-11C07BAFA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404534"/>
            <a:ext cx="8664403" cy="1646302"/>
          </a:xfrm>
        </p:spPr>
        <p:txBody>
          <a:bodyPr/>
          <a:lstStyle/>
          <a:p>
            <a:r>
              <a:rPr lang="en-US" sz="7200" dirty="0"/>
              <a:t>MVC and HO Pattern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6C175BE-3A96-4A3A-89E9-A1A758DFAA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Model–View–Controller </a:t>
            </a:r>
            <a:r>
              <a:rPr lang="ru-RU" sz="2800" dirty="0"/>
              <a:t>архитектура и её связь с паттерном </a:t>
            </a:r>
            <a:r>
              <a:rPr lang="en-US" sz="2800" i="1" dirty="0"/>
              <a:t>Humble Object</a:t>
            </a:r>
            <a:br>
              <a:rPr lang="en-US" sz="2800" dirty="0"/>
            </a:br>
            <a:r>
              <a:rPr lang="ru-RU" sz="2800" i="1" dirty="0"/>
              <a:t>Автор: Кирчук Александр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6096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9185B-C33E-4C74-97BA-7EF2E15AD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219201"/>
          </a:xfrm>
        </p:spPr>
        <p:txBody>
          <a:bodyPr>
            <a:normAutofit/>
          </a:bodyPr>
          <a:lstStyle/>
          <a:p>
            <a:r>
              <a:rPr lang="ru-RU" sz="6000" dirty="0"/>
              <a:t>Что такое </a:t>
            </a:r>
            <a:r>
              <a:rPr lang="en-US" sz="6000" dirty="0"/>
              <a:t>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85484-4FB4-4B89-A0D7-A221D7C42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81672"/>
            <a:ext cx="8596668" cy="4463952"/>
          </a:xfrm>
        </p:spPr>
        <p:txBody>
          <a:bodyPr>
            <a:normAutofit/>
          </a:bodyPr>
          <a:lstStyle/>
          <a:p>
            <a:r>
              <a:rPr lang="ru-RU" i="1" dirty="0"/>
              <a:t>Model–View–Controller (MVC)</a:t>
            </a:r>
            <a:r>
              <a:rPr lang="ru-RU" dirty="0"/>
              <a:t> — классический архитектурный паттерн</a:t>
            </a:r>
            <a:endParaRPr lang="en-US" dirty="0"/>
          </a:p>
          <a:p>
            <a:r>
              <a:rPr lang="ru-RU" dirty="0"/>
              <a:t>Разделяет логику приложения на три компонента: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Model</a:t>
            </a:r>
            <a:r>
              <a:rPr lang="ru-RU" dirty="0"/>
              <a:t> — данные и бизнес-логика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View</a:t>
            </a:r>
            <a:r>
              <a:rPr lang="ru-RU" dirty="0"/>
              <a:t> — визуальное представление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Controller</a:t>
            </a:r>
            <a:r>
              <a:rPr lang="ru-RU" dirty="0"/>
              <a:t> — обработка действий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3319183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D95698-9E79-439E-802D-9C2A6DFBB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47" y="0"/>
            <a:ext cx="9323300" cy="69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3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01ABFD-19B7-4E3D-9335-4F28CE73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004291"/>
              </p:ext>
            </p:extLst>
          </p:nvPr>
        </p:nvGraphicFramePr>
        <p:xfrm>
          <a:off x="401940" y="1716741"/>
          <a:ext cx="9147456" cy="342451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07951">
                  <a:extLst>
                    <a:ext uri="{9D8B030D-6E8A-4147-A177-3AD203B41FA5}">
                      <a16:colId xmlns:a16="http://schemas.microsoft.com/office/drawing/2014/main" val="741770899"/>
                    </a:ext>
                  </a:extLst>
                </a:gridCol>
                <a:gridCol w="6539505">
                  <a:extLst>
                    <a:ext uri="{9D8B030D-6E8A-4147-A177-3AD203B41FA5}">
                      <a16:colId xmlns:a16="http://schemas.microsoft.com/office/drawing/2014/main" val="1048792929"/>
                    </a:ext>
                  </a:extLst>
                </a:gridCol>
              </a:tblGrid>
              <a:tr h="615976">
                <a:tc>
                  <a:txBody>
                    <a:bodyPr/>
                    <a:lstStyle/>
                    <a:p>
                      <a:r>
                        <a:rPr lang="en-US" sz="280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Role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979252"/>
                  </a:ext>
                </a:extLst>
              </a:tr>
              <a:tr h="604370">
                <a:tc>
                  <a:txBody>
                    <a:bodyPr/>
                    <a:lstStyle/>
                    <a:p>
                      <a:r>
                        <a:rPr lang="en-US" sz="2800" b="1" dirty="0"/>
                        <a:t>Model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хранит данные и бизнес-логику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2055093"/>
                  </a:ext>
                </a:extLst>
              </a:tr>
              <a:tr h="1102086">
                <a:tc>
                  <a:txBody>
                    <a:bodyPr/>
                    <a:lstStyle/>
                    <a:p>
                      <a:r>
                        <a:rPr lang="en-US" sz="2800" b="1" dirty="0"/>
                        <a:t>View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отображает состояние </a:t>
                      </a:r>
                      <a:r>
                        <a:rPr lang="en-US" sz="2800" dirty="0"/>
                        <a:t>Model </a:t>
                      </a:r>
                      <a:r>
                        <a:rPr lang="ru-RU" sz="2800" dirty="0"/>
                        <a:t>пользователю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602586"/>
                  </a:ext>
                </a:extLst>
              </a:tr>
              <a:tr h="1102086">
                <a:tc>
                  <a:txBody>
                    <a:bodyPr/>
                    <a:lstStyle/>
                    <a:p>
                      <a:r>
                        <a:rPr lang="en-US" sz="2800" b="1"/>
                        <a:t>Controller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принимает пользовательский ввод и обновляет Model и 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7955690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382A4D8A-C8C2-4766-873E-BC5BF606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Компоненты </a:t>
            </a:r>
            <a:r>
              <a:rPr lang="en-US" sz="6000" dirty="0"/>
              <a:t>MVC</a:t>
            </a:r>
          </a:p>
        </p:txBody>
      </p:sp>
    </p:spTree>
    <p:extLst>
      <p:ext uri="{BB962C8B-B14F-4D97-AF65-F5344CB8AC3E}">
        <p14:creationId xmlns:p14="http://schemas.microsoft.com/office/powerpoint/2010/main" val="104117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A00D6-8199-4A37-B38E-CFA3F2FA0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Преимущества </a:t>
            </a:r>
            <a:r>
              <a:rPr lang="en-US" sz="6000" dirty="0"/>
              <a:t>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B6EF-3CE1-496A-BD2A-71B5C8AE5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Separation of Concerns</a:t>
            </a:r>
            <a:endParaRPr lang="en-US" i="1" dirty="0"/>
          </a:p>
          <a:p>
            <a:r>
              <a:rPr lang="ru-RU" dirty="0"/>
              <a:t>Улучшенная поддерживаемость и масштабируемость</a:t>
            </a:r>
            <a:endParaRPr lang="en-US" dirty="0"/>
          </a:p>
          <a:p>
            <a:r>
              <a:rPr lang="ru-RU" dirty="0"/>
              <a:t>Независимая разработка UI и логики</a:t>
            </a:r>
            <a:endParaRPr lang="en-US" dirty="0"/>
          </a:p>
          <a:p>
            <a:r>
              <a:rPr lang="ru-RU" dirty="0"/>
              <a:t>Возможность повторного использования кода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65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B1B4-F63B-4124-AC45-44333D19E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dirty="0"/>
              <a:t>Проблемы классического </a:t>
            </a:r>
            <a:r>
              <a:rPr lang="en-US" sz="6000" dirty="0"/>
              <a:t>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B1809-D1EC-4F20-8FED-AED04C2B0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841906"/>
            <a:ext cx="8596668" cy="3880773"/>
          </a:xfrm>
        </p:spPr>
        <p:txBody>
          <a:bodyPr/>
          <a:lstStyle/>
          <a:p>
            <a:r>
              <a:rPr lang="ru-RU" dirty="0"/>
              <a:t>Сильная связность </a:t>
            </a:r>
            <a:r>
              <a:rPr lang="ru-RU" i="1" dirty="0"/>
              <a:t>View</a:t>
            </a:r>
            <a:r>
              <a:rPr lang="ru-RU" dirty="0"/>
              <a:t> и </a:t>
            </a:r>
            <a:r>
              <a:rPr lang="ru-RU" i="1" dirty="0"/>
              <a:t>Controller</a:t>
            </a:r>
            <a:endParaRPr lang="en-US" i="1" dirty="0"/>
          </a:p>
          <a:p>
            <a:r>
              <a:rPr lang="ru-RU" dirty="0"/>
              <a:t>Сложности тестирования UI</a:t>
            </a:r>
            <a:endParaRPr lang="en-US" dirty="0"/>
          </a:p>
          <a:p>
            <a:r>
              <a:rPr lang="ru-RU" dirty="0"/>
              <a:t>Логика часто “просачивается” в View</a:t>
            </a:r>
            <a:endParaRPr lang="en-US" dirty="0"/>
          </a:p>
          <a:p>
            <a:r>
              <a:rPr lang="ru-RU" dirty="0"/>
              <a:t>Зависимость от фреймворков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849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B1B4-F63B-4124-AC45-44333D19E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dirty="0"/>
              <a:t>Применение Humble Object в MVC</a:t>
            </a:r>
            <a:endParaRPr lang="en-US" sz="6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30C8ABB-0ADF-4A45-A8A4-6E6D6C4275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0917657"/>
              </p:ext>
            </p:extLst>
          </p:nvPr>
        </p:nvGraphicFramePr>
        <p:xfrm>
          <a:off x="677334" y="2770188"/>
          <a:ext cx="8941796" cy="336486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470898">
                  <a:extLst>
                    <a:ext uri="{9D8B030D-6E8A-4147-A177-3AD203B41FA5}">
                      <a16:colId xmlns:a16="http://schemas.microsoft.com/office/drawing/2014/main" val="1955729016"/>
                    </a:ext>
                  </a:extLst>
                </a:gridCol>
                <a:gridCol w="4470898">
                  <a:extLst>
                    <a:ext uri="{9D8B030D-6E8A-4147-A177-3AD203B41FA5}">
                      <a16:colId xmlns:a16="http://schemas.microsoft.com/office/drawing/2014/main" val="364097775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r>
                        <a:rPr lang="en-US" sz="2800" dirty="0"/>
                        <a:t>MVC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With Humble 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035960"/>
                  </a:ext>
                </a:extLst>
              </a:tr>
              <a:tr h="927894">
                <a:tc>
                  <a:txBody>
                    <a:bodyPr/>
                    <a:lstStyle/>
                    <a:p>
                      <a:r>
                        <a:rPr lang="en-US" sz="2800" b="1" dirty="0"/>
                        <a:t>Model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Остаётся без изменений, полностью тестируемый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0461617"/>
                  </a:ext>
                </a:extLst>
              </a:tr>
              <a:tr h="927894">
                <a:tc>
                  <a:txBody>
                    <a:bodyPr/>
                    <a:lstStyle/>
                    <a:p>
                      <a:r>
                        <a:rPr lang="en-US" sz="2800" b="1" dirty="0"/>
                        <a:t>View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Становится Humble Object (UI без логики)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879766"/>
                  </a:ext>
                </a:extLst>
              </a:tr>
              <a:tr h="927894">
                <a:tc>
                  <a:txBody>
                    <a:bodyPr/>
                    <a:lstStyle/>
                    <a:p>
                      <a:r>
                        <a:rPr lang="en-US" sz="2800" b="1"/>
                        <a:t>Controller</a:t>
                      </a:r>
                      <a:endParaRPr lang="en-US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Координирует работу, логика — тестируемая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653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582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70E8-CA86-4900-BFA8-531B44FC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Пример кода (</a:t>
            </a:r>
            <a:r>
              <a:rPr lang="en-US" sz="6000" dirty="0"/>
              <a:t>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E8C66-1D89-46A4-AF65-C4F5466C2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1A94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value;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setValue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value =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getValue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value;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A94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756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70E8-CA86-4900-BFA8-531B44FC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 err="1"/>
              <a:t>Пример</a:t>
            </a:r>
            <a:r>
              <a:rPr lang="en-US" sz="6000" dirty="0"/>
              <a:t> </a:t>
            </a:r>
            <a:r>
              <a:rPr lang="en-US" sz="6000" dirty="0" err="1"/>
              <a:t>кода</a:t>
            </a:r>
            <a:r>
              <a:rPr lang="en-US" sz="6000" dirty="0"/>
              <a:t> (View – Humble Object)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E8C66-1D89-46A4-AF65-C4F5466C2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653648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1A94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 model;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View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: model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render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std::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"Value: 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model.getValue</a:t>
            </a:r>
            <a:r>
              <a:rPr lang="en-US" dirty="0">
                <a:solidFill>
                  <a:srgbClr val="D86AC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A94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9567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70E8-CA86-4900-BFA8-531B44FC2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94195" cy="1320800"/>
          </a:xfrm>
        </p:spPr>
        <p:txBody>
          <a:bodyPr>
            <a:noAutofit/>
          </a:bodyPr>
          <a:lstStyle/>
          <a:p>
            <a:r>
              <a:rPr lang="ru-RU" sz="6000" dirty="0"/>
              <a:t>Пример кода (</a:t>
            </a:r>
            <a:r>
              <a:rPr lang="en-US" sz="6000" dirty="0"/>
              <a:t>Controller)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E8C66-1D89-46A4-AF65-C4F5466C2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Controller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1A94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 model;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Controller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: model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increment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model.setValue</a:t>
            </a:r>
            <a:r>
              <a:rPr lang="en-US" dirty="0">
                <a:solidFill>
                  <a:srgbClr val="D86AC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model.getValue</a:t>
            </a:r>
            <a:r>
              <a:rPr lang="en-US" dirty="0">
                <a:solidFill>
                  <a:srgbClr val="1A94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  <a:r>
              <a:rPr lang="en-US" dirty="0">
                <a:solidFill>
                  <a:srgbClr val="D86AC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dirty="0">
                <a:solidFill>
                  <a:srgbClr val="FFD702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A94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647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C4614-2E35-4EF6-A8AF-44BBC1D7D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Тестирование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2896D-6AD8-45C2-9A9D-4A1B9B3D6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Model и Controller — тестируемы</a:t>
            </a:r>
          </a:p>
          <a:p>
            <a:r>
              <a:rPr lang="ru-RU" sz="3600" dirty="0"/>
              <a:t>View исключается из unit-тестов</a:t>
            </a:r>
          </a:p>
          <a:p>
            <a:r>
              <a:rPr lang="ru-RU" sz="3600" dirty="0"/>
              <a:t>Проверяется логика и взаимодействие компонентов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87335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E752C-7149-454E-9C01-EA632FD66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Преимущества подхода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F5B2-0F5C-4828-A862-C3BF795A7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Высокая тестируемость</a:t>
            </a:r>
            <a:endParaRPr lang="en-US" sz="3600" dirty="0"/>
          </a:p>
          <a:p>
            <a:r>
              <a:rPr lang="ru-RU" sz="3600" dirty="0"/>
              <a:t>Минимальная связность</a:t>
            </a:r>
            <a:endParaRPr lang="en-US" sz="3600" dirty="0"/>
          </a:p>
          <a:p>
            <a:r>
              <a:rPr lang="ru-RU" sz="3600" dirty="0"/>
              <a:t>Простая поддержка и расширение</a:t>
            </a:r>
            <a:endParaRPr lang="en-US" sz="3600" dirty="0"/>
          </a:p>
          <a:p>
            <a:r>
              <a:rPr lang="ru-RU" sz="3600" dirty="0"/>
              <a:t>Прозрачное разделение логики и интерфейса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43150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DB6E-9A3F-4245-B809-88F9C537B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Недостатки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AD71C-976B-4723-BF39-8C4DD4980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Больше классов и кода</a:t>
            </a:r>
            <a:endParaRPr lang="en-US" sz="3600" dirty="0"/>
          </a:p>
          <a:p>
            <a:r>
              <a:rPr lang="ru-RU" sz="3600" dirty="0"/>
              <a:t>Требует дисциплины при разделении логики</a:t>
            </a:r>
            <a:endParaRPr lang="en-US" sz="3600" dirty="0"/>
          </a:p>
          <a:p>
            <a:r>
              <a:rPr lang="ru-RU" sz="3600" dirty="0"/>
              <a:t>Иногда избыточен для простых проектов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06968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0B02-587C-4141-B981-CF573D30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Итоги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A859F-C436-4016-B906-E204203BE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MVC обеспечивает структурированность</a:t>
            </a:r>
          </a:p>
          <a:p>
            <a:r>
              <a:rPr lang="ru-RU" sz="3600" dirty="0"/>
              <a:t>Humble Object повышает тестируемость</a:t>
            </a:r>
          </a:p>
          <a:p>
            <a:r>
              <a:rPr lang="ru-RU" sz="3600" dirty="0"/>
              <a:t>Вместе они создают надёжную архитектуру для UI-приложений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9012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74CC-24E1-44CC-B33F-DF4CC102D8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dirty="0"/>
              <a:t>MVP and HO DP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A8930-0F79-401D-9F86-0340458768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Model–View–Presenter </a:t>
            </a:r>
            <a:r>
              <a:rPr lang="ru-RU" sz="2800" dirty="0"/>
              <a:t>архитектура и её связь с паттерном </a:t>
            </a:r>
            <a:r>
              <a:rPr lang="en-US" sz="2800" i="1" dirty="0"/>
              <a:t>Humble Object</a:t>
            </a:r>
            <a:br>
              <a:rPr lang="en-US" sz="2800" dirty="0"/>
            </a:br>
            <a:r>
              <a:rPr lang="ru-RU" sz="2800" i="1" dirty="0"/>
              <a:t>Автор: Куприянчик Мария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91176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237631" cy="1320800"/>
          </a:xfrm>
        </p:spPr>
        <p:txBody>
          <a:bodyPr>
            <a:noAutofit/>
          </a:bodyPr>
          <a:lstStyle/>
          <a:p>
            <a:r>
              <a:rPr lang="en-US" sz="5400" dirty="0"/>
              <a:t>MVP (Model-View-Presenter)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MVP </a:t>
            </a:r>
            <a:r>
              <a:rPr lang="ru-RU" sz="3600" b="1" dirty="0"/>
              <a:t>(</a:t>
            </a:r>
            <a:r>
              <a:rPr lang="en-US" sz="3600" b="1" dirty="0"/>
              <a:t>Model-View-Presenter</a:t>
            </a:r>
            <a:r>
              <a:rPr lang="ru-RU" sz="3600" b="1" dirty="0"/>
              <a:t>)</a:t>
            </a:r>
            <a:r>
              <a:rPr lang="ru-RU" sz="3600" dirty="0"/>
              <a:t> - шаблон проектирования, производный от MVC, используемый в основном с целью отделить логику представления от бизнес-логики, сделав их независимыми и легко тестируемыми.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01437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10152031" cy="1320800"/>
          </a:xfrm>
        </p:spPr>
        <p:txBody>
          <a:bodyPr>
            <a:noAutofit/>
          </a:bodyPr>
          <a:lstStyle/>
          <a:p>
            <a:r>
              <a:rPr lang="ru-RU" sz="5400" dirty="0"/>
              <a:t>Ключевые компоненты </a:t>
            </a:r>
            <a:r>
              <a:rPr lang="en-US" sz="5400" dirty="0"/>
              <a:t>MVP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3637300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4432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Model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Model (</a:t>
            </a:r>
            <a:r>
              <a:rPr lang="be-BY" sz="4000" b="1" dirty="0"/>
              <a:t>модель) </a:t>
            </a:r>
            <a:r>
              <a:rPr lang="ru-RU" sz="4000" dirty="0"/>
              <a:t>– слой данных, отвечающий за получение, хранение, обработку и </a:t>
            </a:r>
            <a:r>
              <a:rPr lang="ru-RU" sz="4000" dirty="0" err="1"/>
              <a:t>валидацию</a:t>
            </a:r>
            <a:r>
              <a:rPr lang="ru-RU" sz="4000" dirty="0"/>
              <a:t> данных. Модель ничего не знает о существовании </a:t>
            </a:r>
            <a:r>
              <a:rPr lang="ru-RU" sz="4000" dirty="0" err="1"/>
              <a:t>View</a:t>
            </a:r>
            <a:r>
              <a:rPr lang="ru-RU" sz="4000" dirty="0"/>
              <a:t> и </a:t>
            </a:r>
            <a:r>
              <a:rPr lang="ru-RU" sz="4000" dirty="0" err="1"/>
              <a:t>Presenter</a:t>
            </a:r>
            <a:r>
              <a:rPr lang="ru-RU" sz="4000" dirty="0"/>
              <a:t>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90540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View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View (</a:t>
            </a:r>
            <a:r>
              <a:rPr lang="ru-RU" sz="4000" b="1" dirty="0"/>
              <a:t>представление)</a:t>
            </a:r>
            <a:r>
              <a:rPr lang="ru-RU" sz="4000" dirty="0"/>
              <a:t> - компонент, который отвечает только за отображение данных и перенаправление пользовательского ввода. Саму логику </a:t>
            </a:r>
            <a:r>
              <a:rPr lang="be-BY" sz="4000" dirty="0"/>
              <a:t>он </a:t>
            </a:r>
            <a:r>
              <a:rPr lang="ru-RU" sz="4000" dirty="0"/>
              <a:t>не обрабатывает.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36099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Presenter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Presenter (</a:t>
            </a:r>
            <a:r>
              <a:rPr lang="ru-RU" sz="4000" b="1" dirty="0"/>
              <a:t>представитель)</a:t>
            </a:r>
            <a:r>
              <a:rPr lang="ru-RU" sz="4000" dirty="0"/>
              <a:t> – посредник между </a:t>
            </a:r>
            <a:r>
              <a:rPr lang="en-US" sz="4000" dirty="0"/>
              <a:t>Model </a:t>
            </a:r>
            <a:r>
              <a:rPr lang="ru-RU" sz="4000" dirty="0"/>
              <a:t>и </a:t>
            </a:r>
            <a:r>
              <a:rPr lang="en-US" sz="4000" dirty="0"/>
              <a:t>View</a:t>
            </a:r>
            <a:r>
              <a:rPr lang="ru-RU" sz="4000" dirty="0"/>
              <a:t>, но в отличие от </a:t>
            </a:r>
            <a:r>
              <a:rPr lang="ru-RU" sz="4000" dirty="0" err="1"/>
              <a:t>Controller</a:t>
            </a:r>
            <a:r>
              <a:rPr lang="ru-RU" sz="4000" dirty="0"/>
              <a:t> в MVC, он не привязан к жизненному циклу </a:t>
            </a:r>
            <a:r>
              <a:rPr lang="ru-RU" sz="4000" dirty="0" err="1"/>
              <a:t>View</a:t>
            </a:r>
            <a:r>
              <a:rPr lang="ru-RU" sz="4000" dirty="0"/>
              <a:t> так же жёстко.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05596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Как работает?</a:t>
            </a:r>
            <a:endParaRPr lang="en-US" sz="6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2160589"/>
            <a:ext cx="10277538" cy="3880773"/>
          </a:xfrm>
        </p:spPr>
        <p:txBody>
          <a:bodyPr>
            <a:noAutofit/>
          </a:bodyPr>
          <a:lstStyle/>
          <a:p>
            <a:r>
              <a:rPr lang="ru-RU" sz="3200" dirty="0"/>
              <a:t>Пользователь взаимодействует с </a:t>
            </a:r>
            <a:r>
              <a:rPr lang="en-US" sz="3200" dirty="0"/>
              <a:t>View</a:t>
            </a:r>
            <a:endParaRPr lang="ru-RU" sz="3200" dirty="0"/>
          </a:p>
          <a:p>
            <a:r>
              <a:rPr lang="en-US" sz="3200" dirty="0"/>
              <a:t>View </a:t>
            </a:r>
            <a:r>
              <a:rPr lang="ru-RU" sz="3200" dirty="0"/>
              <a:t>передает событие </a:t>
            </a:r>
            <a:r>
              <a:rPr lang="en-US" sz="3200" dirty="0"/>
              <a:t>Presenter</a:t>
            </a:r>
            <a:endParaRPr lang="ru-RU" sz="3200" dirty="0"/>
          </a:p>
          <a:p>
            <a:r>
              <a:rPr lang="ru-RU" sz="3200" dirty="0" err="1"/>
              <a:t>Presenter</a:t>
            </a:r>
            <a:r>
              <a:rPr lang="ru-RU" sz="3200" dirty="0"/>
              <a:t> обрабатывает логику: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2600" dirty="0"/>
              <a:t>Обращается к </a:t>
            </a:r>
            <a:r>
              <a:rPr lang="ru-RU" sz="2600" dirty="0" err="1"/>
              <a:t>Model</a:t>
            </a:r>
            <a:r>
              <a:rPr lang="ru-RU" sz="2600" dirty="0"/>
              <a:t> для получения/сохранения данных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2600" dirty="0"/>
              <a:t>Выполняет </a:t>
            </a:r>
            <a:r>
              <a:rPr lang="ru-RU" sz="2600" dirty="0" err="1"/>
              <a:t>валидацию</a:t>
            </a:r>
            <a:r>
              <a:rPr lang="ru-RU" sz="2600" dirty="0"/>
              <a:t>, форматирование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sz="2600" dirty="0"/>
              <a:t>Принимает решения что показывать</a:t>
            </a:r>
          </a:p>
          <a:p>
            <a:r>
              <a:rPr lang="en-US" sz="3200" dirty="0"/>
              <a:t>Presenter </a:t>
            </a:r>
            <a:r>
              <a:rPr lang="ru-RU" sz="3200" dirty="0"/>
              <a:t>обновляет </a:t>
            </a:r>
            <a:r>
              <a:rPr lang="en-US" sz="3200" dirty="0"/>
              <a:t>View </a:t>
            </a:r>
            <a:r>
              <a:rPr lang="ru-RU" sz="3200" dirty="0"/>
              <a:t>через интерфейс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48513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Простейший пример </a:t>
            </a:r>
            <a:r>
              <a:rPr lang="en-US" sz="4800" dirty="0"/>
              <a:t>#1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160589"/>
            <a:ext cx="10707842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// Presenter (</a:t>
            </a:r>
            <a:r>
              <a:rPr lang="ru-RU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тестируемый)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LoginPresenter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login(String email, String password) {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isValidLogin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(email, password)) {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view.showSuccess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view.showError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58243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Простейший пример</a:t>
            </a:r>
            <a:r>
              <a:rPr lang="en-US" sz="4800" dirty="0"/>
              <a:t> #2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3" y="2160589"/>
            <a:ext cx="9363137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// View  (</a:t>
            </a:r>
            <a:r>
              <a:rPr lang="ru-RU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нетестируемый)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LoginActivity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LoginView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LoginPresenter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presenter;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void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onLoginClick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presenter.login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(email, password);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2733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Преимущества</a:t>
            </a:r>
            <a:endParaRPr lang="en-US" sz="6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160589"/>
            <a:ext cx="8350125" cy="3880773"/>
          </a:xfrm>
        </p:spPr>
        <p:txBody>
          <a:bodyPr>
            <a:noAutofit/>
          </a:bodyPr>
          <a:lstStyle/>
          <a:p>
            <a:r>
              <a:rPr lang="ru-RU" sz="2600" b="1" dirty="0"/>
              <a:t>Высокая тестируемость</a:t>
            </a:r>
            <a:r>
              <a:rPr lang="en-US" sz="2600" b="1" dirty="0"/>
              <a:t>. </a:t>
            </a:r>
            <a:r>
              <a:rPr lang="ru-RU" sz="2600" dirty="0" err="1"/>
              <a:t>Presenter</a:t>
            </a:r>
            <a:r>
              <a:rPr lang="ru-RU" sz="2600" dirty="0"/>
              <a:t> легко подвергается </a:t>
            </a:r>
            <a:r>
              <a:rPr lang="en-US" sz="2600" dirty="0"/>
              <a:t>unit</a:t>
            </a:r>
            <a:r>
              <a:rPr lang="ru-RU" sz="2600" dirty="0"/>
              <a:t>-тестированию, так как он не имеет прямой связи с </a:t>
            </a:r>
            <a:r>
              <a:rPr lang="ru-RU" sz="2600" dirty="0" err="1"/>
              <a:t>View</a:t>
            </a:r>
            <a:r>
              <a:rPr lang="en-US" sz="2600" dirty="0"/>
              <a:t>, </a:t>
            </a:r>
            <a:r>
              <a:rPr lang="ru-RU" sz="2600" dirty="0"/>
              <a:t>а </a:t>
            </a:r>
            <a:r>
              <a:rPr lang="ru-RU" sz="2600" dirty="0" err="1"/>
              <a:t>View</a:t>
            </a:r>
            <a:r>
              <a:rPr lang="ru-RU" sz="2600" dirty="0"/>
              <a:t> можно протестировать, используя </a:t>
            </a:r>
            <a:r>
              <a:rPr lang="en-US" sz="2600" dirty="0"/>
              <a:t>Mock-</a:t>
            </a:r>
            <a:r>
              <a:rPr lang="ru-RU" sz="2600" dirty="0"/>
              <a:t>объект</a:t>
            </a:r>
          </a:p>
          <a:p>
            <a:r>
              <a:rPr lang="ru-RU" sz="2600" b="1" dirty="0"/>
              <a:t>Чёткое разделение ответственности.</a:t>
            </a:r>
            <a:r>
              <a:rPr lang="ru-RU" sz="2600" dirty="0"/>
              <a:t> Логика UI сосредоточена в </a:t>
            </a:r>
            <a:r>
              <a:rPr lang="ru-RU" sz="2600" dirty="0" err="1"/>
              <a:t>Presenter</a:t>
            </a:r>
            <a:r>
              <a:rPr lang="ru-RU" sz="2600" dirty="0"/>
              <a:t>, а отображение - во </a:t>
            </a:r>
            <a:r>
              <a:rPr lang="ru-RU" sz="2600" dirty="0" err="1"/>
              <a:t>View</a:t>
            </a:r>
            <a:r>
              <a:rPr lang="ru-RU" sz="2600" dirty="0"/>
              <a:t>, что делает код чище и понятнее</a:t>
            </a:r>
          </a:p>
          <a:p>
            <a:r>
              <a:rPr lang="ru-RU" sz="2600" b="1" dirty="0"/>
              <a:t>Слабая связанность.</a:t>
            </a:r>
            <a:r>
              <a:rPr lang="ru-RU" sz="2600" dirty="0"/>
              <a:t> </a:t>
            </a:r>
            <a:r>
              <a:rPr lang="ru-RU" sz="2600" dirty="0" err="1"/>
              <a:t>View</a:t>
            </a:r>
            <a:r>
              <a:rPr lang="ru-RU" sz="2600" dirty="0"/>
              <a:t> и </a:t>
            </a:r>
            <a:r>
              <a:rPr lang="ru-RU" sz="2600" dirty="0" err="1"/>
              <a:t>Model</a:t>
            </a:r>
            <a:r>
              <a:rPr lang="ru-RU" sz="2600" dirty="0"/>
              <a:t> полностью изолированы друг от друга, всё взаимодействие идёт через </a:t>
            </a:r>
            <a:r>
              <a:rPr lang="ru-RU" sz="2600" dirty="0" err="1"/>
              <a:t>Presenter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920638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Недостатки</a:t>
            </a:r>
            <a:endParaRPr lang="en-US" sz="6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160589"/>
            <a:ext cx="9442026" cy="3880773"/>
          </a:xfrm>
        </p:spPr>
        <p:txBody>
          <a:bodyPr>
            <a:noAutofit/>
          </a:bodyPr>
          <a:lstStyle/>
          <a:p>
            <a:pPr fontAlgn="base"/>
            <a:r>
              <a:rPr lang="ru-RU" sz="2800" b="1" dirty="0"/>
              <a:t>Большая ответственность </a:t>
            </a:r>
            <a:r>
              <a:rPr lang="en-US" sz="2800" b="1" dirty="0"/>
              <a:t>Presenter</a:t>
            </a:r>
            <a:r>
              <a:rPr lang="ru-RU" sz="2800" b="1" dirty="0"/>
              <a:t>.</a:t>
            </a:r>
            <a:r>
              <a:rPr lang="ru-RU" sz="2800" dirty="0"/>
              <a:t> При усложнении логики </a:t>
            </a:r>
            <a:r>
              <a:rPr lang="ru-RU" sz="2800" dirty="0" err="1"/>
              <a:t>Presenter</a:t>
            </a:r>
            <a:r>
              <a:rPr lang="ru-RU" sz="2800" dirty="0"/>
              <a:t> может стать громоздким, выполняя слишком много обязанностей</a:t>
            </a:r>
            <a:endParaRPr lang="en-US" sz="2800" dirty="0"/>
          </a:p>
          <a:p>
            <a:pPr fontAlgn="base"/>
            <a:r>
              <a:rPr lang="ru-RU" sz="2800" b="1" dirty="0"/>
              <a:t>Повышенная сложность</a:t>
            </a:r>
            <a:r>
              <a:rPr lang="en-US" sz="2800" b="1" dirty="0"/>
              <a:t>.</a:t>
            </a:r>
            <a:r>
              <a:rPr lang="en-US" sz="2800" dirty="0"/>
              <a:t> </a:t>
            </a:r>
            <a:r>
              <a:rPr lang="ru-RU" sz="2800" dirty="0"/>
              <a:t>MVP может требовать больше кода для настройки связей между компонентами и управления потоком данных</a:t>
            </a:r>
          </a:p>
          <a:p>
            <a:pPr fontAlgn="base"/>
            <a:r>
              <a:rPr lang="ru-RU" sz="2800" b="1" dirty="0"/>
              <a:t>Повышенная зависимость от языка и </a:t>
            </a:r>
            <a:r>
              <a:rPr lang="ru-RU" sz="2800" b="1" dirty="0" err="1"/>
              <a:t>фреймворка</a:t>
            </a:r>
            <a:r>
              <a:rPr lang="ru-RU" sz="2800" b="1" dirty="0"/>
              <a:t>.</a:t>
            </a:r>
            <a:r>
              <a:rPr lang="ru-RU" sz="2800" dirty="0"/>
              <a:t> Может затруднить перенос кода на другие платформы</a:t>
            </a:r>
          </a:p>
        </p:txBody>
      </p:sp>
    </p:spTree>
    <p:extLst>
      <p:ext uri="{BB962C8B-B14F-4D97-AF65-F5344CB8AC3E}">
        <p14:creationId xmlns:p14="http://schemas.microsoft.com/office/powerpoint/2010/main" val="12218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Сравнение с </a:t>
            </a:r>
            <a:r>
              <a:rPr lang="en-US" sz="6000" dirty="0"/>
              <a:t>MVC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b="1" dirty="0"/>
              <a:t>MVP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952895" cy="3304117"/>
          </a:xfrm>
        </p:spPr>
        <p:txBody>
          <a:bodyPr>
            <a:noAutofit/>
          </a:bodyPr>
          <a:lstStyle/>
          <a:p>
            <a:r>
              <a:rPr lang="en-US" sz="2800" dirty="0"/>
              <a:t>Model, View, Presenter</a:t>
            </a:r>
          </a:p>
          <a:p>
            <a:r>
              <a:rPr lang="ru-RU" sz="2800" dirty="0" err="1"/>
              <a:t>View</a:t>
            </a:r>
            <a:r>
              <a:rPr lang="ru-RU" sz="2800" dirty="0"/>
              <a:t> пассивно отображает данные и не зависит напрямую от </a:t>
            </a:r>
            <a:r>
              <a:rPr lang="ru-RU" sz="2800" dirty="0" err="1"/>
              <a:t>Presenter</a:t>
            </a:r>
            <a:endParaRPr lang="en-US" sz="2800" dirty="0"/>
          </a:p>
          <a:p>
            <a:r>
              <a:rPr lang="ru-RU" sz="2800" dirty="0" err="1"/>
              <a:t>Presenter</a:t>
            </a:r>
            <a:r>
              <a:rPr lang="ru-RU" sz="2800" dirty="0"/>
              <a:t> полностью управляет </a:t>
            </a:r>
            <a:r>
              <a:rPr lang="en-US" sz="2800" dirty="0"/>
              <a:t>View</a:t>
            </a:r>
            <a:r>
              <a:rPr lang="ru-RU" sz="2800" dirty="0"/>
              <a:t> и не имеет прямой зависимости от него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911343" y="2160983"/>
            <a:ext cx="4185618" cy="576262"/>
          </a:xfrm>
        </p:spPr>
        <p:txBody>
          <a:bodyPr/>
          <a:lstStyle/>
          <a:p>
            <a:r>
              <a:rPr lang="en-US" sz="3600" b="1" dirty="0"/>
              <a:t>MVC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911343" y="2737245"/>
            <a:ext cx="4573776" cy="3304117"/>
          </a:xfrm>
        </p:spPr>
        <p:txBody>
          <a:bodyPr>
            <a:noAutofit/>
          </a:bodyPr>
          <a:lstStyle/>
          <a:p>
            <a:r>
              <a:rPr lang="en-US" sz="2800" dirty="0"/>
              <a:t>Model, View, Controller</a:t>
            </a:r>
          </a:p>
          <a:p>
            <a:r>
              <a:rPr lang="ru-RU" sz="2800" dirty="0" err="1"/>
              <a:t>View</a:t>
            </a:r>
            <a:r>
              <a:rPr lang="ru-RU" sz="2800" dirty="0"/>
              <a:t> зависит от </a:t>
            </a:r>
            <a:r>
              <a:rPr lang="ru-RU" sz="2800" dirty="0" err="1"/>
              <a:t>Controller</a:t>
            </a:r>
            <a:endParaRPr lang="en-US" sz="2800" dirty="0"/>
          </a:p>
          <a:p>
            <a:r>
              <a:rPr lang="ru-RU" sz="2800" dirty="0" err="1"/>
              <a:t>Controller</a:t>
            </a:r>
            <a:r>
              <a:rPr lang="ru-RU" sz="2800" dirty="0"/>
              <a:t> непосредственно взаимодействует с </a:t>
            </a:r>
            <a:r>
              <a:rPr lang="ru-RU" sz="2800" dirty="0" err="1"/>
              <a:t>View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68467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Сравнение с </a:t>
            </a:r>
            <a:r>
              <a:rPr lang="en-US" sz="6000" dirty="0"/>
              <a:t>MVC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 b="1" dirty="0"/>
              <a:t>MVP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5174638" cy="3304117"/>
          </a:xfrm>
        </p:spPr>
        <p:txBody>
          <a:bodyPr>
            <a:noAutofit/>
          </a:bodyPr>
          <a:lstStyle/>
          <a:p>
            <a:r>
              <a:rPr lang="ru-RU" sz="2800" dirty="0" err="1"/>
              <a:t>Presenter</a:t>
            </a:r>
            <a:r>
              <a:rPr lang="ru-RU" sz="2800" dirty="0"/>
              <a:t> легко подвергается тестированию из-за отсутствия прямой связи с </a:t>
            </a:r>
            <a:r>
              <a:rPr lang="ru-RU" sz="2800" dirty="0" err="1"/>
              <a:t>View</a:t>
            </a:r>
            <a:endParaRPr lang="ru-RU" sz="2800" dirty="0"/>
          </a:p>
          <a:p>
            <a:r>
              <a:rPr lang="ru-RU" sz="2800" dirty="0" err="1"/>
              <a:t>View</a:t>
            </a:r>
            <a:r>
              <a:rPr lang="ru-RU" sz="2800" dirty="0"/>
              <a:t> может быть протестировано как отдельно, так и с  помощью </a:t>
            </a:r>
            <a:r>
              <a:rPr lang="en-US" sz="2800" dirty="0"/>
              <a:t>Mock-</a:t>
            </a:r>
            <a:r>
              <a:rPr lang="ru-RU" sz="2800" dirty="0"/>
              <a:t>объекта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850388" y="2160983"/>
            <a:ext cx="4185618" cy="576262"/>
          </a:xfrm>
        </p:spPr>
        <p:txBody>
          <a:bodyPr/>
          <a:lstStyle/>
          <a:p>
            <a:r>
              <a:rPr lang="en-US" sz="3600" b="1" dirty="0"/>
              <a:t>MVC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850383" y="2655965"/>
            <a:ext cx="4472177" cy="3304117"/>
          </a:xfrm>
        </p:spPr>
        <p:txBody>
          <a:bodyPr>
            <a:noAutofit/>
          </a:bodyPr>
          <a:lstStyle/>
          <a:p>
            <a:r>
              <a:rPr lang="ru-RU" sz="2800" dirty="0"/>
              <a:t>Тестирование </a:t>
            </a:r>
            <a:r>
              <a:rPr lang="ru-RU" sz="2800" dirty="0" err="1"/>
              <a:t>Controller</a:t>
            </a:r>
            <a:r>
              <a:rPr lang="ru-RU" sz="2800" dirty="0"/>
              <a:t> может быть сложным из-за его прямой связи с </a:t>
            </a:r>
            <a:r>
              <a:rPr lang="ru-RU" sz="2800" dirty="0" err="1"/>
              <a:t>View</a:t>
            </a:r>
            <a:endParaRPr lang="ru-RU" sz="2800" dirty="0"/>
          </a:p>
          <a:p>
            <a:r>
              <a:rPr lang="ru-RU" sz="2800" dirty="0" err="1"/>
              <a:t>View</a:t>
            </a:r>
            <a:r>
              <a:rPr lang="ru-RU" sz="2800" dirty="0"/>
              <a:t> может быть трудно протестировать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12869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Связь </a:t>
            </a:r>
            <a:r>
              <a:rPr lang="en-US" sz="6000" dirty="0"/>
              <a:t>MVP </a:t>
            </a:r>
            <a:r>
              <a:rPr lang="ru-RU" sz="6000" dirty="0"/>
              <a:t>и </a:t>
            </a:r>
            <a:r>
              <a:rPr lang="en-US" sz="6000" dirty="0"/>
              <a:t>HO DP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/>
              <a:t>MVP можно рассматривать как "продвинутую версию" </a:t>
            </a:r>
            <a:r>
              <a:rPr lang="ru-RU" sz="2800" dirty="0" err="1"/>
              <a:t>Humble</a:t>
            </a:r>
            <a:r>
              <a:rPr lang="ru-RU" sz="2800" dirty="0"/>
              <a:t> </a:t>
            </a:r>
            <a:r>
              <a:rPr lang="ru-RU" sz="2800" dirty="0" err="1"/>
              <a:t>Object</a:t>
            </a:r>
            <a:r>
              <a:rPr lang="ru-RU" sz="2800" dirty="0"/>
              <a:t> </a:t>
            </a:r>
            <a:r>
              <a:rPr lang="en-US" sz="2800" dirty="0"/>
              <a:t>Design </a:t>
            </a:r>
            <a:r>
              <a:rPr lang="ru-RU" sz="2800" dirty="0" err="1"/>
              <a:t>Pattern</a:t>
            </a:r>
            <a:r>
              <a:rPr lang="ru-RU" sz="2800" dirty="0"/>
              <a:t>, где:</a:t>
            </a:r>
          </a:p>
          <a:p>
            <a:r>
              <a:rPr lang="ru-RU" sz="2800" dirty="0" err="1"/>
              <a:t>View</a:t>
            </a:r>
            <a:r>
              <a:rPr lang="ru-RU" sz="2800" dirty="0"/>
              <a:t> становится настоящим "скромным объектом", который только показывает UI и передает события</a:t>
            </a:r>
          </a:p>
          <a:p>
            <a:r>
              <a:rPr lang="ru-RU" sz="2800" dirty="0" err="1"/>
              <a:t>Presenter</a:t>
            </a:r>
            <a:r>
              <a:rPr lang="ru-RU" sz="2800" dirty="0"/>
              <a:t> содержит всю сложную логику, которую легко тестировать</a:t>
            </a:r>
          </a:p>
          <a:p>
            <a:r>
              <a:rPr lang="ru-RU" sz="2800" dirty="0"/>
              <a:t>Добавляется строгая система контрактов через интерфейсы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23377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Где применяется?</a:t>
            </a:r>
            <a:endParaRPr lang="en-US" sz="6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Корпоративные приложения</a:t>
            </a:r>
          </a:p>
          <a:p>
            <a:r>
              <a:rPr lang="ru-RU" sz="2800" dirty="0"/>
              <a:t>Проекты с долгосрочной поддержкой</a:t>
            </a:r>
          </a:p>
          <a:p>
            <a:r>
              <a:rPr lang="ru-RU" sz="2800" dirty="0"/>
              <a:t>Приложения со сложной бизнес-логикой</a:t>
            </a:r>
          </a:p>
          <a:p>
            <a:r>
              <a:rPr lang="ru-RU" sz="2800" dirty="0"/>
              <a:t>Проекты с высокими требованиями к тестированию</a:t>
            </a:r>
          </a:p>
          <a:p>
            <a:pPr marL="0" indent="0">
              <a:buNone/>
            </a:pPr>
            <a:r>
              <a:rPr lang="ru-RU" sz="2800" dirty="0"/>
              <a:t>Этот паттерн особенно хорошо показывает себя там, где важно поддерживать баланс между гибкостью UI и стабильностью бизнес-логики.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5044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4FC4D-E21B-4717-AD0B-11C07BAFA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271" y="2404534"/>
            <a:ext cx="9152964" cy="1646302"/>
          </a:xfrm>
        </p:spPr>
        <p:txBody>
          <a:bodyPr/>
          <a:lstStyle/>
          <a:p>
            <a:r>
              <a:rPr lang="en-US" sz="7200" dirty="0"/>
              <a:t>MVVM and HO Pattern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6C175BE-3A96-4A3A-89E9-A1A758DFAA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Model–View–</a:t>
            </a:r>
            <a:r>
              <a:rPr lang="en-US" sz="2800" dirty="0" err="1"/>
              <a:t>ViemModel</a:t>
            </a:r>
            <a:r>
              <a:rPr lang="en-US" sz="2800" dirty="0"/>
              <a:t> </a:t>
            </a:r>
            <a:r>
              <a:rPr lang="ru-RU" sz="2800" dirty="0"/>
              <a:t>архитектура и её связь с паттерном </a:t>
            </a:r>
            <a:r>
              <a:rPr lang="en-US" sz="2800" i="1" dirty="0"/>
              <a:t>Humble Object</a:t>
            </a:r>
            <a:br>
              <a:rPr lang="en-US" sz="2800" dirty="0"/>
            </a:br>
            <a:r>
              <a:rPr lang="ru-RU" sz="2800" i="1" dirty="0"/>
              <a:t>Автор: Корытко Анастасия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10480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A19EA2C-EB21-A4BD-824B-8DCB1210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Что такое </a:t>
            </a:r>
            <a:r>
              <a:rPr lang="en-US" sz="6000" dirty="0"/>
              <a:t>MVVM</a:t>
            </a:r>
            <a:endParaRPr lang="ru-RU" sz="60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FF2F9CB-CF42-C43B-12E4-42032FFFB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2800" b="1" dirty="0"/>
              <a:t>Model-View-</a:t>
            </a:r>
            <a:r>
              <a:rPr lang="ru-RU" sz="2800" b="1" dirty="0" err="1"/>
              <a:t>ViewModel</a:t>
            </a:r>
            <a:r>
              <a:rPr lang="ru-RU" sz="2800" b="1" dirty="0"/>
              <a:t> (MVVM)</a:t>
            </a:r>
            <a:r>
              <a:rPr lang="ru-RU" sz="2800" dirty="0"/>
              <a:t> - это архитектурный паттерн, который обеспечивает четкое разделение ответственности между компонентами приложения. Он был представлен Microsoft для платформы WPF и </a:t>
            </a:r>
            <a:r>
              <a:rPr lang="ru-RU" sz="2800" dirty="0" err="1"/>
              <a:t>Silverlight</a:t>
            </a:r>
            <a:r>
              <a:rPr lang="ru-RU" sz="2800" dirty="0"/>
              <a:t>, но теперь широко используется в различных технологиях.</a:t>
            </a:r>
          </a:p>
          <a:p>
            <a:r>
              <a:rPr lang="ru-RU" sz="2800" b="1" dirty="0"/>
              <a:t>Ключевая идея:</a:t>
            </a:r>
            <a:r>
              <a:rPr lang="ru-RU" sz="2800" dirty="0"/>
              <a:t> ViewModel выступает в роли абстракции View, предоставляя данные и команды в форме, удобной для привязки.</a:t>
            </a:r>
          </a:p>
        </p:txBody>
      </p:sp>
    </p:spTree>
    <p:extLst>
      <p:ext uri="{BB962C8B-B14F-4D97-AF65-F5344CB8AC3E}">
        <p14:creationId xmlns:p14="http://schemas.microsoft.com/office/powerpoint/2010/main" val="724140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26BC8-5F9E-11A1-C57D-2AE8A7390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Компоненты </a:t>
            </a:r>
            <a:r>
              <a:rPr lang="en-US" sz="6000" dirty="0"/>
              <a:t>MVVM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B917AC-321A-9844-AD5F-0BA4755B8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Model</a:t>
            </a:r>
          </a:p>
          <a:p>
            <a:r>
              <a:rPr lang="en-US" sz="4800" dirty="0"/>
              <a:t>View</a:t>
            </a:r>
          </a:p>
          <a:p>
            <a:r>
              <a:rPr lang="en-US" sz="4800" dirty="0" err="1"/>
              <a:t>ViewModel</a:t>
            </a:r>
            <a:endParaRPr lang="ru-RU" sz="4800" dirty="0"/>
          </a:p>
        </p:txBody>
      </p:sp>
    </p:spTree>
    <p:extLst>
      <p:ext uri="{BB962C8B-B14F-4D97-AF65-F5344CB8AC3E}">
        <p14:creationId xmlns:p14="http://schemas.microsoft.com/office/powerpoint/2010/main" val="30149484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E0B91-9EEE-9118-9B1D-DB9FF351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81" y="591670"/>
            <a:ext cx="8596668" cy="1320800"/>
          </a:xfrm>
        </p:spPr>
        <p:txBody>
          <a:bodyPr>
            <a:normAutofit/>
          </a:bodyPr>
          <a:lstStyle/>
          <a:p>
            <a:r>
              <a:rPr lang="en-US" sz="6000" dirty="0"/>
              <a:t>Model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F0F569-831D-A077-9562-DE6163DDD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896972" cy="3880773"/>
          </a:xfrm>
        </p:spPr>
        <p:txBody>
          <a:bodyPr>
            <a:noAutofit/>
          </a:bodyPr>
          <a:lstStyle/>
          <a:p>
            <a:r>
              <a:rPr lang="ru-RU" sz="3600" dirty="0"/>
              <a:t>Представляет бизнес-логику и данные</a:t>
            </a:r>
          </a:p>
          <a:p>
            <a:r>
              <a:rPr lang="ru-RU" sz="3600" dirty="0"/>
              <a:t>Не зависит от View и </a:t>
            </a:r>
            <a:r>
              <a:rPr lang="ru-RU" sz="3600" dirty="0" err="1"/>
              <a:t>ViewModel</a:t>
            </a:r>
            <a:endParaRPr lang="ru-RU" sz="3600" dirty="0"/>
          </a:p>
          <a:p>
            <a:r>
              <a:rPr lang="ru-RU" sz="3600" dirty="0"/>
              <a:t>Содержит валидацию, вычисления, работу с данными</a:t>
            </a:r>
          </a:p>
          <a:p>
            <a:r>
              <a:rPr lang="ru-RU" sz="3600" dirty="0"/>
              <a:t>Уведомляет об изменениях через события или наблюдаемые коллекции</a:t>
            </a:r>
          </a:p>
        </p:txBody>
      </p:sp>
    </p:spTree>
    <p:extLst>
      <p:ext uri="{BB962C8B-B14F-4D97-AF65-F5344CB8AC3E}">
        <p14:creationId xmlns:p14="http://schemas.microsoft.com/office/powerpoint/2010/main" val="3120306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FD405-37D2-C107-6C9B-8B49A681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View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63E7C-0BFD-D99C-4253-ECB2570A3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022478" cy="3880773"/>
          </a:xfrm>
        </p:spPr>
        <p:txBody>
          <a:bodyPr>
            <a:noAutofit/>
          </a:bodyPr>
          <a:lstStyle/>
          <a:p>
            <a:r>
              <a:rPr lang="ru-RU" sz="3600" dirty="0"/>
              <a:t>Отвечает только за отображение UI</a:t>
            </a:r>
          </a:p>
          <a:p>
            <a:r>
              <a:rPr lang="ru-RU" sz="3600" dirty="0"/>
              <a:t>Содержит минимальную логику (обычно только привязки данных)</a:t>
            </a:r>
          </a:p>
          <a:p>
            <a:r>
              <a:rPr lang="ru-RU" sz="3600" dirty="0"/>
              <a:t>Получает команды от пользователя и передает их в </a:t>
            </a:r>
            <a:r>
              <a:rPr lang="ru-RU" sz="3600" dirty="0" err="1"/>
              <a:t>ViewModel</a:t>
            </a:r>
            <a:endParaRPr lang="ru-RU" sz="3600" dirty="0"/>
          </a:p>
          <a:p>
            <a:r>
              <a:rPr lang="ru-RU" sz="3600" dirty="0"/>
              <a:t>Не содержит прямой ссылки на Model</a:t>
            </a:r>
          </a:p>
        </p:txBody>
      </p:sp>
    </p:spTree>
    <p:extLst>
      <p:ext uri="{BB962C8B-B14F-4D97-AF65-F5344CB8AC3E}">
        <p14:creationId xmlns:p14="http://schemas.microsoft.com/office/powerpoint/2010/main" val="34317737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8B5F7D-514F-31B7-B7B1-9B41D457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err="1"/>
              <a:t>ViewModel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F25559-E4AA-9A3B-108F-FA7D0AE07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667937" cy="3880773"/>
          </a:xfrm>
        </p:spPr>
        <p:txBody>
          <a:bodyPr>
            <a:noAutofit/>
          </a:bodyPr>
          <a:lstStyle/>
          <a:p>
            <a:r>
              <a:rPr lang="ru-RU" sz="3600" dirty="0"/>
              <a:t>Представляет состояние View и операции</a:t>
            </a:r>
          </a:p>
          <a:p>
            <a:r>
              <a:rPr lang="ru-RU" sz="3600" dirty="0"/>
              <a:t>Преобразует данные Model для отображения</a:t>
            </a:r>
          </a:p>
          <a:p>
            <a:r>
              <a:rPr lang="ru-RU" sz="3600" dirty="0"/>
              <a:t>Содержит команды для обработки пользовательских действий</a:t>
            </a:r>
          </a:p>
          <a:p>
            <a:r>
              <a:rPr lang="ru-RU" sz="3600" dirty="0"/>
              <a:t>Не содержит UI-специфичного кода</a:t>
            </a:r>
          </a:p>
        </p:txBody>
      </p:sp>
    </p:spTree>
    <p:extLst>
      <p:ext uri="{BB962C8B-B14F-4D97-AF65-F5344CB8AC3E}">
        <p14:creationId xmlns:p14="http://schemas.microsoft.com/office/powerpoint/2010/main" val="1929537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00282-DCD6-EFA6-2F06-5DB9E824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dirty="0"/>
              <a:t>Принцип работы </a:t>
            </a:r>
            <a:r>
              <a:rPr lang="en-US" sz="6000" dirty="0"/>
              <a:t>MVVM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BD0580-CF1E-C9A4-C04D-2335A72E2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334377" cy="4609862"/>
          </a:xfrm>
        </p:spPr>
        <p:txBody>
          <a:bodyPr>
            <a:noAutofit/>
          </a:bodyPr>
          <a:lstStyle/>
          <a:p>
            <a:r>
              <a:rPr lang="ru-RU" sz="4000" dirty="0"/>
              <a:t>Инициализация</a:t>
            </a:r>
            <a:endParaRPr lang="en-US" sz="4000" dirty="0"/>
          </a:p>
          <a:p>
            <a:r>
              <a:rPr lang="ru-RU" sz="4000" dirty="0"/>
              <a:t>Загрузка данных</a:t>
            </a:r>
          </a:p>
          <a:p>
            <a:r>
              <a:rPr lang="ru-RU" sz="4000" dirty="0"/>
              <a:t>Отображение</a:t>
            </a:r>
            <a:endParaRPr lang="en-US" sz="4000" dirty="0"/>
          </a:p>
          <a:p>
            <a:r>
              <a:rPr lang="ru-RU" sz="4000" dirty="0"/>
              <a:t>Пользовательские действия</a:t>
            </a:r>
            <a:endParaRPr lang="en-US" sz="4000" dirty="0"/>
          </a:p>
          <a:p>
            <a:r>
              <a:rPr lang="ru-RU" sz="4000" dirty="0"/>
              <a:t>Обработка</a:t>
            </a:r>
            <a:endParaRPr lang="en-US" sz="4000" dirty="0"/>
          </a:p>
          <a:p>
            <a:r>
              <a:rPr lang="ru-RU" sz="4000" dirty="0"/>
              <a:t>Обновление</a:t>
            </a:r>
          </a:p>
        </p:txBody>
      </p:sp>
    </p:spTree>
    <p:extLst>
      <p:ext uri="{BB962C8B-B14F-4D97-AF65-F5344CB8AC3E}">
        <p14:creationId xmlns:p14="http://schemas.microsoft.com/office/powerpoint/2010/main" val="640664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E305AC-2D57-38E9-DA17-B9DA5FE7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013513" cy="1320800"/>
          </a:xfrm>
        </p:spPr>
        <p:txBody>
          <a:bodyPr>
            <a:noAutofit/>
          </a:bodyPr>
          <a:lstStyle/>
          <a:p>
            <a:r>
              <a:rPr lang="ru-RU" sz="6000" dirty="0"/>
              <a:t>Когда используют </a:t>
            </a:r>
            <a:r>
              <a:rPr lang="en-US" sz="6000" dirty="0"/>
              <a:t>MVVM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73F755-BE22-0355-3AEE-A1F8EF1D5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255560" cy="3880773"/>
          </a:xfrm>
        </p:spPr>
        <p:txBody>
          <a:bodyPr>
            <a:noAutofit/>
          </a:bodyPr>
          <a:lstStyle/>
          <a:p>
            <a:r>
              <a:rPr lang="ru-RU" sz="3600" dirty="0"/>
              <a:t>Сложные пользовательские интерфейсы</a:t>
            </a:r>
          </a:p>
          <a:p>
            <a:r>
              <a:rPr lang="ru-RU" sz="3600" dirty="0"/>
              <a:t>Приложения с поддержкой </a:t>
            </a:r>
            <a:r>
              <a:rPr lang="ru-RU" sz="3600" dirty="0" err="1"/>
              <a:t>data</a:t>
            </a:r>
            <a:r>
              <a:rPr lang="ru-RU" sz="3600" dirty="0"/>
              <a:t> </a:t>
            </a:r>
            <a:r>
              <a:rPr lang="ru-RU" sz="3600" dirty="0" err="1"/>
              <a:t>binding</a:t>
            </a:r>
            <a:endParaRPr lang="en-US" sz="3600" dirty="0"/>
          </a:p>
          <a:p>
            <a:r>
              <a:rPr lang="ru-RU" sz="3600" dirty="0"/>
              <a:t>Когда важна тестируемость</a:t>
            </a:r>
            <a:endParaRPr lang="en-US" sz="3600" dirty="0"/>
          </a:p>
          <a:p>
            <a:r>
              <a:rPr lang="ru-RU" sz="3600" dirty="0"/>
              <a:t>Многоуровневые приложения</a:t>
            </a:r>
            <a:endParaRPr lang="en-US" sz="3600" dirty="0"/>
          </a:p>
          <a:p>
            <a:r>
              <a:rPr lang="ru-RU" sz="3600" dirty="0"/>
              <a:t>Командная разработка</a:t>
            </a:r>
          </a:p>
        </p:txBody>
      </p:sp>
    </p:spTree>
    <p:extLst>
      <p:ext uri="{BB962C8B-B14F-4D97-AF65-F5344CB8AC3E}">
        <p14:creationId xmlns:p14="http://schemas.microsoft.com/office/powerpoint/2010/main" val="14612226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6860E-6767-1959-5FFF-9C991C7A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Data Binding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70EB9A-91A9-F5D9-00B5-142A677A4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896972" cy="397756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Data Binding </a:t>
            </a:r>
            <a:r>
              <a:rPr lang="ru-RU" sz="2800" dirty="0"/>
              <a:t>обеспечивает автоматическую синхронизацию между </a:t>
            </a:r>
            <a:r>
              <a:rPr lang="en-US" sz="2800" dirty="0" err="1"/>
              <a:t>ViewModel</a:t>
            </a:r>
            <a:r>
              <a:rPr lang="en-US" sz="2800" dirty="0"/>
              <a:t> </a:t>
            </a:r>
            <a:r>
              <a:rPr lang="ru-RU" sz="2800" dirty="0"/>
              <a:t>и </a:t>
            </a:r>
            <a:r>
              <a:rPr lang="en-US" sz="2800" dirty="0"/>
              <a:t>View. </a:t>
            </a:r>
            <a:r>
              <a:rPr lang="ru-RU" sz="2800" dirty="0"/>
              <a:t>При изменении свойств </a:t>
            </a:r>
            <a:r>
              <a:rPr lang="en-US" sz="2800" dirty="0" err="1"/>
              <a:t>ViewModel</a:t>
            </a:r>
            <a:r>
              <a:rPr lang="en-US" sz="2800" dirty="0"/>
              <a:t> View </a:t>
            </a:r>
            <a:r>
              <a:rPr lang="ru-RU" sz="2800" dirty="0"/>
              <a:t>автоматически обновляется без прямого вызова методов.</a:t>
            </a:r>
          </a:p>
          <a:p>
            <a:pPr marL="0" indent="0">
              <a:buNone/>
            </a:pPr>
            <a:r>
              <a:rPr lang="ru-RU" sz="2800" b="1" dirty="0"/>
              <a:t>Типы привязок:</a:t>
            </a:r>
            <a:endParaRPr lang="ru-RU" sz="2800" dirty="0"/>
          </a:p>
          <a:p>
            <a:r>
              <a:rPr lang="en-US" sz="2800" dirty="0"/>
              <a:t>One-way: </a:t>
            </a:r>
            <a:r>
              <a:rPr lang="ru-RU" sz="2800" dirty="0"/>
              <a:t>от </a:t>
            </a:r>
            <a:r>
              <a:rPr lang="en-US" sz="2800" dirty="0" err="1"/>
              <a:t>ViewModel</a:t>
            </a:r>
            <a:r>
              <a:rPr lang="en-US" sz="2800" dirty="0"/>
              <a:t> </a:t>
            </a:r>
            <a:r>
              <a:rPr lang="ru-RU" sz="2800" dirty="0"/>
              <a:t>к </a:t>
            </a:r>
            <a:r>
              <a:rPr lang="en-US" sz="2800" dirty="0"/>
              <a:t>View</a:t>
            </a:r>
          </a:p>
          <a:p>
            <a:r>
              <a:rPr lang="en-US" sz="2800" dirty="0"/>
              <a:t>Two-way: </a:t>
            </a:r>
            <a:r>
              <a:rPr lang="ru-RU" sz="2800" dirty="0"/>
              <a:t>двусторонняя синхронизация</a:t>
            </a:r>
          </a:p>
          <a:p>
            <a:r>
              <a:rPr lang="en-US" sz="2800" dirty="0"/>
              <a:t>One-time: </a:t>
            </a:r>
            <a:r>
              <a:rPr lang="ru-RU" sz="2800" dirty="0"/>
              <a:t>однократное присвоение</a:t>
            </a:r>
          </a:p>
        </p:txBody>
      </p:sp>
    </p:spTree>
    <p:extLst>
      <p:ext uri="{BB962C8B-B14F-4D97-AF65-F5344CB8AC3E}">
        <p14:creationId xmlns:p14="http://schemas.microsoft.com/office/powerpoint/2010/main" val="21604759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BE182-E5AF-A123-944A-01E62C4BF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Простейший пример</a:t>
            </a:r>
            <a:r>
              <a:rPr lang="en-US" sz="6000" dirty="0"/>
              <a:t> #1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5F29D4-DE0B-549E-6BB0-AAE2CE16BF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9130054" cy="3880772"/>
          </a:xfrm>
        </p:spPr>
        <p:txBody>
          <a:bodyPr>
            <a:noAutofit/>
          </a:bodyPr>
          <a:lstStyle/>
          <a:p>
            <a:r>
              <a:rPr lang="en-US" sz="4000" dirty="0"/>
              <a:t>Model</a:t>
            </a:r>
            <a:endParaRPr lang="ru-RU" sz="4000" dirty="0"/>
          </a:p>
          <a:p>
            <a:pPr marL="0" indent="0">
              <a:buNone/>
            </a:pPr>
            <a:r>
              <a:rPr lang="ru-RU" sz="4000" dirty="0"/>
              <a:t>Класс User хранит данные (имя пользователя). Он ничего не знает про интерфейс или логику отображения.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21944455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AF9140-6544-4555-BA61-5FC52C2C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Простейший пример</a:t>
            </a:r>
            <a:r>
              <a:rPr lang="en-US" sz="6000" dirty="0"/>
              <a:t> #1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A2DD17-DFA5-4B86-85FA-5808C3FAD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7317"/>
            <a:ext cx="9076266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User {</a:t>
            </a:r>
            <a:b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name;</a:t>
            </a:r>
            <a:b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User(String name) { this.name = name; }</a:t>
            </a:r>
            <a:b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String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() { return name; }</a:t>
            </a:r>
            <a:b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name) { this.name = name; }</a:t>
            </a:r>
            <a:b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64801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F70D7-8823-6750-FCFB-6E8E4810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Простейший пример</a:t>
            </a:r>
            <a:r>
              <a:rPr lang="en-US" sz="6000" dirty="0"/>
              <a:t> #2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DD8150-0140-02F2-F71B-9A956901A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657611"/>
            <a:ext cx="9318313" cy="4366671"/>
          </a:xfrm>
        </p:spPr>
        <p:txBody>
          <a:bodyPr>
            <a:noAutofit/>
          </a:bodyPr>
          <a:lstStyle/>
          <a:p>
            <a:r>
              <a:rPr lang="en-US" sz="3200" dirty="0"/>
              <a:t>View</a:t>
            </a:r>
            <a:endParaRPr lang="ru-RU" sz="3200" dirty="0"/>
          </a:p>
          <a:p>
            <a:pPr marL="0" indent="0">
              <a:buNone/>
            </a:pPr>
            <a:r>
              <a:rPr lang="en-US" sz="3200" dirty="0" err="1"/>
              <a:t>UserView.fxml</a:t>
            </a:r>
            <a:r>
              <a:rPr lang="en-US" sz="3200" dirty="0"/>
              <a:t> (</a:t>
            </a:r>
            <a:r>
              <a:rPr lang="ru-RU" sz="3200" dirty="0"/>
              <a:t>разметка интерфейса)</a:t>
            </a:r>
          </a:p>
          <a:p>
            <a:pPr marL="0" indent="0">
              <a:buNone/>
            </a:pPr>
            <a:r>
              <a:rPr lang="en-US" sz="3200" dirty="0"/>
              <a:t>UserViewController.java (</a:t>
            </a:r>
            <a:r>
              <a:rPr lang="ru-RU" sz="3200" dirty="0"/>
              <a:t>связывает </a:t>
            </a:r>
            <a:r>
              <a:rPr lang="en-US" sz="3200" dirty="0"/>
              <a:t>UI‑</a:t>
            </a:r>
            <a:r>
              <a:rPr lang="ru-RU" sz="3200" dirty="0"/>
              <a:t>элементы с </a:t>
            </a:r>
            <a:r>
              <a:rPr lang="en-US" sz="3200" dirty="0" err="1"/>
              <a:t>ViewModel</a:t>
            </a:r>
            <a:r>
              <a:rPr lang="en-US" sz="3200" dirty="0"/>
              <a:t>)</a:t>
            </a:r>
          </a:p>
          <a:p>
            <a:pPr marL="0" indent="0">
              <a:buNone/>
            </a:pPr>
            <a:r>
              <a:rPr lang="en-US" sz="3200" dirty="0"/>
              <a:t>View </a:t>
            </a:r>
            <a:r>
              <a:rPr lang="ru-RU" sz="3200" dirty="0"/>
              <a:t>отвечает только за отображение и ввод. Оно не содержит бизнес‑логики — только </a:t>
            </a:r>
            <a:r>
              <a:rPr lang="ru-RU" sz="3200" dirty="0" err="1"/>
              <a:t>биндинг</a:t>
            </a:r>
            <a:r>
              <a:rPr lang="ru-RU" sz="3200" dirty="0"/>
              <a:t> и вызовы методов </a:t>
            </a:r>
            <a:r>
              <a:rPr lang="en-US" sz="3200" dirty="0" err="1"/>
              <a:t>ViewModel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8643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F70D7-8823-6750-FCFB-6E8E4810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Простейший пример</a:t>
            </a:r>
            <a:r>
              <a:rPr lang="en-US" sz="6000" dirty="0"/>
              <a:t> #2</a:t>
            </a:r>
            <a:endParaRPr lang="ru-RU" sz="60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A1A2BDE-B3FA-52DF-E637-C84EB5170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3" y="1655512"/>
            <a:ext cx="11810501" cy="42099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UserViewController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@FXML private Label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nameLabel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@FXML private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TextField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nameField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UserViewModel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viewModel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@FXML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initialize() {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User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= new User(" ");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viewModel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UserViewModel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(user);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nameLabel.textProperty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().bind(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viewModel.nameProperty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nameField.textProperty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bindBidirectional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viewModel.nameProperty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()); }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@FXML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void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onUpdate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viewModel.updateName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nameField.getText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}}</a:t>
            </a:r>
          </a:p>
        </p:txBody>
      </p:sp>
    </p:spTree>
    <p:extLst>
      <p:ext uri="{BB962C8B-B14F-4D97-AF65-F5344CB8AC3E}">
        <p14:creationId xmlns:p14="http://schemas.microsoft.com/office/powerpoint/2010/main" val="14339339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D2FB4-2F8D-5C0A-FA49-7E1700EC8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Простейший пример</a:t>
            </a:r>
            <a:r>
              <a:rPr lang="en-US" sz="6000" dirty="0"/>
              <a:t> #3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24A5BB-3116-604A-1BA7-C1D6FCC80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607671"/>
            <a:ext cx="8807325" cy="4110961"/>
          </a:xfrm>
        </p:spPr>
        <p:txBody>
          <a:bodyPr>
            <a:noAutofit/>
          </a:bodyPr>
          <a:lstStyle/>
          <a:p>
            <a:r>
              <a:rPr lang="en-US" sz="3600" b="1" dirty="0" err="1"/>
              <a:t>ViewModel</a:t>
            </a:r>
            <a:endParaRPr lang="ru-RU" sz="3600" dirty="0"/>
          </a:p>
          <a:p>
            <a:pPr marL="0" indent="0">
              <a:buNone/>
            </a:pPr>
            <a:r>
              <a:rPr lang="en-US" sz="3600" dirty="0"/>
              <a:t>UserViewModel.java</a:t>
            </a:r>
          </a:p>
          <a:p>
            <a:pPr marL="0" indent="0">
              <a:buNone/>
            </a:pPr>
            <a:r>
              <a:rPr lang="ru-RU" sz="3600" dirty="0"/>
              <a:t>Хранит состояние (</a:t>
            </a:r>
            <a:r>
              <a:rPr lang="en-US" sz="3600" dirty="0" err="1"/>
              <a:t>StringProperty</a:t>
            </a:r>
            <a:r>
              <a:rPr lang="en-US" sz="3600" dirty="0"/>
              <a:t> name).</a:t>
            </a:r>
          </a:p>
          <a:p>
            <a:pPr marL="0" indent="0">
              <a:buNone/>
            </a:pPr>
            <a:r>
              <a:rPr lang="ru-RU" sz="3600" dirty="0"/>
              <a:t>Содержит бизнес‑логику обновления имени (</a:t>
            </a:r>
            <a:r>
              <a:rPr lang="en-US" sz="3600" dirty="0" err="1"/>
              <a:t>updateName</a:t>
            </a:r>
            <a:r>
              <a:rPr lang="en-US" sz="3600" dirty="0"/>
              <a:t>()).</a:t>
            </a:r>
          </a:p>
          <a:p>
            <a:pPr marL="0" indent="0">
              <a:buNone/>
            </a:pPr>
            <a:r>
              <a:rPr lang="ru-RU" sz="3600" dirty="0"/>
              <a:t>Связывает </a:t>
            </a:r>
            <a:r>
              <a:rPr lang="en-US" sz="3600" dirty="0"/>
              <a:t>Model </a:t>
            </a:r>
            <a:r>
              <a:rPr lang="ru-RU" sz="3600" dirty="0"/>
              <a:t>и </a:t>
            </a:r>
            <a:r>
              <a:rPr lang="en-US" sz="3600" dirty="0"/>
              <a:t>View </a:t>
            </a:r>
            <a:r>
              <a:rPr lang="ru-RU" sz="3600" dirty="0"/>
              <a:t>через свойства и команды.</a:t>
            </a:r>
          </a:p>
        </p:txBody>
      </p:sp>
    </p:spTree>
    <p:extLst>
      <p:ext uri="{BB962C8B-B14F-4D97-AF65-F5344CB8AC3E}">
        <p14:creationId xmlns:p14="http://schemas.microsoft.com/office/powerpoint/2010/main" val="30290754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D2FB4-2F8D-5C0A-FA49-7E1700EC8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Простейший пример</a:t>
            </a:r>
            <a:r>
              <a:rPr lang="en-US" sz="6000" dirty="0"/>
              <a:t> #3</a:t>
            </a:r>
            <a:endParaRPr lang="ru-RU" sz="60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DE8E8D-5247-8DF3-E6B8-BEB74D0EC0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7334" y="1637489"/>
            <a:ext cx="11093134" cy="46109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UserViewModel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User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StringProperty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name = new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SimpleStringProperty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UserViewModel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(User user) {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this.user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= user;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name.set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user.getName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()); }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StringProperty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nameProperty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name; }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updateName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(String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newName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newName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== null ||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newName.trim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sz="2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("Error: name cannot be empty!");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return; }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user.setName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newName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name.set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newName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en-US" sz="21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("Name updated: " +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user.getName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    }}</a:t>
            </a:r>
          </a:p>
        </p:txBody>
      </p:sp>
    </p:spTree>
    <p:extLst>
      <p:ext uri="{BB962C8B-B14F-4D97-AF65-F5344CB8AC3E}">
        <p14:creationId xmlns:p14="http://schemas.microsoft.com/office/powerpoint/2010/main" val="27299927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BE0509-B03C-2D65-BB7F-702382A5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dirty="0"/>
              <a:t>Что делает программа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668087-ECE8-88EC-82D4-648614401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11254690" cy="40878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/>
              <a:t>При запуске программы открывается окно</a:t>
            </a:r>
          </a:p>
          <a:p>
            <a:r>
              <a:rPr lang="en-US" sz="2200" dirty="0"/>
              <a:t>Label </a:t>
            </a:r>
            <a:r>
              <a:rPr lang="ru-RU" sz="2200" dirty="0"/>
              <a:t>— отображает имя пользователя</a:t>
            </a:r>
            <a:endParaRPr lang="en-US" sz="2200" dirty="0"/>
          </a:p>
          <a:p>
            <a:r>
              <a:rPr lang="en-US" sz="2200" dirty="0" err="1"/>
              <a:t>TextField</a:t>
            </a:r>
            <a:r>
              <a:rPr lang="en-US" sz="2200" dirty="0"/>
              <a:t> </a:t>
            </a:r>
            <a:r>
              <a:rPr lang="ru-RU" sz="2200" dirty="0"/>
              <a:t>— поле для ввода имени</a:t>
            </a:r>
            <a:endParaRPr lang="en-US" sz="2200" dirty="0"/>
          </a:p>
          <a:p>
            <a:r>
              <a:rPr lang="en-US" sz="2200" dirty="0"/>
              <a:t>Button </a:t>
            </a:r>
            <a:r>
              <a:rPr lang="ru-RU" sz="2200" dirty="0"/>
              <a:t>«Обновить» — подтверждает изменения</a:t>
            </a:r>
            <a:endParaRPr lang="en-US" sz="2200" dirty="0"/>
          </a:p>
          <a:p>
            <a:pPr marL="0" indent="0">
              <a:buNone/>
            </a:pPr>
            <a:r>
              <a:rPr lang="ru-RU" sz="2200" dirty="0"/>
              <a:t>Когда меняется текст в </a:t>
            </a:r>
            <a:r>
              <a:rPr lang="ru-RU" sz="2200" dirty="0" err="1"/>
              <a:t>TextField</a:t>
            </a:r>
            <a:r>
              <a:rPr lang="ru-RU" sz="2200" dirty="0"/>
              <a:t>, он автоматически обновляется Label (через </a:t>
            </a:r>
            <a:r>
              <a:rPr lang="ru-RU" sz="2200" dirty="0" err="1"/>
              <a:t>data</a:t>
            </a:r>
            <a:r>
              <a:rPr lang="ru-RU" sz="2200" dirty="0"/>
              <a:t> </a:t>
            </a:r>
            <a:r>
              <a:rPr lang="ru-RU" sz="2200" dirty="0" err="1"/>
              <a:t>binding</a:t>
            </a:r>
            <a:r>
              <a:rPr lang="ru-RU" sz="2200" dirty="0"/>
              <a:t>)</a:t>
            </a:r>
          </a:p>
          <a:p>
            <a:pPr marL="0" indent="0">
              <a:buNone/>
            </a:pPr>
            <a:r>
              <a:rPr lang="ru-RU" sz="2200" dirty="0"/>
              <a:t>При нажатии на кнопку вызывается метод </a:t>
            </a:r>
            <a:r>
              <a:rPr lang="ru-RU" sz="2200" dirty="0" err="1"/>
              <a:t>updateName</a:t>
            </a:r>
            <a:r>
              <a:rPr lang="ru-RU" sz="2200" dirty="0"/>
              <a:t>() во </a:t>
            </a:r>
            <a:r>
              <a:rPr lang="ru-RU" sz="2200" b="1" dirty="0" err="1"/>
              <a:t>ViewModel</a:t>
            </a:r>
            <a:r>
              <a:rPr lang="ru-RU" sz="2200" dirty="0"/>
              <a:t>, который:</a:t>
            </a:r>
          </a:p>
          <a:p>
            <a:r>
              <a:rPr lang="ru-RU" sz="2200" dirty="0"/>
              <a:t>проверяет, что имя не пустое</a:t>
            </a:r>
          </a:p>
          <a:p>
            <a:r>
              <a:rPr lang="ru-RU" sz="2200" dirty="0"/>
              <a:t>сохраняет его в </a:t>
            </a:r>
            <a:r>
              <a:rPr lang="ru-RU" sz="2200" b="1" dirty="0"/>
              <a:t>Model</a:t>
            </a:r>
            <a:r>
              <a:rPr lang="ru-RU" sz="2200" dirty="0"/>
              <a:t> (User)</a:t>
            </a:r>
          </a:p>
          <a:p>
            <a:r>
              <a:rPr lang="ru-RU" sz="2200" dirty="0"/>
              <a:t>обновляет состояние в </a:t>
            </a:r>
            <a:r>
              <a:rPr lang="en-US" sz="2200" b="1" dirty="0" err="1"/>
              <a:t>ViewModel</a:t>
            </a:r>
            <a:endParaRPr lang="ru-RU" sz="2200" b="1" dirty="0"/>
          </a:p>
          <a:p>
            <a:r>
              <a:rPr lang="ru-RU" sz="2200" dirty="0"/>
              <a:t>выводит сообщение в консоль</a:t>
            </a:r>
          </a:p>
        </p:txBody>
      </p:sp>
    </p:spTree>
    <p:extLst>
      <p:ext uri="{BB962C8B-B14F-4D97-AF65-F5344CB8AC3E}">
        <p14:creationId xmlns:p14="http://schemas.microsoft.com/office/powerpoint/2010/main" val="5330775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BD9EF-7203-A154-18F8-5A3F8B22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/>
              <a:t>Humble Object Pattern </a:t>
            </a:r>
            <a:r>
              <a:rPr lang="ru-RU" sz="6000" dirty="0"/>
              <a:t>в контексте </a:t>
            </a:r>
            <a:r>
              <a:rPr lang="en-US" sz="6000" dirty="0"/>
              <a:t>MVVM</a:t>
            </a:r>
            <a:br>
              <a:rPr lang="en-US" sz="6000" b="1" dirty="0"/>
            </a:b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BB4865-12D3-84B3-3352-2FE149FA7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88606"/>
            <a:ext cx="10412198" cy="38121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800" dirty="0" err="1"/>
              <a:t>Humble</a:t>
            </a:r>
            <a:r>
              <a:rPr lang="ru-RU" sz="2800" dirty="0"/>
              <a:t> Object </a:t>
            </a:r>
            <a:r>
              <a:rPr lang="ru-RU" sz="2800" dirty="0" err="1"/>
              <a:t>Pattern</a:t>
            </a:r>
            <a:r>
              <a:rPr lang="ru-RU" sz="2800" dirty="0"/>
              <a:t> - это паттерн, который разделяет код на две части:</a:t>
            </a:r>
          </a:p>
          <a:p>
            <a:r>
              <a:rPr lang="ru-RU" sz="2800" dirty="0"/>
              <a:t>"Умный" объект (сложная логика, легко тестируется)</a:t>
            </a:r>
          </a:p>
          <a:p>
            <a:r>
              <a:rPr lang="ru-RU" sz="2800" dirty="0"/>
              <a:t>"Скромный" объект (простая логика, сложно тестируется)</a:t>
            </a:r>
          </a:p>
          <a:p>
            <a:pPr marL="0" indent="0">
              <a:buNone/>
            </a:pPr>
            <a:r>
              <a:rPr lang="ru-RU" sz="2800" dirty="0"/>
              <a:t>В MVVM:</a:t>
            </a:r>
          </a:p>
          <a:p>
            <a:r>
              <a:rPr lang="ru-RU" sz="2800" dirty="0" err="1"/>
              <a:t>ViewModel</a:t>
            </a:r>
            <a:r>
              <a:rPr lang="ru-RU" sz="2800" dirty="0"/>
              <a:t> - "умный" объект</a:t>
            </a:r>
          </a:p>
          <a:p>
            <a:r>
              <a:rPr lang="ru-RU" sz="2800" dirty="0"/>
              <a:t>View - "скромный" объект</a:t>
            </a:r>
          </a:p>
        </p:txBody>
      </p:sp>
    </p:spTree>
    <p:extLst>
      <p:ext uri="{BB962C8B-B14F-4D97-AF65-F5344CB8AC3E}">
        <p14:creationId xmlns:p14="http://schemas.microsoft.com/office/powerpoint/2010/main" val="28188870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C18059-A794-870B-FEC3-4831156E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6000" dirty="0"/>
              <a:t>Преимущества </a:t>
            </a:r>
            <a:r>
              <a:rPr lang="en-US" sz="6000" dirty="0"/>
              <a:t>MVVM</a:t>
            </a:r>
            <a:endParaRPr lang="ru-RU" sz="6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1EBE6A-5BF7-4078-BCA0-5D5AA76AA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7860"/>
            <a:ext cx="8596668" cy="3880773"/>
          </a:xfrm>
        </p:spPr>
        <p:txBody>
          <a:bodyPr>
            <a:noAutofit/>
          </a:bodyPr>
          <a:lstStyle/>
          <a:p>
            <a:r>
              <a:rPr lang="ru-RU" sz="4800" dirty="0"/>
              <a:t>Тестируемость</a:t>
            </a:r>
          </a:p>
          <a:p>
            <a:r>
              <a:rPr lang="ru-RU" sz="4800" dirty="0"/>
              <a:t>Поддержка и развитие</a:t>
            </a:r>
          </a:p>
          <a:p>
            <a:r>
              <a:rPr lang="ru-RU" sz="4800" dirty="0"/>
              <a:t>Переиспользуемость</a:t>
            </a:r>
          </a:p>
          <a:p>
            <a:r>
              <a:rPr lang="ru-RU" sz="4800" dirty="0"/>
              <a:t>Работа в команде</a:t>
            </a:r>
          </a:p>
        </p:txBody>
      </p:sp>
    </p:spTree>
    <p:extLst>
      <p:ext uri="{BB962C8B-B14F-4D97-AF65-F5344CB8AC3E}">
        <p14:creationId xmlns:p14="http://schemas.microsoft.com/office/powerpoint/2010/main" val="25953248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36B9-3822-460C-8AE8-9471B7BB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000" b="1" dirty="0"/>
              <a:t>Общий вывод</a:t>
            </a:r>
            <a:endParaRPr lang="en-US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16834-38A7-4A41-B85B-8943BAA79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85460"/>
            <a:ext cx="9336242" cy="3880773"/>
          </a:xfrm>
        </p:spPr>
        <p:txBody>
          <a:bodyPr>
            <a:noAutofit/>
          </a:bodyPr>
          <a:lstStyle/>
          <a:p>
            <a:r>
              <a:rPr lang="ru-RU" sz="2400" dirty="0"/>
              <a:t>Все три паттерна — MVC, MVP, MVVM — решают одну задачу: разделение пользовательского интерфейса и бизнес-логики.</a:t>
            </a:r>
          </a:p>
          <a:p>
            <a:r>
              <a:rPr lang="ru-RU" sz="2400" dirty="0"/>
              <a:t>Различие — в том, как организовано взаимодействие между View и логикой.</a:t>
            </a:r>
          </a:p>
          <a:p>
            <a:r>
              <a:rPr lang="ru-RU" sz="2400" dirty="0"/>
              <a:t>Паттерн Humble Object помогает сделать View “смиренным” — минимальным и тестируемым через изоляцию UI.</a:t>
            </a:r>
          </a:p>
          <a:p>
            <a:r>
              <a:rPr lang="ru-RU" sz="2400" dirty="0"/>
              <a:t>При использовании Humble Object любой из трёх паттернов становится более чистым, гибким и пригодным к автоматическому тестированию.</a:t>
            </a:r>
          </a:p>
          <a:p>
            <a:r>
              <a:rPr lang="ru-RU" sz="2400" dirty="0"/>
              <a:t>Выбор между ними зависит от контекста, сложности проекта и требований к UI.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442740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4A7801C-8CAE-D290-9CFC-2703CB708B2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49389934"/>
              </p:ext>
            </p:extLst>
          </p:nvPr>
        </p:nvGraphicFramePr>
        <p:xfrm>
          <a:off x="0" y="0"/>
          <a:ext cx="12192000" cy="69973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459">
                  <a:extLst>
                    <a:ext uri="{9D8B030D-6E8A-4147-A177-3AD203B41FA5}">
                      <a16:colId xmlns:a16="http://schemas.microsoft.com/office/drawing/2014/main" val="404427424"/>
                    </a:ext>
                  </a:extLst>
                </a:gridCol>
                <a:gridCol w="3496235">
                  <a:extLst>
                    <a:ext uri="{9D8B030D-6E8A-4147-A177-3AD203B41FA5}">
                      <a16:colId xmlns:a16="http://schemas.microsoft.com/office/drawing/2014/main" val="3735573684"/>
                    </a:ext>
                  </a:extLst>
                </a:gridCol>
                <a:gridCol w="3119718">
                  <a:extLst>
                    <a:ext uri="{9D8B030D-6E8A-4147-A177-3AD203B41FA5}">
                      <a16:colId xmlns:a16="http://schemas.microsoft.com/office/drawing/2014/main" val="1162983484"/>
                    </a:ext>
                  </a:extLst>
                </a:gridCol>
                <a:gridCol w="3406588">
                  <a:extLst>
                    <a:ext uri="{9D8B030D-6E8A-4147-A177-3AD203B41FA5}">
                      <a16:colId xmlns:a16="http://schemas.microsoft.com/office/drawing/2014/main" val="1326033860"/>
                    </a:ext>
                  </a:extLst>
                </a:gridCol>
              </a:tblGrid>
              <a:tr h="383526">
                <a:tc>
                  <a:txBody>
                    <a:bodyPr/>
                    <a:lstStyle/>
                    <a:p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MVC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MVP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MVVM</a:t>
                      </a:r>
                      <a:endParaRPr lang="ru-RU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981858"/>
                  </a:ext>
                </a:extLst>
              </a:tr>
              <a:tr h="671169">
                <a:tc>
                  <a:txBody>
                    <a:bodyPr/>
                    <a:lstStyle/>
                    <a:p>
                      <a:r>
                        <a:rPr lang="ru-RU" sz="2200" dirty="0"/>
                        <a:t>Компоненты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Model, View, 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Model, View, Presenter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Model, View, </a:t>
                      </a:r>
                      <a:r>
                        <a:rPr lang="en-US" sz="2200" dirty="0" err="1"/>
                        <a:t>ViewModel</a:t>
                      </a:r>
                      <a:endParaRPr lang="en-US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331958"/>
                  </a:ext>
                </a:extLst>
              </a:tr>
              <a:tr h="1336412">
                <a:tc>
                  <a:txBody>
                    <a:bodyPr/>
                    <a:lstStyle/>
                    <a:p>
                      <a:r>
                        <a:rPr lang="ru-RU" sz="2200" dirty="0"/>
                        <a:t>Связь </a:t>
                      </a:r>
                      <a:r>
                        <a:rPr lang="en-US" sz="2200" dirty="0"/>
                        <a:t>View </a:t>
                      </a:r>
                      <a:r>
                        <a:rPr lang="en-US" sz="2200" dirty="0">
                          <a:sym typeface="Wingdings" panose="05000000000000000000" pitchFamily="2" charset="2"/>
                        </a:rPr>
                        <a:t></a:t>
                      </a:r>
                      <a:r>
                        <a:rPr lang="en-US" sz="2200" dirty="0"/>
                        <a:t> </a:t>
                      </a:r>
                      <a:r>
                        <a:rPr lang="ru-RU" sz="2200" dirty="0"/>
                        <a:t>посредник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View </a:t>
                      </a:r>
                      <a:r>
                        <a:rPr lang="ru-RU" sz="2200" dirty="0"/>
                        <a:t>напрямую вызывает </a:t>
                      </a:r>
                      <a:r>
                        <a:rPr lang="en-US" sz="2200" dirty="0"/>
                        <a:t>Controller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View </a:t>
                      </a:r>
                      <a:r>
                        <a:rPr lang="ru-RU" sz="2200" dirty="0"/>
                        <a:t>вызывает </a:t>
                      </a:r>
                      <a:r>
                        <a:rPr lang="en-US" sz="2200" dirty="0"/>
                        <a:t>Presenter, Presenter </a:t>
                      </a:r>
                      <a:r>
                        <a:rPr lang="ru-RU" sz="2200" dirty="0"/>
                        <a:t>обновляет </a:t>
                      </a:r>
                      <a:r>
                        <a:rPr lang="en-US" sz="2200" dirty="0"/>
                        <a:t>View </a:t>
                      </a:r>
                      <a:r>
                        <a:rPr lang="ru-RU" sz="2200" dirty="0"/>
                        <a:t>через интерфейс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View </a:t>
                      </a:r>
                      <a:r>
                        <a:rPr lang="en-US" sz="2200" dirty="0">
                          <a:sym typeface="Wingdings" panose="05000000000000000000" pitchFamily="2" charset="2"/>
                        </a:rPr>
                        <a:t></a:t>
                      </a:r>
                      <a:r>
                        <a:rPr lang="en-US" sz="2200" dirty="0"/>
                        <a:t> </a:t>
                      </a:r>
                      <a:r>
                        <a:rPr lang="en-US" sz="2200" dirty="0" err="1"/>
                        <a:t>ViewModel</a:t>
                      </a:r>
                      <a:r>
                        <a:rPr lang="en-US" sz="2200" dirty="0"/>
                        <a:t> </a:t>
                      </a:r>
                      <a:r>
                        <a:rPr lang="ru-RU" sz="2200" dirty="0"/>
                        <a:t>через </a:t>
                      </a:r>
                      <a:r>
                        <a:rPr lang="en-US" sz="2200" b="0" dirty="0"/>
                        <a:t>data binding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635621"/>
                  </a:ext>
                </a:extLst>
              </a:tr>
              <a:tr h="958812">
                <a:tc>
                  <a:txBody>
                    <a:bodyPr/>
                    <a:lstStyle/>
                    <a:p>
                      <a:r>
                        <a:rPr lang="ru-RU" sz="2200" dirty="0"/>
                        <a:t>Знание о </a:t>
                      </a:r>
                      <a:r>
                        <a:rPr lang="en-US" sz="2200" dirty="0"/>
                        <a:t>View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Controller </a:t>
                      </a:r>
                      <a:r>
                        <a:rPr lang="ru-RU" sz="2200" dirty="0"/>
                        <a:t>знает о </a:t>
                      </a:r>
                      <a:r>
                        <a:rPr lang="en-US" sz="2200" dirty="0"/>
                        <a:t>View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dirty="0" err="1"/>
                        <a:t>Presenter</a:t>
                      </a:r>
                      <a:r>
                        <a:rPr lang="ru-RU" sz="2200" dirty="0"/>
                        <a:t> знает о View (через контракт)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dirty="0" err="1"/>
                        <a:t>ViewModel</a:t>
                      </a:r>
                      <a:r>
                        <a:rPr lang="ru-RU" sz="2200" dirty="0"/>
                        <a:t> </a:t>
                      </a:r>
                      <a:r>
                        <a:rPr lang="ru-RU" sz="2200" b="0" dirty="0"/>
                        <a:t>не</a:t>
                      </a:r>
                      <a:r>
                        <a:rPr lang="ru-RU" sz="2200" b="1" dirty="0"/>
                        <a:t> </a:t>
                      </a:r>
                      <a:r>
                        <a:rPr lang="ru-RU" sz="2200" b="0" dirty="0"/>
                        <a:t>знает</a:t>
                      </a:r>
                      <a:r>
                        <a:rPr lang="ru-RU" sz="2200" dirty="0"/>
                        <a:t> о 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907370"/>
                  </a:ext>
                </a:extLst>
              </a:tr>
              <a:tr h="1336412">
                <a:tc>
                  <a:txBody>
                    <a:bodyPr/>
                    <a:lstStyle/>
                    <a:p>
                      <a:r>
                        <a:rPr lang="ru-RU" sz="2200" dirty="0"/>
                        <a:t>Тестируемость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Сложная: </a:t>
                      </a:r>
                      <a:r>
                        <a:rPr lang="ru-RU" sz="2200" dirty="0" err="1"/>
                        <a:t>Controller</a:t>
                      </a:r>
                      <a:r>
                        <a:rPr lang="ru-RU" sz="2200" dirty="0"/>
                        <a:t> связан с 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dirty="0"/>
                        <a:t>Легко тестировать </a:t>
                      </a:r>
                      <a:r>
                        <a:rPr lang="ru-RU" sz="2200" dirty="0" err="1"/>
                        <a:t>Presenter</a:t>
                      </a:r>
                      <a:r>
                        <a:rPr lang="ru-RU" sz="2200" dirty="0"/>
                        <a:t> отдельно, View можно </a:t>
                      </a:r>
                      <a:r>
                        <a:rPr lang="ru-RU" sz="2200" dirty="0" err="1"/>
                        <a:t>мокать</a:t>
                      </a:r>
                      <a:endParaRPr lang="ru-RU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dirty="0"/>
                        <a:t>Максимальная: </a:t>
                      </a:r>
                      <a:r>
                        <a:rPr lang="ru-RU" sz="2200" dirty="0" err="1"/>
                        <a:t>ViewModel</a:t>
                      </a:r>
                      <a:r>
                        <a:rPr lang="ru-RU" sz="2200" dirty="0"/>
                        <a:t> полностью изолирован от 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444646"/>
                  </a:ext>
                </a:extLst>
              </a:tr>
              <a:tr h="835258">
                <a:tc>
                  <a:txBody>
                    <a:bodyPr/>
                    <a:lstStyle/>
                    <a:p>
                      <a:r>
                        <a:rPr lang="ru-RU" sz="2200" dirty="0"/>
                        <a:t>Сложность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Простая реализация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dirty="0"/>
                        <a:t>Средняя, больше кода для связей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dirty="0"/>
                        <a:t>Выше, требует поддержки </a:t>
                      </a:r>
                      <a:r>
                        <a:rPr lang="en-US" sz="2200" dirty="0"/>
                        <a:t>binding</a:t>
                      </a:r>
                      <a:endParaRPr lang="ru-RU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918430"/>
                  </a:ext>
                </a:extLst>
              </a:tr>
              <a:tr h="1336412">
                <a:tc>
                  <a:txBody>
                    <a:bodyPr/>
                    <a:lstStyle/>
                    <a:p>
                      <a:r>
                        <a:rPr lang="ru-RU" sz="2200" dirty="0"/>
                        <a:t>Где применяется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/>
                        <a:t>Веб‑фреймворки (</a:t>
                      </a:r>
                      <a:r>
                        <a:rPr lang="en-US" sz="2200" dirty="0"/>
                        <a:t>Spring MVC, ASP.NET MVC, Rails)</a:t>
                      </a:r>
                      <a:endParaRPr lang="ru-RU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200" dirty="0"/>
                        <a:t>Классические </a:t>
                      </a:r>
                      <a:r>
                        <a:rPr lang="en-US" sz="2200" dirty="0"/>
                        <a:t>GUI (</a:t>
                      </a:r>
                      <a:r>
                        <a:rPr lang="ru-RU" sz="2200" dirty="0"/>
                        <a:t>старый </a:t>
                      </a:r>
                      <a:r>
                        <a:rPr lang="en-US" sz="2200" dirty="0"/>
                        <a:t>Android, WinForms)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UI‑</a:t>
                      </a:r>
                      <a:r>
                        <a:rPr lang="ru-RU" sz="2200" dirty="0"/>
                        <a:t>фреймворки с </a:t>
                      </a:r>
                      <a:r>
                        <a:rPr lang="en-US" sz="2200" dirty="0"/>
                        <a:t>binding (JavaFX, WPF, Android Jetpack, Vue, Angular)</a:t>
                      </a:r>
                      <a:endParaRPr lang="ru-RU" sz="2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1367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9077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51D06-AC9D-444B-A392-D02F106C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08" y="2768600"/>
            <a:ext cx="10824383" cy="1320800"/>
          </a:xfrm>
        </p:spPr>
        <p:txBody>
          <a:bodyPr>
            <a:noAutofit/>
          </a:bodyPr>
          <a:lstStyle/>
          <a:p>
            <a:r>
              <a:rPr lang="ru-RU" sz="7200" dirty="0"/>
              <a:t>Спасибо за внимание!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8548080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2_Facet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0000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5.xml><?xml version="1.0" encoding="utf-8"?>
<a:theme xmlns:a="http://schemas.openxmlformats.org/drawingml/2006/main" name="3_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246</TotalTime>
  <Words>1978</Words>
  <Application>Microsoft Office PowerPoint</Application>
  <PresentationFormat>Widescreen</PresentationFormat>
  <Paragraphs>278</Paragraphs>
  <Slides>53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Arial</vt:lpstr>
      <vt:lpstr>Calibri</vt:lpstr>
      <vt:lpstr>Calibri Light</vt:lpstr>
      <vt:lpstr>Courier New</vt:lpstr>
      <vt:lpstr>Trebuchet MS</vt:lpstr>
      <vt:lpstr>Wingdings</vt:lpstr>
      <vt:lpstr>Wingdings 3</vt:lpstr>
      <vt:lpstr>Facet</vt:lpstr>
      <vt:lpstr>Custom Design</vt:lpstr>
      <vt:lpstr>1_Facet</vt:lpstr>
      <vt:lpstr>2_Facet</vt:lpstr>
      <vt:lpstr>3_Facet</vt:lpstr>
      <vt:lpstr>UI Related DPs</vt:lpstr>
      <vt:lpstr>QR-код репозитория на GitHub</vt:lpstr>
      <vt:lpstr>Что такое Humble Object</vt:lpstr>
      <vt:lpstr>MVC and HO Pattern</vt:lpstr>
      <vt:lpstr>Что такое MVC</vt:lpstr>
      <vt:lpstr>PowerPoint Presentation</vt:lpstr>
      <vt:lpstr>Компоненты MVC</vt:lpstr>
      <vt:lpstr>Преимущества MVC</vt:lpstr>
      <vt:lpstr>Проблемы классического MVC</vt:lpstr>
      <vt:lpstr>Применение Humble Object в MVC</vt:lpstr>
      <vt:lpstr>Пример кода (Model)</vt:lpstr>
      <vt:lpstr>Пример кода (View – Humble Object)</vt:lpstr>
      <vt:lpstr>Пример кода (Controller)</vt:lpstr>
      <vt:lpstr>Тестирование</vt:lpstr>
      <vt:lpstr>Преимущества подхода</vt:lpstr>
      <vt:lpstr>Недостатки</vt:lpstr>
      <vt:lpstr>Итоги</vt:lpstr>
      <vt:lpstr>MVP and HO DP</vt:lpstr>
      <vt:lpstr>MVP (Model-View-Presenter) </vt:lpstr>
      <vt:lpstr>Ключевые компоненты MVP</vt:lpstr>
      <vt:lpstr>Model</vt:lpstr>
      <vt:lpstr>View</vt:lpstr>
      <vt:lpstr>Presenter</vt:lpstr>
      <vt:lpstr>Как работает?</vt:lpstr>
      <vt:lpstr>Простейший пример #1</vt:lpstr>
      <vt:lpstr>Простейший пример #2</vt:lpstr>
      <vt:lpstr>Преимущества</vt:lpstr>
      <vt:lpstr>Недостатки</vt:lpstr>
      <vt:lpstr>Сравнение с MVC</vt:lpstr>
      <vt:lpstr>Сравнение с MVC</vt:lpstr>
      <vt:lpstr>Связь MVP и HO DP</vt:lpstr>
      <vt:lpstr>Где применяется?</vt:lpstr>
      <vt:lpstr>MVVM and HO Pattern</vt:lpstr>
      <vt:lpstr>Что такое MVVM</vt:lpstr>
      <vt:lpstr>Компоненты MVVM</vt:lpstr>
      <vt:lpstr>Model</vt:lpstr>
      <vt:lpstr>View</vt:lpstr>
      <vt:lpstr>ViewModel</vt:lpstr>
      <vt:lpstr>Принцип работы MVVM</vt:lpstr>
      <vt:lpstr>Когда используют MVVM</vt:lpstr>
      <vt:lpstr>Data Binding</vt:lpstr>
      <vt:lpstr>Простейший пример #1</vt:lpstr>
      <vt:lpstr>Простейший пример #1</vt:lpstr>
      <vt:lpstr>Простейший пример #2</vt:lpstr>
      <vt:lpstr>Простейший пример #2</vt:lpstr>
      <vt:lpstr>Простейший пример #3</vt:lpstr>
      <vt:lpstr>Простейший пример #3</vt:lpstr>
      <vt:lpstr>Что делает программа</vt:lpstr>
      <vt:lpstr>Humble Object Pattern в контексте MVVM </vt:lpstr>
      <vt:lpstr>Преимущества MVVM</vt:lpstr>
      <vt:lpstr>Общий вывод</vt:lpstr>
      <vt:lpstr>PowerPoint Presentation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 Kirchuk</dc:creator>
  <cp:lastModifiedBy>Alexander Kirchuk</cp:lastModifiedBy>
  <cp:revision>24</cp:revision>
  <dcterms:created xsi:type="dcterms:W3CDTF">2025-10-25T17:57:59Z</dcterms:created>
  <dcterms:modified xsi:type="dcterms:W3CDTF">2025-11-06T09:23:09Z</dcterms:modified>
</cp:coreProperties>
</file>