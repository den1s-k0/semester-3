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66" r:id="rId6"/>
    <p:sldId id="259" r:id="rId7"/>
    <p:sldId id="260" r:id="rId8"/>
    <p:sldId id="261" r:id="rId9"/>
    <p:sldId id="262" r:id="rId10"/>
    <p:sldId id="264" r:id="rId11"/>
    <p:sldId id="265" r:id="rId12"/>
    <p:sldId id="270" r:id="rId13"/>
    <p:sldId id="268" r:id="rId14"/>
    <p:sldId id="267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0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600" dirty="0" err="1"/>
              <a:t>Рефакторинг</a:t>
            </a:r>
            <a:r>
              <a:rPr lang="ru-RU" sz="6600" dirty="0"/>
              <a:t> кода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Лежнев Владислав</a:t>
            </a:r>
          </a:p>
        </p:txBody>
      </p:sp>
    </p:spTree>
    <p:extLst>
      <p:ext uri="{BB962C8B-B14F-4D97-AF65-F5344CB8AC3E}">
        <p14:creationId xmlns:p14="http://schemas.microsoft.com/office/powerpoint/2010/main" val="166107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98584"/>
            <a:ext cx="9032723" cy="1320800"/>
          </a:xfrm>
        </p:spPr>
        <p:txBody>
          <a:bodyPr>
            <a:normAutofit/>
          </a:bodyPr>
          <a:lstStyle/>
          <a:p>
            <a:r>
              <a:rPr lang="ru-RU" sz="6000" dirty="0"/>
              <a:t>Что такое </a:t>
            </a:r>
            <a:r>
              <a:rPr lang="ru-RU" sz="6000" dirty="0" err="1"/>
              <a:t>рефакторинг</a:t>
            </a:r>
            <a:r>
              <a:rPr lang="ru-RU" sz="6000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820985"/>
            <a:ext cx="8596668" cy="47361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/>
              <a:t>Мартин </a:t>
            </a:r>
            <a:r>
              <a:rPr lang="ru-RU" sz="2400" dirty="0" err="1"/>
              <a:t>Фаулер</a:t>
            </a:r>
            <a:r>
              <a:rPr lang="ru-RU" sz="2400" dirty="0"/>
              <a:t>, автор книги </a:t>
            </a:r>
            <a:r>
              <a:rPr lang="ru-RU" sz="2400" i="1" dirty="0"/>
              <a:t>«</a:t>
            </a:r>
            <a:r>
              <a:rPr lang="ru-RU" sz="2400" i="1" dirty="0" err="1"/>
              <a:t>Рефакторинг</a:t>
            </a:r>
            <a:r>
              <a:rPr lang="ru-RU" sz="2400" i="1" dirty="0"/>
              <a:t>. Улучшение существующего кода»</a:t>
            </a:r>
            <a:r>
              <a:rPr lang="ru-RU" sz="2400" dirty="0"/>
              <a:t>, приводит следующее определение для данного процесса (</a:t>
            </a:r>
            <a:r>
              <a:rPr lang="ru-RU" sz="2400" i="1" dirty="0"/>
              <a:t>перевод С. </a:t>
            </a:r>
            <a:r>
              <a:rPr lang="ru-RU" sz="2400" i="1" dirty="0" err="1"/>
              <a:t>Маккавеева</a:t>
            </a:r>
            <a:r>
              <a:rPr lang="ru-RU" sz="2400" dirty="0"/>
              <a:t>):</a:t>
            </a:r>
          </a:p>
          <a:p>
            <a:pPr marL="0" indent="0">
              <a:buNone/>
            </a:pPr>
            <a:r>
              <a:rPr lang="ru-RU" sz="2400" dirty="0"/>
              <a:t>«</a:t>
            </a:r>
            <a:r>
              <a:rPr lang="ru-RU" sz="2400" dirty="0" err="1"/>
              <a:t>Рефакторинг</a:t>
            </a:r>
            <a:r>
              <a:rPr lang="ru-RU" sz="2400" dirty="0"/>
              <a:t> — изменение во внутренней структуре ПО, имеющее целью облегчить понимание его работы и упростить модификацию, не затрагивая наблюдаемого поведения».</a:t>
            </a:r>
          </a:p>
          <a:p>
            <a:pPr marL="0" indent="0">
              <a:buNone/>
            </a:pPr>
            <a:r>
              <a:rPr lang="ru-RU" sz="2400" dirty="0"/>
              <a:t>Если говорить проще</a:t>
            </a:r>
            <a:r>
              <a:rPr lang="en-US" sz="2400" dirty="0"/>
              <a:t>: </a:t>
            </a:r>
            <a:r>
              <a:rPr lang="ru-RU" sz="2400" dirty="0" err="1"/>
              <a:t>рефакторинг</a:t>
            </a:r>
            <a:r>
              <a:rPr lang="ru-RU" sz="2400" dirty="0"/>
              <a:t> — это переработка исходного кода программы, чтобы он стал более простым и понятным.</a:t>
            </a:r>
          </a:p>
          <a:p>
            <a:pPr marL="0" indent="0">
              <a:buNone/>
            </a:pPr>
            <a:r>
              <a:rPr lang="ru-RU" sz="2400" dirty="0" err="1"/>
              <a:t>Рефакторинг</a:t>
            </a:r>
            <a:r>
              <a:rPr lang="ru-RU" sz="2400" dirty="0"/>
              <a:t> — не оптимизация, хотя и может быть с нею связан. Часто его проводят одновременно с оптимизацией, поэтому понятия кажутся синонимами. Но у этих процессов разные цели.</a:t>
            </a:r>
          </a:p>
        </p:txBody>
      </p:sp>
    </p:spTree>
    <p:extLst>
      <p:ext uri="{BB962C8B-B14F-4D97-AF65-F5344CB8AC3E}">
        <p14:creationId xmlns:p14="http://schemas.microsoft.com/office/powerpoint/2010/main" val="79367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Что такое рефакторинг кода? Основные принципы и правила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4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343878"/>
            <a:ext cx="7008194" cy="1195754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Зачем нужен </a:t>
            </a:r>
            <a:r>
              <a:rPr lang="ru-RU" sz="4400" dirty="0" err="1"/>
              <a:t>рефакторинг</a:t>
            </a:r>
            <a:r>
              <a:rPr lang="ru-RU" sz="4400" dirty="0"/>
              <a:t>?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67693"/>
            <a:ext cx="5977466" cy="5228492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400" dirty="0"/>
              <a:t>Существуют разные причины, по которым возникает необходимость проведения </a:t>
            </a:r>
            <a:r>
              <a:rPr lang="ru-RU" sz="2400" dirty="0" err="1"/>
              <a:t>рефакторинга</a:t>
            </a:r>
            <a:r>
              <a:rPr lang="ru-RU" sz="2400" dirty="0"/>
              <a:t> кода. Выделим ключевые.</a:t>
            </a:r>
          </a:p>
          <a:p>
            <a:pPr fontAlgn="base"/>
            <a:r>
              <a:rPr lang="ru-RU" sz="2400" dirty="0"/>
              <a:t>Сохранить архитектуру проекта, не допустить потери структурированности;</a:t>
            </a:r>
          </a:p>
          <a:p>
            <a:pPr fontAlgn="base"/>
            <a:r>
              <a:rPr lang="ru-RU" sz="2400" dirty="0"/>
              <a:t>Упростить будущую жизнь разработчиков, сделать код понятным и прозрачным для всех членов команды;</a:t>
            </a:r>
          </a:p>
          <a:p>
            <a:pPr fontAlgn="base"/>
            <a:r>
              <a:rPr lang="ru-RU" sz="2400" dirty="0"/>
              <a:t>Ускорить разработку и поиск ошибок.</a:t>
            </a:r>
          </a:p>
        </p:txBody>
      </p:sp>
      <p:pic>
        <p:nvPicPr>
          <p:cNvPr id="3074" name="Picture 2" descr="https://habrastorage.org/r/w1560/getpro/habr/upload_files/9b1/c40/6fa/9b1c406fa573361ca6f0feba71f561c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794" y="0"/>
            <a:ext cx="45742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08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36062"/>
            <a:ext cx="8596668" cy="1320800"/>
          </a:xfrm>
        </p:spPr>
        <p:txBody>
          <a:bodyPr>
            <a:normAutofit/>
          </a:bodyPr>
          <a:lstStyle/>
          <a:p>
            <a:r>
              <a:rPr lang="ru-RU" dirty="0"/>
              <a:t>Из-за чего возникает необходимость в </a:t>
            </a:r>
            <a:r>
              <a:rPr lang="ru-RU" dirty="0" err="1"/>
              <a:t>рефакторинге</a:t>
            </a:r>
            <a:r>
              <a:rPr lang="ru-RU" dirty="0"/>
              <a:t>?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47446"/>
            <a:ext cx="8596668" cy="497449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400" dirty="0"/>
              <a:t>Существует несколько причин, по которым проекту может потребоваться </a:t>
            </a:r>
            <a:r>
              <a:rPr lang="ru-RU" sz="2400" dirty="0" err="1"/>
              <a:t>рефакторинг</a:t>
            </a:r>
            <a:r>
              <a:rPr lang="ru-RU" sz="2400" dirty="0"/>
              <a:t>. Основные: недостаточная тестируемость, изменение требований и отсутствие договоренностей. Рассмотрим их подробнее.</a:t>
            </a:r>
          </a:p>
          <a:p>
            <a:pPr fontAlgn="base"/>
            <a:r>
              <a:rPr lang="ru-RU" sz="2400" dirty="0"/>
              <a:t>Недостаточная тестируемость</a:t>
            </a:r>
          </a:p>
          <a:p>
            <a:r>
              <a:rPr lang="ru-RU" sz="2400" dirty="0"/>
              <a:t>Изменение требований разработки</a:t>
            </a:r>
          </a:p>
          <a:p>
            <a:r>
              <a:rPr lang="ru-RU" sz="2400" dirty="0"/>
              <a:t>Отсутствие договоренностей в команде </a:t>
            </a:r>
          </a:p>
          <a:p>
            <a:pPr>
              <a:buFont typeface="+mj-lt"/>
              <a:buAutoNum type="arabicPeriod"/>
            </a:pPr>
            <a:r>
              <a:rPr lang="ru-RU" sz="2400" dirty="0"/>
              <a:t>Отсутствие общего стиля написания кода</a:t>
            </a:r>
          </a:p>
          <a:p>
            <a:pPr>
              <a:buFont typeface="+mj-lt"/>
              <a:buAutoNum type="arabicPeriod"/>
            </a:pPr>
            <a:r>
              <a:rPr lang="ru-RU" sz="2400" dirty="0"/>
              <a:t>Отсутствие встреч по обмену знаниями</a:t>
            </a:r>
          </a:p>
          <a:p>
            <a:pPr>
              <a:buFont typeface="+mj-lt"/>
              <a:buAutoNum type="arabicPeriod"/>
            </a:pPr>
            <a:r>
              <a:rPr lang="ru-RU" sz="2400" dirty="0"/>
              <a:t>Отсутствие или игнорирование единых инструментов</a:t>
            </a:r>
          </a:p>
        </p:txBody>
      </p:sp>
    </p:spTree>
    <p:extLst>
      <p:ext uri="{BB962C8B-B14F-4D97-AF65-F5344CB8AC3E}">
        <p14:creationId xmlns:p14="http://schemas.microsoft.com/office/powerpoint/2010/main" val="4010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37661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dirty="0"/>
              <a:t>Поставленная задача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92739"/>
            <a:ext cx="8596668" cy="45486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Рассмотреть примеры </a:t>
            </a:r>
            <a:r>
              <a:rPr lang="ru-RU" sz="3600" dirty="0" err="1"/>
              <a:t>рефакторинга</a:t>
            </a:r>
            <a:r>
              <a:rPr lang="ru-RU" sz="3600" dirty="0"/>
              <a:t> в лабораторной работе, написанной ранее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Проведение изменений, последующий </a:t>
            </a:r>
            <a:r>
              <a:rPr lang="ru-RU" sz="3600" dirty="0" err="1"/>
              <a:t>коммит</a:t>
            </a:r>
            <a:endParaRPr lang="ru-RU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600" dirty="0"/>
              <a:t>Предложение вариантов дальнейшей доработки и </a:t>
            </a:r>
            <a:r>
              <a:rPr lang="ru-RU" sz="3600" dirty="0" err="1"/>
              <a:t>рефакторинга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9487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28246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dirty="0"/>
              <a:t>1. </a:t>
            </a:r>
            <a:r>
              <a:rPr lang="en-US" sz="4400" dirty="0"/>
              <a:t>RAII-</a:t>
            </a:r>
            <a:r>
              <a:rPr lang="ru-RU" sz="4400" dirty="0" err="1"/>
              <a:t>рефакторинг</a:t>
            </a:r>
            <a:endParaRPr lang="ru-RU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39631"/>
            <a:ext cx="8596668" cy="1889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RAII (Resource Acquisition Is Initialization)</a:t>
            </a:r>
            <a:r>
              <a:rPr lang="en-US" sz="2400" dirty="0"/>
              <a:t> — </a:t>
            </a:r>
            <a:r>
              <a:rPr lang="ru-RU" sz="2400" dirty="0"/>
              <a:t>это идиома программирования, где жизненный цикл ресурса (например, файла, памяти, </a:t>
            </a:r>
            <a:r>
              <a:rPr lang="ru-RU" sz="2400" dirty="0" err="1"/>
              <a:t>мьютекса</a:t>
            </a:r>
            <a:r>
              <a:rPr lang="ru-RU" sz="2400" dirty="0"/>
              <a:t>) привязан к жизненному циклу объекта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1026" name="Picture 2" descr="What is RAII?. RAII stands for “resource acquisition… | by Matt Lim | The  Startup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118042" y="3369133"/>
            <a:ext cx="8155960" cy="287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28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59220" cy="1320800"/>
          </a:xfrm>
        </p:spPr>
        <p:txBody>
          <a:bodyPr>
            <a:normAutofit/>
          </a:bodyPr>
          <a:lstStyle/>
          <a:p>
            <a:r>
              <a:rPr lang="ru-RU" sz="4400" dirty="0"/>
              <a:t>Проблемы, которые </a:t>
            </a:r>
            <a:r>
              <a:rPr lang="en-US" sz="4400" dirty="0"/>
              <a:t>RAII </a:t>
            </a:r>
            <a:r>
              <a:rPr lang="ru-RU" sz="4400" dirty="0"/>
              <a:t>решает: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39631"/>
            <a:ext cx="8596668" cy="5072184"/>
          </a:xfrm>
        </p:spPr>
        <p:txBody>
          <a:bodyPr>
            <a:normAutofit fontScale="92500"/>
          </a:bodyPr>
          <a:lstStyle/>
          <a:p>
            <a:r>
              <a:rPr lang="ru-RU" sz="2400" b="1" dirty="0"/>
              <a:t>Утечки памяти</a:t>
            </a:r>
            <a:r>
              <a:rPr lang="ru-RU" sz="2400" dirty="0"/>
              <a:t>: Без RAII разработчику приходится вручную отслеживать и освобождать выделенную память. Забытая операция освобождения памяти может привести к утечкам. RAII гарантирует, что память будет автоматически освобождена при уничтожении объекта.</a:t>
            </a:r>
          </a:p>
          <a:p>
            <a:r>
              <a:rPr lang="ru-RU" sz="2400" b="1" dirty="0"/>
              <a:t>Неопределенное поведение</a:t>
            </a:r>
            <a:r>
              <a:rPr lang="ru-RU" sz="2400" dirty="0"/>
              <a:t>: Если ресурсы не управляются должным образом, это может привести к неопределенному поведению программы. RAII гарантирует, что ресурсы всегда находятся в определенном состоянии.</a:t>
            </a:r>
          </a:p>
          <a:p>
            <a:r>
              <a:rPr lang="ru-RU" sz="2400" b="1" dirty="0"/>
              <a:t>Исключения и безопасность</a:t>
            </a:r>
            <a:r>
              <a:rPr lang="ru-RU" sz="2400" dirty="0"/>
              <a:t>: RAII позволяет обрабатывать исключения более элегантно и безопасно. Ресурсы будут автоматически освобождены даже в случае возникновения исключительных ситуаций.</a:t>
            </a:r>
          </a:p>
        </p:txBody>
      </p:sp>
    </p:spTree>
    <p:extLst>
      <p:ext uri="{BB962C8B-B14F-4D97-AF65-F5344CB8AC3E}">
        <p14:creationId xmlns:p14="http://schemas.microsoft.com/office/powerpoint/2010/main" val="113587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Пример</a:t>
            </a:r>
            <a:r>
              <a:rPr lang="en-US" b="1" dirty="0"/>
              <a:t>: </a:t>
            </a:r>
            <a:r>
              <a:rPr lang="ru-RU" b="1" dirty="0"/>
              <a:t>Специализированные классы для каналов и процессов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4018" y="3363514"/>
            <a:ext cx="4029075" cy="1600200"/>
          </a:xfrm>
          <a:prstGeom prst="rect">
            <a:avLst/>
          </a:prstGeom>
        </p:spPr>
      </p:pic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ПОСЛЕ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8383" y="2967828"/>
            <a:ext cx="4351453" cy="2391572"/>
          </a:xfrm>
          <a:prstGeom prst="rect">
            <a:avLst/>
          </a:prstGeom>
        </p:spPr>
      </p:pic>
      <p:sp>
        <p:nvSpPr>
          <p:cNvPr id="9" name="Текст 2"/>
          <p:cNvSpPr txBox="1">
            <a:spLocks/>
          </p:cNvSpPr>
          <p:nvPr/>
        </p:nvSpPr>
        <p:spPr>
          <a:xfrm>
            <a:off x="675745" y="5589983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Ручное закрытие дескрипторов при ошибках</a:t>
            </a:r>
          </a:p>
        </p:txBody>
      </p:sp>
      <p:sp>
        <p:nvSpPr>
          <p:cNvPr id="10" name="Текст 2"/>
          <p:cNvSpPr txBox="1">
            <a:spLocks/>
          </p:cNvSpPr>
          <p:nvPr/>
        </p:nvSpPr>
        <p:spPr>
          <a:xfrm>
            <a:off x="5088383" y="5589983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Автоматическое освобождение </a:t>
            </a:r>
            <a:r>
              <a:rPr lang="ru-RU" dirty="0" err="1"/>
              <a:t>пайпов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990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Преимущества </a:t>
            </a:r>
            <a:r>
              <a:rPr lang="ru-RU" sz="4400" dirty="0" err="1"/>
              <a:t>рефакторинга</a:t>
            </a:r>
            <a:endParaRPr lang="ru-RU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7333" y="2160983"/>
            <a:ext cx="2827867" cy="576262"/>
          </a:xfrm>
        </p:spPr>
        <p:txBody>
          <a:bodyPr/>
          <a:lstStyle/>
          <a:p>
            <a:r>
              <a:rPr lang="ru-RU" dirty="0"/>
              <a:t>Безопасность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7334" y="2737245"/>
            <a:ext cx="2616200" cy="3304117"/>
          </a:xfrm>
        </p:spPr>
        <p:txBody>
          <a:bodyPr/>
          <a:lstStyle/>
          <a:p>
            <a:r>
              <a:rPr lang="ru-RU" dirty="0"/>
              <a:t>Исключены утечки дескрипторов</a:t>
            </a:r>
          </a:p>
          <a:p>
            <a:r>
              <a:rPr lang="ru-RU" dirty="0"/>
              <a:t>Правильный порядок закрытия ресурсов</a:t>
            </a:r>
          </a:p>
          <a:p>
            <a:r>
              <a:rPr lang="ru-RU" dirty="0"/>
              <a:t>Автоматическая очистка при исключениях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894329" y="2160983"/>
            <a:ext cx="1914699" cy="576262"/>
          </a:xfrm>
        </p:spPr>
        <p:txBody>
          <a:bodyPr/>
          <a:lstStyle/>
          <a:p>
            <a:r>
              <a:rPr lang="ru-RU" dirty="0"/>
              <a:t>Поддержка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894329" y="2737244"/>
            <a:ext cx="3600796" cy="3304117"/>
          </a:xfrm>
        </p:spPr>
        <p:txBody>
          <a:bodyPr/>
          <a:lstStyle/>
          <a:p>
            <a:r>
              <a:rPr lang="ru-RU" dirty="0"/>
              <a:t>Легче добавлять новую функциональность</a:t>
            </a:r>
          </a:p>
          <a:p>
            <a:r>
              <a:rPr lang="ru-RU" dirty="0"/>
              <a:t>Меньше </a:t>
            </a:r>
            <a:r>
              <a:rPr lang="en-US" dirty="0"/>
              <a:t>boilerplate-</a:t>
            </a:r>
            <a:r>
              <a:rPr lang="ru-RU" dirty="0"/>
              <a:t>кода</a:t>
            </a:r>
          </a:p>
          <a:p>
            <a:r>
              <a:rPr lang="ru-RU" dirty="0"/>
              <a:t>Ясные контракты использования</a:t>
            </a:r>
          </a:p>
          <a:p>
            <a:endParaRPr lang="ru-RU" dirty="0"/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3293533" y="2160983"/>
            <a:ext cx="3348567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Производительность</a:t>
            </a:r>
          </a:p>
        </p:txBody>
      </p:sp>
      <p:sp>
        <p:nvSpPr>
          <p:cNvPr id="8" name="Объект 5"/>
          <p:cNvSpPr txBox="1">
            <a:spLocks/>
          </p:cNvSpPr>
          <p:nvPr/>
        </p:nvSpPr>
        <p:spPr>
          <a:xfrm>
            <a:off x="3293533" y="2737245"/>
            <a:ext cx="3600796" cy="3304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Меньше точек потенциальных ошибок</a:t>
            </a:r>
          </a:p>
          <a:p>
            <a:r>
              <a:rPr lang="ru-RU" dirty="0"/>
              <a:t>Предсказуемое время жизни ресурсов</a:t>
            </a:r>
          </a:p>
        </p:txBody>
      </p:sp>
    </p:spTree>
    <p:extLst>
      <p:ext uri="{BB962C8B-B14F-4D97-AF65-F5344CB8AC3E}">
        <p14:creationId xmlns:p14="http://schemas.microsoft.com/office/powerpoint/2010/main" val="115682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5429552" cy="1550989"/>
          </a:xfrm>
        </p:spPr>
        <p:txBody>
          <a:bodyPr>
            <a:normAutofit/>
          </a:bodyPr>
          <a:lstStyle/>
          <a:p>
            <a:r>
              <a:rPr lang="be-BY" sz="4400" dirty="0"/>
              <a:t>2. Рефактор</a:t>
            </a:r>
            <a:r>
              <a:rPr lang="ru-RU" sz="4400" dirty="0" err="1"/>
              <a:t>инг</a:t>
            </a:r>
            <a:r>
              <a:rPr lang="ru-RU" sz="4400" dirty="0"/>
              <a:t> обработки ошибок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2160589"/>
            <a:ext cx="5233609" cy="3757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 err="1"/>
              <a:t>Рефакторинг</a:t>
            </a:r>
            <a:r>
              <a:rPr lang="ru-RU" sz="2800" b="1" dirty="0"/>
              <a:t> обработки ошибок</a:t>
            </a:r>
            <a:r>
              <a:rPr lang="ru-RU" sz="2800" dirty="0"/>
              <a:t> - это процесс улучшения кода, направленный на создание более надежной, предсказуемой и удобной в сопровождении системы обработки ошибок.</a:t>
            </a:r>
          </a:p>
        </p:txBody>
      </p:sp>
      <p:pic>
        <p:nvPicPr>
          <p:cNvPr id="4098" name="Picture 2" descr="Рефакторинг кода, и как его не бояться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71" y="0"/>
            <a:ext cx="5998029" cy="689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54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Проблемы, решает улучшение </a:t>
            </a:r>
            <a:r>
              <a:rPr lang="ru-RU" sz="4000" dirty="0" err="1"/>
              <a:t>обратотки</a:t>
            </a:r>
            <a:r>
              <a:rPr lang="ru-RU" sz="4000" dirty="0"/>
              <a:t> ошибок: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85503"/>
          </a:xfrm>
        </p:spPr>
        <p:txBody>
          <a:bodyPr>
            <a:normAutofit fontScale="92500" lnSpcReduction="10000"/>
          </a:bodyPr>
          <a:lstStyle/>
          <a:p>
            <a:r>
              <a:rPr lang="ru-RU" sz="2400" b="1" dirty="0"/>
              <a:t>Утечки ресурсов при ошибках</a:t>
            </a:r>
            <a:r>
              <a:rPr lang="ru-RU" sz="2400" dirty="0"/>
              <a:t>: Без автоматического управления ресурсами при возникновении ошибок разработчик должен вручную освобождать все </a:t>
            </a:r>
            <a:r>
              <a:rPr lang="ru-RU" sz="2400" dirty="0" err="1"/>
              <a:t>acquired</a:t>
            </a:r>
            <a:r>
              <a:rPr lang="ru-RU" sz="2400" dirty="0"/>
              <a:t> ресурсы (дескрипторы, память, файлы) в каждом месте возможной ошибки.</a:t>
            </a:r>
          </a:p>
          <a:p>
            <a:r>
              <a:rPr lang="ru-RU" sz="2400" b="1" dirty="0" err="1"/>
              <a:t>Неинформативность</a:t>
            </a:r>
            <a:r>
              <a:rPr lang="ru-RU" sz="2400" b="1" dirty="0"/>
              <a:t> ошибок</a:t>
            </a:r>
            <a:r>
              <a:rPr lang="ru-RU" sz="2400" dirty="0"/>
              <a:t>: Общие сообщения об ошибках без контекста, кодов ошибок и диагностической информации делают отладку практически невозможной.</a:t>
            </a:r>
          </a:p>
          <a:p>
            <a:r>
              <a:rPr lang="ru-RU" sz="2400" b="1" dirty="0"/>
              <a:t>Уязвимости ввода данных</a:t>
            </a:r>
            <a:r>
              <a:rPr lang="ru-RU" sz="2400" dirty="0"/>
              <a:t>: </a:t>
            </a:r>
            <a:r>
              <a:rPr lang="ru-RU" sz="2400" dirty="0" err="1"/>
              <a:t>Невалидированный</a:t>
            </a:r>
            <a:r>
              <a:rPr lang="ru-RU" sz="2400" dirty="0"/>
              <a:t> пользовательский ввод может содержать некорректные данные, которые нарушают логику программы или вызывают неопределенное поведение.</a:t>
            </a:r>
          </a:p>
        </p:txBody>
      </p:sp>
    </p:spTree>
    <p:extLst>
      <p:ext uri="{BB962C8B-B14F-4D97-AF65-F5344CB8AC3E}">
        <p14:creationId xmlns:p14="http://schemas.microsoft.com/office/powerpoint/2010/main" val="81300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92369"/>
            <a:ext cx="8596668" cy="1438031"/>
          </a:xfrm>
        </p:spPr>
        <p:txBody>
          <a:bodyPr>
            <a:normAutofit/>
          </a:bodyPr>
          <a:lstStyle/>
          <a:p>
            <a:r>
              <a:rPr lang="ru-RU" sz="4000" b="1" dirty="0"/>
              <a:t>Пример</a:t>
            </a:r>
            <a:r>
              <a:rPr lang="en-US" sz="4000" b="1" dirty="0"/>
              <a:t>: </a:t>
            </a:r>
            <a:r>
              <a:rPr lang="ru-RU" sz="4000" b="1" dirty="0"/>
              <a:t>Улучшенная обработка пользовательского ввода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675745" y="5589983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e-BY" dirty="0"/>
              <a:t>О</a:t>
            </a:r>
            <a:r>
              <a:rPr lang="ru-RU" dirty="0" err="1"/>
              <a:t>тсутсвие</a:t>
            </a:r>
            <a:r>
              <a:rPr lang="ru-RU" dirty="0"/>
              <a:t> обработки ввода данных</a:t>
            </a:r>
          </a:p>
        </p:txBody>
      </p:sp>
      <p:sp>
        <p:nvSpPr>
          <p:cNvPr id="10" name="Текст 2"/>
          <p:cNvSpPr txBox="1">
            <a:spLocks/>
          </p:cNvSpPr>
          <p:nvPr/>
        </p:nvSpPr>
        <p:spPr>
          <a:xfrm>
            <a:off x="5088383" y="5589983"/>
            <a:ext cx="4185623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Проверка на ввод лишних элементов</a:t>
            </a:r>
            <a:r>
              <a:rPr lang="en-US" dirty="0"/>
              <a:t>:</a:t>
            </a:r>
            <a:r>
              <a:rPr lang="ru-RU" dirty="0"/>
              <a:t> если лишние элементы есть – ошибка</a:t>
            </a:r>
          </a:p>
        </p:txBody>
      </p:sp>
      <p:pic>
        <p:nvPicPr>
          <p:cNvPr id="11" name="Объект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745" y="3467100"/>
            <a:ext cx="3300345" cy="1069975"/>
          </a:xfrm>
          <a:prstGeom prst="rect">
            <a:avLst/>
          </a:prstGeom>
        </p:spPr>
      </p:pic>
      <p:pic>
        <p:nvPicPr>
          <p:cNvPr id="13" name="Объект 12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668686" y="2967828"/>
            <a:ext cx="5342089" cy="178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06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Преимущества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Ошибки игнорировались или выводились в консоль</a:t>
            </a:r>
          </a:p>
          <a:p>
            <a:r>
              <a:rPr lang="ru-RU" dirty="0"/>
              <a:t>Непонятные сообщения об ошибках</a:t>
            </a:r>
          </a:p>
          <a:p>
            <a:r>
              <a:rPr lang="ru-RU" dirty="0"/>
              <a:t>Риск утечек ресурсов при ошибках</a:t>
            </a:r>
          </a:p>
          <a:p>
            <a:r>
              <a:rPr lang="ru-RU" dirty="0"/>
              <a:t>Продолжение работы после частичного сбоя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Ошибки становятся явными</a:t>
            </a:r>
          </a:p>
          <a:p>
            <a:r>
              <a:rPr lang="ru-RU" dirty="0"/>
              <a:t>Информативные сообщения с кодами ошибок</a:t>
            </a:r>
          </a:p>
          <a:p>
            <a:r>
              <a:rPr lang="ru-RU" dirty="0"/>
              <a:t>Автоматическое управление ресурсами через RAII</a:t>
            </a:r>
          </a:p>
          <a:p>
            <a:r>
              <a:rPr lang="ru-RU" dirty="0"/>
              <a:t>Гарантированная целостность операций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130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410306"/>
            <a:ext cx="5516637" cy="1550989"/>
          </a:xfrm>
        </p:spPr>
        <p:txBody>
          <a:bodyPr>
            <a:normAutofit/>
          </a:bodyPr>
          <a:lstStyle/>
          <a:p>
            <a:r>
              <a:rPr lang="be-BY" sz="4400" dirty="0"/>
              <a:t>3. Объединение одинакового кода</a:t>
            </a:r>
            <a:endParaRPr lang="ru-RU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2160589"/>
            <a:ext cx="5233609" cy="4138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b="1" dirty="0" err="1"/>
              <a:t>Рефакторинг</a:t>
            </a:r>
            <a:r>
              <a:rPr lang="ru-RU" sz="3000" b="1" dirty="0"/>
              <a:t> обработки ошибок</a:t>
            </a:r>
            <a:r>
              <a:rPr lang="ru-RU" sz="3000" dirty="0"/>
              <a:t> - это процесс улучшения кода, направленный на создание более надежной, предсказуемой и удобной в сопровождении системы обработки ошибок.</a:t>
            </a:r>
          </a:p>
        </p:txBody>
      </p:sp>
      <p:pic>
        <p:nvPicPr>
          <p:cNvPr id="6148" name="Picture 4" descr="Рефакторинг продукта как фактор развития компании. Часть 1: история одного  проекта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318" y="0"/>
            <a:ext cx="634668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67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06400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dirty="0"/>
              <a:t>Цели </a:t>
            </a:r>
            <a:r>
              <a:rPr lang="ru-RU" sz="4400" dirty="0" err="1"/>
              <a:t>рефакторинга</a:t>
            </a:r>
            <a:r>
              <a:rPr lang="ru-RU" sz="4400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813169"/>
            <a:ext cx="8596668" cy="4822093"/>
          </a:xfrm>
        </p:spPr>
        <p:txBody>
          <a:bodyPr>
            <a:normAutofit/>
          </a:bodyPr>
          <a:lstStyle/>
          <a:p>
            <a:r>
              <a:rPr lang="ru-RU" sz="2200" b="1" dirty="0"/>
              <a:t>Устранение дублирования</a:t>
            </a:r>
            <a:r>
              <a:rPr lang="en-US" sz="2200" dirty="0"/>
              <a:t>:</a:t>
            </a:r>
            <a:r>
              <a:rPr lang="ru-RU" sz="2200" dirty="0"/>
              <a:t> одинаковые операции с массивами были вынесены в общие функции</a:t>
            </a:r>
          </a:p>
          <a:p>
            <a:r>
              <a:rPr lang="ru-RU" sz="2200" b="1" dirty="0"/>
              <a:t>Улучшение читаемости</a:t>
            </a:r>
            <a:r>
              <a:rPr lang="en-US" sz="2200" dirty="0"/>
              <a:t>: </a:t>
            </a:r>
            <a:r>
              <a:rPr lang="ru-RU" sz="2200" dirty="0"/>
              <a:t>код стал более декларативным и понятным</a:t>
            </a:r>
          </a:p>
          <a:p>
            <a:r>
              <a:rPr lang="ru-RU" sz="2200" b="1" dirty="0"/>
              <a:t>Повторное использование</a:t>
            </a:r>
            <a:r>
              <a:rPr lang="en-US" sz="2200" dirty="0"/>
              <a:t>:</a:t>
            </a:r>
            <a:r>
              <a:rPr lang="ru-RU" sz="2200" dirty="0"/>
              <a:t> созданы универсальные функции, которые можно использовать в разных частях программы</a:t>
            </a:r>
          </a:p>
          <a:p>
            <a:r>
              <a:rPr lang="ru-RU" sz="2200" b="1" dirty="0"/>
              <a:t>Соблюдение принципа DRY (</a:t>
            </a:r>
            <a:r>
              <a:rPr lang="ru-RU" sz="2200" b="1" dirty="0" err="1"/>
              <a:t>Don't</a:t>
            </a:r>
            <a:r>
              <a:rPr lang="ru-RU" sz="2200" b="1" dirty="0"/>
              <a:t> </a:t>
            </a:r>
            <a:r>
              <a:rPr lang="ru-RU" sz="2200" b="1" dirty="0" err="1"/>
              <a:t>Repeat</a:t>
            </a:r>
            <a:r>
              <a:rPr lang="ru-RU" sz="2200" b="1" dirty="0"/>
              <a:t> </a:t>
            </a:r>
            <a:r>
              <a:rPr lang="ru-RU" sz="2200" b="1" dirty="0" err="1"/>
              <a:t>Yourself</a:t>
            </a:r>
            <a:r>
              <a:rPr lang="ru-RU" sz="2200" b="1" dirty="0"/>
              <a:t>)</a:t>
            </a:r>
            <a:r>
              <a:rPr lang="en-US" sz="2200" dirty="0"/>
              <a:t>:</a:t>
            </a:r>
            <a:r>
              <a:rPr lang="ru-RU" sz="2200" dirty="0"/>
              <a:t> устранено повторение одинакового кода</a:t>
            </a:r>
          </a:p>
          <a:p>
            <a:r>
              <a:rPr lang="ru-RU" sz="2200" b="1" dirty="0"/>
              <a:t>Упрощение поддержки</a:t>
            </a:r>
            <a:r>
              <a:rPr lang="ru-RU" sz="2200" dirty="0"/>
              <a:t>: изменения в логике работы с массивами теперь нужно вносить только в одном месте</a:t>
            </a:r>
          </a:p>
        </p:txBody>
      </p:sp>
    </p:spTree>
    <p:extLst>
      <p:ext uri="{BB962C8B-B14F-4D97-AF65-F5344CB8AC3E}">
        <p14:creationId xmlns:p14="http://schemas.microsoft.com/office/powerpoint/2010/main" val="289744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Пример</a:t>
            </a:r>
            <a:r>
              <a:rPr lang="en-US" b="1" dirty="0"/>
              <a:t>:</a:t>
            </a:r>
            <a:r>
              <a:rPr lang="ru-RU" b="1" dirty="0"/>
              <a:t> Обработка массива в </a:t>
            </a:r>
            <a:r>
              <a:rPr lang="en-US" b="1" dirty="0" err="1"/>
              <a:t>ChildMode</a:t>
            </a:r>
            <a:br>
              <a:rPr lang="en-US" b="1" dirty="0"/>
            </a:b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4772" y="1354138"/>
            <a:ext cx="4185623" cy="576262"/>
          </a:xfrm>
        </p:spPr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88385" y="1354138"/>
            <a:ext cx="4185618" cy="576262"/>
          </a:xfrm>
        </p:spPr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674773" y="5981868"/>
            <a:ext cx="8839342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Цель:</a:t>
            </a:r>
            <a:r>
              <a:rPr lang="ru-RU" dirty="0"/>
              <a:t> Упростить код </a:t>
            </a:r>
            <a:r>
              <a:rPr lang="ru-RU" dirty="0" err="1"/>
              <a:t>ChildMode</a:t>
            </a:r>
            <a:r>
              <a:rPr lang="ru-RU" dirty="0"/>
              <a:t> за счет использования универсальной функции чтения массива, которая уже включает проверки.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972" y="2079171"/>
            <a:ext cx="4805423" cy="3102429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8075" y="2079170"/>
            <a:ext cx="6211296" cy="31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30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5743" y="522513"/>
            <a:ext cx="8596668" cy="805543"/>
          </a:xfrm>
        </p:spPr>
        <p:txBody>
          <a:bodyPr>
            <a:normAutofit/>
          </a:bodyPr>
          <a:lstStyle/>
          <a:p>
            <a:r>
              <a:rPr lang="ru-RU" sz="4400" dirty="0"/>
              <a:t>Преимущества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4154" y="1619614"/>
            <a:ext cx="4185623" cy="576262"/>
          </a:xfrm>
        </p:spPr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4154" y="2532372"/>
            <a:ext cx="4185623" cy="3958382"/>
          </a:xfrm>
        </p:spPr>
        <p:txBody>
          <a:bodyPr>
            <a:noAutofit/>
          </a:bodyPr>
          <a:lstStyle/>
          <a:p>
            <a:r>
              <a:rPr lang="ru-RU" sz="2400" dirty="0"/>
              <a:t>Дублирование кода чтения/записи массивов в разных функциях</a:t>
            </a:r>
          </a:p>
          <a:p>
            <a:r>
              <a:rPr lang="ru-RU" sz="2400" dirty="0"/>
              <a:t>Разрозненные вызовы функций ввода размера и элементов</a:t>
            </a:r>
          </a:p>
          <a:p>
            <a:r>
              <a:rPr lang="ru-RU" sz="2400" dirty="0"/>
              <a:t>Сложно тестировать отдельные компоненты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86793" y="1619614"/>
            <a:ext cx="4185618" cy="576262"/>
          </a:xfrm>
        </p:spPr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086793" y="2532372"/>
            <a:ext cx="4185617" cy="3641782"/>
          </a:xfrm>
        </p:spPr>
        <p:txBody>
          <a:bodyPr>
            <a:normAutofit/>
          </a:bodyPr>
          <a:lstStyle/>
          <a:p>
            <a:r>
              <a:rPr lang="ru-RU" sz="2400" dirty="0"/>
              <a:t>Единые функции для работы с массивами через </a:t>
            </a:r>
            <a:r>
              <a:rPr lang="ru-RU" sz="2400" dirty="0" err="1"/>
              <a:t>пайпы</a:t>
            </a:r>
            <a:endParaRPr lang="ru-RU" sz="2400" dirty="0"/>
          </a:p>
          <a:p>
            <a:r>
              <a:rPr lang="ru-RU" sz="2400" dirty="0"/>
              <a:t>Единая функция получения массива от пользователя</a:t>
            </a:r>
          </a:p>
          <a:p>
            <a:r>
              <a:rPr lang="ru-RU" sz="2400" dirty="0"/>
              <a:t>Упрощенное модульное тестирование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9119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468923"/>
            <a:ext cx="8771466" cy="1320800"/>
          </a:xfrm>
        </p:spPr>
        <p:txBody>
          <a:bodyPr>
            <a:normAutofit/>
          </a:bodyPr>
          <a:lstStyle/>
          <a:p>
            <a:r>
              <a:rPr lang="be-BY" dirty="0"/>
              <a:t>4. </a:t>
            </a:r>
            <a:r>
              <a:rPr lang="ru-RU" dirty="0"/>
              <a:t>замена </a:t>
            </a:r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using </a:t>
            </a:r>
            <a:r>
              <a:rPr lang="en-US" dirty="0" err="1"/>
              <a:t>std</a:t>
            </a:r>
            <a:r>
              <a:rPr lang="en-US" dirty="0"/>
              <a:t>::(</a:t>
            </a:r>
            <a:r>
              <a:rPr lang="ru-RU" dirty="0" err="1"/>
              <a:t>название_компонента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930400"/>
            <a:ext cx="4965375" cy="4229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Замена </a:t>
            </a:r>
            <a:r>
              <a:rPr lang="ru-RU" sz="2400" dirty="0" err="1"/>
              <a:t>using</a:t>
            </a:r>
            <a:r>
              <a:rPr lang="ru-RU" sz="2400" dirty="0"/>
              <a:t> </a:t>
            </a:r>
            <a:r>
              <a:rPr lang="ru-RU" sz="2400" dirty="0" err="1"/>
              <a:t>namespace</a:t>
            </a:r>
            <a:r>
              <a:rPr lang="ru-RU" sz="2400" dirty="0"/>
              <a:t> </a:t>
            </a:r>
            <a:r>
              <a:rPr lang="ru-RU" sz="2400" dirty="0" err="1"/>
              <a:t>std</a:t>
            </a:r>
            <a:r>
              <a:rPr lang="ru-RU" sz="2400" dirty="0"/>
              <a:t> на конкретные </a:t>
            </a:r>
            <a:r>
              <a:rPr lang="ru-RU" sz="2400" dirty="0" err="1"/>
              <a:t>using</a:t>
            </a:r>
            <a:r>
              <a:rPr lang="ru-RU" sz="2400" dirty="0"/>
              <a:t> </a:t>
            </a:r>
            <a:r>
              <a:rPr lang="ru-RU" sz="2400" dirty="0" err="1"/>
              <a:t>std</a:t>
            </a:r>
            <a:r>
              <a:rPr lang="en-US" sz="2400" dirty="0"/>
              <a:t>::(</a:t>
            </a:r>
            <a:r>
              <a:rPr lang="ru-RU" sz="2400" dirty="0" err="1"/>
              <a:t>название_компонента</a:t>
            </a:r>
            <a:r>
              <a:rPr lang="ru-RU" sz="2400" dirty="0"/>
              <a:t>) - это </a:t>
            </a:r>
            <a:r>
              <a:rPr lang="ru-RU" sz="2400" dirty="0" err="1"/>
              <a:t>рефакторинг</a:t>
            </a:r>
            <a:r>
              <a:rPr lang="ru-RU" sz="2400" dirty="0"/>
              <a:t>, который повышает качество кода. </a:t>
            </a:r>
          </a:p>
        </p:txBody>
      </p:sp>
      <p:pic>
        <p:nvPicPr>
          <p:cNvPr id="7170" name="Picture 2" descr="using namespace std” is a BAD practice in C++ | by Mayank Khanna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942" y="1930400"/>
            <a:ext cx="5924550" cy="422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131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5" y="422030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dirty="0"/>
              <a:t>Преимущества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7335" y="1507159"/>
            <a:ext cx="8146234" cy="5112471"/>
          </a:xfrm>
        </p:spPr>
        <p:txBody>
          <a:bodyPr>
            <a:normAutofit/>
          </a:bodyPr>
          <a:lstStyle/>
          <a:p>
            <a:r>
              <a:rPr lang="ru-RU" sz="2400" b="1" dirty="0"/>
              <a:t>Избежание конфликтов имён</a:t>
            </a:r>
            <a:r>
              <a:rPr lang="en-US" sz="2400" b="1" dirty="0"/>
              <a:t>: </a:t>
            </a:r>
            <a:r>
              <a:rPr lang="ru-RU" sz="2400" dirty="0"/>
              <a:t>Пространство </a:t>
            </a:r>
            <a:r>
              <a:rPr lang="ru-RU" sz="2400" dirty="0" err="1"/>
              <a:t>std</a:t>
            </a:r>
            <a:r>
              <a:rPr lang="ru-RU" sz="2400" dirty="0"/>
              <a:t> содержит сотни компонентов. При использовании </a:t>
            </a:r>
            <a:r>
              <a:rPr lang="ru-RU" sz="2400" dirty="0" err="1"/>
              <a:t>using</a:t>
            </a:r>
            <a:r>
              <a:rPr lang="ru-RU" sz="2400" dirty="0"/>
              <a:t> </a:t>
            </a:r>
            <a:r>
              <a:rPr lang="ru-RU" sz="2400" dirty="0" err="1"/>
              <a:t>namespace</a:t>
            </a:r>
            <a:r>
              <a:rPr lang="ru-RU" sz="2400" dirty="0"/>
              <a:t> </a:t>
            </a:r>
            <a:r>
              <a:rPr lang="ru-RU" sz="2400" dirty="0" err="1"/>
              <a:t>std</a:t>
            </a:r>
            <a:r>
              <a:rPr lang="ru-RU" sz="2400" dirty="0"/>
              <a:t> все они становятся видимыми в текущей области видимости, что может привести к конфликтам имён. Например, если в вашем коде есть функции с именами </a:t>
            </a:r>
            <a:r>
              <a:rPr lang="ru-RU" sz="2400" dirty="0" err="1"/>
              <a:t>sort</a:t>
            </a:r>
            <a:r>
              <a:rPr lang="ru-RU" sz="2400" dirty="0"/>
              <a:t>, </a:t>
            </a:r>
            <a:r>
              <a:rPr lang="ru-RU" sz="2400" dirty="0" err="1"/>
              <a:t>count</a:t>
            </a:r>
            <a:r>
              <a:rPr lang="ru-RU" sz="2400" dirty="0"/>
              <a:t> или </a:t>
            </a:r>
            <a:r>
              <a:rPr lang="ru-RU" sz="2400" dirty="0" err="1"/>
              <a:t>array</a:t>
            </a:r>
            <a:r>
              <a:rPr lang="ru-RU" sz="2400" dirty="0"/>
              <a:t>, они будут конфликтовать с стандартными компонентами из </a:t>
            </a:r>
            <a:r>
              <a:rPr lang="ru-RU" sz="2400" dirty="0" err="1"/>
              <a:t>std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ru-RU" sz="2400" b="1" dirty="0"/>
              <a:t>Снижение непреднамеренных ошибок</a:t>
            </a:r>
            <a:r>
              <a:rPr lang="en-US" sz="2400" b="1" dirty="0"/>
              <a:t>: </a:t>
            </a:r>
            <a:r>
              <a:rPr lang="ru-RU" sz="2400" dirty="0"/>
              <a:t>Случайный импорт всего пространства имён может привести к неочевидным ошибкам, особенно в больших проектах или при подключении новых заголовков.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965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4772" y="416288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b="1" dirty="0"/>
              <a:t>Пример</a:t>
            </a:r>
            <a:br>
              <a:rPr lang="en-US" b="1" dirty="0"/>
            </a:b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4772" y="1354138"/>
            <a:ext cx="4185623" cy="576262"/>
          </a:xfrm>
        </p:spPr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88385" y="1354138"/>
            <a:ext cx="4185618" cy="576262"/>
          </a:xfrm>
        </p:spPr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674773" y="5981868"/>
            <a:ext cx="8839342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e-BY" b="1" dirty="0"/>
              <a:t>На слайде представлен случай, который не относ</a:t>
            </a:r>
            <a:r>
              <a:rPr lang="ru-RU" b="1" dirty="0"/>
              <a:t>и</a:t>
            </a:r>
            <a:r>
              <a:rPr lang="be-BY" b="1" dirty="0"/>
              <a:t>тся напрямую к моей программе, а просто показывает важность данного типа рефакторинга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5965" y="2713902"/>
            <a:ext cx="4519493" cy="1923412"/>
          </a:xfrm>
          <a:prstGeom prst="rect">
            <a:avLst/>
          </a:prstGeom>
        </p:spPr>
      </p:pic>
      <p:pic>
        <p:nvPicPr>
          <p:cNvPr id="11" name="Объект 10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8385" y="2485301"/>
            <a:ext cx="4425730" cy="238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54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30553"/>
            <a:ext cx="5152944" cy="1606061"/>
          </a:xfrm>
        </p:spPr>
        <p:txBody>
          <a:bodyPr>
            <a:normAutofit fontScale="90000"/>
          </a:bodyPr>
          <a:lstStyle/>
          <a:p>
            <a:r>
              <a:rPr lang="be-BY" dirty="0"/>
              <a:t>5. </a:t>
            </a:r>
            <a:r>
              <a:rPr lang="ru-RU" dirty="0"/>
              <a:t>Выделение констант, упрощение обработки ошибок и функций </a:t>
            </a:r>
            <a:r>
              <a:rPr lang="ru-RU" dirty="0" err="1"/>
              <a:t>SafeIO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930400"/>
            <a:ext cx="5233609" cy="4697046"/>
          </a:xfrm>
        </p:spPr>
        <p:txBody>
          <a:bodyPr>
            <a:normAutofit/>
          </a:bodyPr>
          <a:lstStyle/>
          <a:p>
            <a:r>
              <a:rPr lang="ru-RU" sz="2000" b="1" dirty="0"/>
              <a:t>Общие цели </a:t>
            </a:r>
            <a:r>
              <a:rPr lang="ru-RU" sz="2000" b="1" dirty="0" err="1"/>
              <a:t>рефакторинга</a:t>
            </a:r>
            <a:r>
              <a:rPr lang="ru-RU" sz="2000" b="1" dirty="0"/>
              <a:t>:</a:t>
            </a:r>
          </a:p>
          <a:p>
            <a:r>
              <a:rPr lang="ru-RU" sz="2000" b="1" dirty="0"/>
              <a:t>Устранение дублирования</a:t>
            </a:r>
            <a:r>
              <a:rPr lang="ru-RU" sz="2000" dirty="0"/>
              <a:t> - через шаблоны и макросы</a:t>
            </a:r>
          </a:p>
          <a:p>
            <a:r>
              <a:rPr lang="ru-RU" sz="2000" b="1" dirty="0"/>
              <a:t>Улучшение </a:t>
            </a:r>
            <a:r>
              <a:rPr lang="ru-RU" sz="2000" b="1" dirty="0" err="1"/>
              <a:t>сопровождаемости</a:t>
            </a:r>
            <a:r>
              <a:rPr lang="ru-RU" sz="2000" dirty="0"/>
              <a:t> - централизация констант</a:t>
            </a:r>
          </a:p>
          <a:p>
            <a:r>
              <a:rPr lang="ru-RU" sz="2000" b="1" dirty="0"/>
              <a:t>Повышение надежности</a:t>
            </a:r>
            <a:r>
              <a:rPr lang="ru-RU" sz="2000" dirty="0"/>
              <a:t> - добавление </a:t>
            </a:r>
            <a:r>
              <a:rPr lang="ru-RU" sz="2000" dirty="0" err="1"/>
              <a:t>валидации</a:t>
            </a:r>
            <a:endParaRPr lang="ru-RU" sz="2000" dirty="0"/>
          </a:p>
          <a:p>
            <a:r>
              <a:rPr lang="ru-RU" sz="2000" b="1" dirty="0"/>
              <a:t>Упрощение кода</a:t>
            </a:r>
            <a:r>
              <a:rPr lang="ru-RU" sz="2000" dirty="0"/>
              <a:t> - использование стандартных алгоритмов</a:t>
            </a:r>
          </a:p>
          <a:p>
            <a:r>
              <a:rPr lang="ru-RU" sz="2000" b="1" dirty="0"/>
              <a:t>Улучшение читаемости</a:t>
            </a:r>
            <a:r>
              <a:rPr lang="ru-RU" sz="2000" dirty="0"/>
              <a:t> - именованные константы вместо "магических чисел"</a:t>
            </a:r>
          </a:p>
        </p:txBody>
      </p:sp>
      <p:pic>
        <p:nvPicPr>
          <p:cNvPr id="10242" name="Picture 2" descr="https://habrastorage.org/r/w1560/getpro/habr/upload_files/9da/c39/3ca/9dac393ca993a3986cbab58f19771f6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942" y="0"/>
            <a:ext cx="63033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080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99870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b="1" dirty="0"/>
              <a:t>Пример</a:t>
            </a:r>
            <a:br>
              <a:rPr lang="en-US" b="1" dirty="0"/>
            </a:b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4800" y="1478170"/>
            <a:ext cx="4185623" cy="576262"/>
          </a:xfrm>
        </p:spPr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93184" y="1478170"/>
            <a:ext cx="4185618" cy="576262"/>
          </a:xfrm>
        </p:spPr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674773" y="5981868"/>
            <a:ext cx="8839342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 первом случае показана константа среди кода, а во втором – специальное пространство, в которое можно удобно все собрать и использовать</a:t>
            </a:r>
            <a:endParaRPr lang="ru-RU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799" y="2253825"/>
            <a:ext cx="4860395" cy="2804244"/>
          </a:xfrm>
          <a:prstGeom prst="rect">
            <a:avLst/>
          </a:prstGeom>
        </p:spPr>
      </p:pic>
      <p:pic>
        <p:nvPicPr>
          <p:cNvPr id="14" name="Объект 13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393184" y="2239923"/>
            <a:ext cx="4997927" cy="281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60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8713" y="218415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Пример</a:t>
            </a:r>
            <a:r>
              <a:rPr lang="en-US" sz="4000" b="1" dirty="0"/>
              <a:t>: </a:t>
            </a:r>
            <a:r>
              <a:rPr lang="ru-RU" sz="4000" b="1" dirty="0"/>
              <a:t>прощение функций </a:t>
            </a:r>
            <a:r>
              <a:rPr lang="ru-RU" sz="4000" b="1" dirty="0" err="1"/>
              <a:t>SafeIO</a:t>
            </a:r>
            <a:r>
              <a:rPr lang="ru-RU" sz="4000" b="1" dirty="0"/>
              <a:t> через шаблоны</a:t>
            </a:r>
            <a:br>
              <a:rPr lang="ru-RU" b="1" dirty="0"/>
            </a:br>
            <a:br>
              <a:rPr lang="en-US" b="1" dirty="0"/>
            </a:b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96985" y="1642269"/>
            <a:ext cx="4185623" cy="576262"/>
          </a:xfrm>
        </p:spPr>
        <p:txBody>
          <a:bodyPr/>
          <a:lstStyle/>
          <a:p>
            <a:r>
              <a:rPr lang="ru-RU" dirty="0"/>
              <a:t>ДО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667779" y="1642269"/>
            <a:ext cx="4185618" cy="576262"/>
          </a:xfrm>
        </p:spPr>
        <p:txBody>
          <a:bodyPr/>
          <a:lstStyle/>
          <a:p>
            <a:r>
              <a:rPr lang="ru-RU" dirty="0"/>
              <a:t>ПОСЛЕ</a:t>
            </a:r>
          </a:p>
        </p:txBody>
      </p:sp>
      <p:sp>
        <p:nvSpPr>
          <p:cNvPr id="9" name="Текст 2"/>
          <p:cNvSpPr txBox="1">
            <a:spLocks/>
          </p:cNvSpPr>
          <p:nvPr/>
        </p:nvSpPr>
        <p:spPr>
          <a:xfrm>
            <a:off x="668713" y="5326702"/>
            <a:ext cx="8839342" cy="9810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Цель:</a:t>
            </a:r>
            <a:r>
              <a:rPr lang="ru-RU" dirty="0"/>
              <a:t> Устранение дублирования кода, </a:t>
            </a:r>
            <a:r>
              <a:rPr lang="ru-RU" dirty="0" err="1"/>
              <a:t>типобезопасность</a:t>
            </a:r>
            <a:r>
              <a:rPr lang="ru-RU" dirty="0"/>
              <a:t>, </a:t>
            </a:r>
            <a:r>
              <a:rPr lang="ru-RU" dirty="0" err="1"/>
              <a:t>переиспользование</a:t>
            </a:r>
            <a:r>
              <a:rPr lang="ru-RU" dirty="0"/>
              <a:t>.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6985" y="2527559"/>
            <a:ext cx="5088384" cy="2593034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67779" y="2527559"/>
            <a:ext cx="4905741" cy="25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06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5" y="381000"/>
            <a:ext cx="8596668" cy="1320800"/>
          </a:xfrm>
        </p:spPr>
        <p:txBody>
          <a:bodyPr>
            <a:normAutofit/>
          </a:bodyPr>
          <a:lstStyle/>
          <a:p>
            <a:r>
              <a:rPr lang="ru-RU" sz="4400" dirty="0"/>
              <a:t>Преимущества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7335" y="1507160"/>
            <a:ext cx="8706152" cy="4969840"/>
          </a:xfrm>
        </p:spPr>
        <p:txBody>
          <a:bodyPr>
            <a:normAutofit/>
          </a:bodyPr>
          <a:lstStyle/>
          <a:p>
            <a:r>
              <a:rPr lang="ru-RU" sz="2800" b="1" dirty="0"/>
              <a:t>Централизованное управление конфигурацией</a:t>
            </a:r>
            <a:r>
              <a:rPr lang="ru-RU" sz="2800" dirty="0"/>
              <a:t> - все константы в одном месте</a:t>
            </a:r>
          </a:p>
          <a:p>
            <a:r>
              <a:rPr lang="ru-RU" sz="2800" b="1" dirty="0"/>
              <a:t>Быстрое внесение изменений</a:t>
            </a:r>
            <a:r>
              <a:rPr lang="ru-RU" sz="2800" dirty="0"/>
              <a:t> - изменение таймаута или ограничений требует правки только в одном месте</a:t>
            </a:r>
          </a:p>
          <a:p>
            <a:r>
              <a:rPr lang="ru-RU" sz="2800" b="1" dirty="0"/>
              <a:t>Автоматическая проверка типов</a:t>
            </a:r>
            <a:r>
              <a:rPr lang="ru-RU" sz="2800" dirty="0"/>
              <a:t> через шаблоны </a:t>
            </a:r>
            <a:r>
              <a:rPr lang="ru-RU" sz="2800" dirty="0" err="1"/>
              <a:t>SafeIO</a:t>
            </a:r>
            <a:endParaRPr lang="ru-RU" sz="2800" dirty="0"/>
          </a:p>
          <a:p>
            <a:r>
              <a:rPr lang="ru-RU" sz="2800" b="1" dirty="0"/>
              <a:t>Снижение объема кода</a:t>
            </a:r>
            <a:r>
              <a:rPr lang="ru-RU" sz="2800" dirty="0"/>
              <a:t> - шаблоны заменяют повторяющиеся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1807640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9363" y="409010"/>
            <a:ext cx="3808941" cy="1320800"/>
          </a:xfrm>
        </p:spPr>
        <p:txBody>
          <a:bodyPr>
            <a:normAutofit fontScale="90000"/>
          </a:bodyPr>
          <a:lstStyle/>
          <a:p>
            <a:r>
              <a:rPr lang="be-BY" dirty="0"/>
              <a:t>Рефактор</a:t>
            </a:r>
            <a:r>
              <a:rPr lang="ru-RU" dirty="0" err="1"/>
              <a:t>инг</a:t>
            </a:r>
            <a:r>
              <a:rPr lang="ru-RU" dirty="0"/>
              <a:t>, который можно будет применить в будущем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9363" y="2813732"/>
            <a:ext cx="3905552" cy="388077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Покрыть код </a:t>
            </a:r>
            <a:r>
              <a:rPr lang="en-US" dirty="0"/>
              <a:t>unit-</a:t>
            </a:r>
            <a:r>
              <a:rPr lang="be-BY" dirty="0"/>
              <a:t>тестам</a:t>
            </a:r>
            <a:r>
              <a:rPr lang="ru-RU" dirty="0"/>
              <a:t>и для самотестирование, что ускорит разработку и упростит добавление </a:t>
            </a:r>
            <a:r>
              <a:rPr lang="ru-RU" dirty="0" err="1"/>
              <a:t>фич</a:t>
            </a:r>
            <a:r>
              <a:rPr lang="ru-RU" dirty="0"/>
              <a:t> и проведение </a:t>
            </a:r>
            <a:r>
              <a:rPr lang="ru-RU" dirty="0" err="1"/>
              <a:t>рефакторинга</a:t>
            </a:r>
            <a:r>
              <a:rPr lang="en-US" dirty="0"/>
              <a:t>:</a:t>
            </a:r>
            <a:r>
              <a:rPr lang="ru-RU" dirty="0"/>
              <a:t> быстрее можно будет убедиться, что логика и функциональность не сломались. Как итог мы имеем стабильность кода при изменениях.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1266" name="Picture 2" descr="Юнит-тестирование: полное руководств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5" y="1"/>
            <a:ext cx="7705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759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259" y="1684312"/>
            <a:ext cx="4840742" cy="4810201"/>
          </a:xfrm>
          <a:prstGeom prst="rect">
            <a:avLst/>
          </a:prstGeom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1663296" y="363487"/>
            <a:ext cx="8596668" cy="13208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Мой </a:t>
            </a:r>
            <a:r>
              <a:rPr lang="en-US" dirty="0" err="1"/>
              <a:t>github</a:t>
            </a:r>
            <a:r>
              <a:rPr lang="ru-RU" dirty="0"/>
              <a:t> с полным кодом лабораторной и прочими проектами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6549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Смешные картинки Спасибо за внимание прикольные 24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41436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419</TotalTime>
  <Words>1091</Words>
  <Application>Microsoft Office PowerPoint</Application>
  <PresentationFormat>Широкоэкранный</PresentationFormat>
  <Paragraphs>122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 3</vt:lpstr>
      <vt:lpstr>Аспект</vt:lpstr>
      <vt:lpstr>Рефакторинг кода</vt:lpstr>
      <vt:lpstr>Что такое рефакторинг?</vt:lpstr>
      <vt:lpstr>Презентация PowerPoint</vt:lpstr>
      <vt:lpstr>Зачем нужен рефакторинг? </vt:lpstr>
      <vt:lpstr>Из-за чего возникает необходимость в рефакторинге? </vt:lpstr>
      <vt:lpstr>Поставленная задача</vt:lpstr>
      <vt:lpstr>1. RAII-рефакторинг</vt:lpstr>
      <vt:lpstr>Проблемы, которые RAII решает:</vt:lpstr>
      <vt:lpstr>Пример: Специализированные классы для каналов и процессов </vt:lpstr>
      <vt:lpstr>Преимущества рефакторинга</vt:lpstr>
      <vt:lpstr>2. Рефакторинг обработки ошибок</vt:lpstr>
      <vt:lpstr>Проблемы, решает улучшение обратотки ошибок:</vt:lpstr>
      <vt:lpstr>Пример: Улучшенная обработка пользовательского ввода</vt:lpstr>
      <vt:lpstr>Преимущества</vt:lpstr>
      <vt:lpstr>3. Объединение одинакового кода</vt:lpstr>
      <vt:lpstr>Цели рефакторинга:</vt:lpstr>
      <vt:lpstr>Пример: Обработка массива в ChildMode </vt:lpstr>
      <vt:lpstr>Преимущества</vt:lpstr>
      <vt:lpstr>4. замена using namespace std на using std::(название_компонента)</vt:lpstr>
      <vt:lpstr>Преимущества</vt:lpstr>
      <vt:lpstr>Пример </vt:lpstr>
      <vt:lpstr>5. Выделение констант, упрощение обработки ошибок и функций SafeIO</vt:lpstr>
      <vt:lpstr>Пример </vt:lpstr>
      <vt:lpstr>Пример: прощение функций SafeIO через шаблоны  </vt:lpstr>
      <vt:lpstr>Преимущества</vt:lpstr>
      <vt:lpstr>Рефакторинг, который можно будет применить в будущем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Рефакторинг кода</dc:title>
  <dc:creator>Пользователь Windows</dc:creator>
  <cp:lastModifiedBy>Илья Старовойтов</cp:lastModifiedBy>
  <cp:revision>20</cp:revision>
  <dcterms:created xsi:type="dcterms:W3CDTF">2025-10-29T11:39:23Z</dcterms:created>
  <dcterms:modified xsi:type="dcterms:W3CDTF">2025-10-29T18:41:38Z</dcterms:modified>
</cp:coreProperties>
</file>