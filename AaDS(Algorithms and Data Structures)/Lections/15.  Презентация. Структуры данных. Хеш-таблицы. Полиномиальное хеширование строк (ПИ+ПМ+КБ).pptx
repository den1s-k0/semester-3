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62" r:id="rId2"/>
    <p:sldId id="263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  <p:sldId id="352" r:id="rId12"/>
    <p:sldId id="339" r:id="rId13"/>
    <p:sldId id="273" r:id="rId14"/>
    <p:sldId id="310" r:id="rId15"/>
    <p:sldId id="312" r:id="rId16"/>
    <p:sldId id="309" r:id="rId17"/>
    <p:sldId id="313" r:id="rId18"/>
    <p:sldId id="275" r:id="rId19"/>
    <p:sldId id="276" r:id="rId20"/>
    <p:sldId id="277" r:id="rId21"/>
    <p:sldId id="311" r:id="rId22"/>
    <p:sldId id="278" r:id="rId23"/>
    <p:sldId id="314" r:id="rId24"/>
    <p:sldId id="280" r:id="rId25"/>
    <p:sldId id="285" r:id="rId26"/>
    <p:sldId id="316" r:id="rId27"/>
    <p:sldId id="281" r:id="rId28"/>
    <p:sldId id="286" r:id="rId29"/>
    <p:sldId id="338" r:id="rId30"/>
    <p:sldId id="353" r:id="rId31"/>
    <p:sldId id="317" r:id="rId32"/>
    <p:sldId id="279" r:id="rId33"/>
    <p:sldId id="288" r:id="rId34"/>
    <p:sldId id="318" r:id="rId35"/>
    <p:sldId id="282" r:id="rId36"/>
    <p:sldId id="319" r:id="rId37"/>
    <p:sldId id="283" r:id="rId38"/>
    <p:sldId id="284" r:id="rId39"/>
    <p:sldId id="320" r:id="rId40"/>
    <p:sldId id="290" r:id="rId41"/>
    <p:sldId id="299" r:id="rId42"/>
    <p:sldId id="321" r:id="rId43"/>
    <p:sldId id="322" r:id="rId44"/>
    <p:sldId id="300" r:id="rId45"/>
    <p:sldId id="332" r:id="rId46"/>
    <p:sldId id="301" r:id="rId47"/>
    <p:sldId id="333" r:id="rId48"/>
    <p:sldId id="307" r:id="rId49"/>
    <p:sldId id="303" r:id="rId50"/>
    <p:sldId id="334" r:id="rId51"/>
    <p:sldId id="335" r:id="rId52"/>
    <p:sldId id="336" r:id="rId53"/>
    <p:sldId id="304" r:id="rId54"/>
    <p:sldId id="326" r:id="rId55"/>
    <p:sldId id="294" r:id="rId56"/>
    <p:sldId id="327" r:id="rId57"/>
    <p:sldId id="295" r:id="rId58"/>
    <p:sldId id="287" r:id="rId59"/>
    <p:sldId id="328" r:id="rId60"/>
    <p:sldId id="296" r:id="rId61"/>
    <p:sldId id="329" r:id="rId62"/>
    <p:sldId id="297" r:id="rId63"/>
    <p:sldId id="298" r:id="rId64"/>
    <p:sldId id="331" r:id="rId65"/>
    <p:sldId id="356" r:id="rId66"/>
    <p:sldId id="342" r:id="rId67"/>
    <p:sldId id="350" r:id="rId68"/>
    <p:sldId id="347" r:id="rId69"/>
    <p:sldId id="343" r:id="rId70"/>
    <p:sldId id="346" r:id="rId71"/>
    <p:sldId id="344" r:id="rId72"/>
    <p:sldId id="351" r:id="rId73"/>
    <p:sldId id="354" r:id="rId74"/>
    <p:sldId id="345" r:id="rId75"/>
    <p:sldId id="349" r:id="rId76"/>
    <p:sldId id="355" r:id="rId77"/>
    <p:sldId id="348" r:id="rId78"/>
    <p:sldId id="308" r:id="rId79"/>
    <p:sldId id="306" r:id="rId8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42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tor Demianov" initials="VD" lastIdx="1" clrIdx="0">
    <p:extLst>
      <p:ext uri="{19B8F6BF-5375-455C-9EA6-DF929625EA0E}">
        <p15:presenceInfo xmlns:p15="http://schemas.microsoft.com/office/powerpoint/2012/main" userId="3f9c65cd43f8d0b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9F754"/>
    <a:srgbClr val="FF5050"/>
    <a:srgbClr val="E5D3D9"/>
    <a:srgbClr val="0070C0"/>
    <a:srgbClr val="144E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95394" autoAdjust="0"/>
  </p:normalViewPr>
  <p:slideViewPr>
    <p:cSldViewPr snapToGrid="0">
      <p:cViewPr varScale="1">
        <p:scale>
          <a:sx n="108" d="100"/>
          <a:sy n="108" d="100"/>
        </p:scale>
        <p:origin x="426" y="108"/>
      </p:cViewPr>
      <p:guideLst>
        <p:guide orient="horz" pos="4042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4" d="100"/>
        <a:sy n="134" d="100"/>
      </p:scale>
      <p:origin x="0" y="-119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8F9A9-31C6-4BBE-BA5D-41C48B66B13C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C928-40FE-48A9-8508-DEC12BFF553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37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D0C928-40FE-48A9-8508-DEC12BFF5536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550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D0C928-40FE-48A9-8508-DEC12BFF5536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252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D0C928-40FE-48A9-8508-DEC12BFF5536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609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D0C928-40FE-48A9-8508-DEC12BFF5536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289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D0C928-40FE-48A9-8508-DEC12BFF5536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227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D0C928-40FE-48A9-8508-DEC12BFF5536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572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7939-25DD-9E2F-5D7E-C1CC2B54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76094BC-DCF9-23FD-8D9A-E2C7DB10B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C81AF1E-5A30-0587-DF96-5FCD1982F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F87273-D0C0-0F03-5AB1-9FBBCBE8B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D0C928-40FE-48A9-8508-DEC12BFF5536}" type="slidenum">
              <a:rPr lang="ru-RU" smtClean="0"/>
              <a:pPr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166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1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extBox 9"/>
          <p:cNvSpPr txBox="1"/>
          <p:nvPr userDrawn="1"/>
        </p:nvSpPr>
        <p:spPr>
          <a:xfrm>
            <a:off x="11366500" y="6673334"/>
            <a:ext cx="8255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1" name="Рисунок 10" descr="png..png"/>
          <p:cNvPicPr>
            <a:picLocks noChangeAspect="1"/>
          </p:cNvPicPr>
          <p:nvPr userDrawn="1"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1558644" y="5918200"/>
            <a:ext cx="468256" cy="69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0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61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43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8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31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2" name="Рисунок 11" descr="png..png"/>
          <p:cNvPicPr>
            <a:picLocks noChangeAspect="1"/>
          </p:cNvPicPr>
          <p:nvPr userDrawn="1"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6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0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02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76552-E558-4846-BB9C-6F97A16E9C82}" type="datetimeFigureOut">
              <a:rPr lang="ru-RU" smtClean="0"/>
              <a:pPr/>
              <a:t>25.11.2024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4" Type="http://schemas.openxmlformats.org/officeDocument/2006/relationships/image" Target="../media/image5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0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1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0.png"/><Relationship Id="rId5" Type="http://schemas.openxmlformats.org/officeDocument/2006/relationships/image" Target="../media/image830.png"/><Relationship Id="rId4" Type="http://schemas.openxmlformats.org/officeDocument/2006/relationships/image" Target="../media/image82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0.png"/><Relationship Id="rId7" Type="http://schemas.openxmlformats.org/officeDocument/2006/relationships/image" Target="../media/image90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5" Type="http://schemas.openxmlformats.org/officeDocument/2006/relationships/image" Target="../media/image880.png"/><Relationship Id="rId4" Type="http://schemas.openxmlformats.org/officeDocument/2006/relationships/image" Target="../media/image8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79.png"/><Relationship Id="rId3" Type="http://schemas.openxmlformats.org/officeDocument/2006/relationships/image" Target="../media/image77.png"/><Relationship Id="rId7" Type="http://schemas.openxmlformats.org/officeDocument/2006/relationships/image" Target="../media/image110.png"/><Relationship Id="rId12" Type="http://schemas.openxmlformats.org/officeDocument/2006/relationships/image" Target="../media/image78.png"/><Relationship Id="rId2" Type="http://schemas.openxmlformats.org/officeDocument/2006/relationships/image" Target="../media/image105.png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5" Type="http://schemas.openxmlformats.org/officeDocument/2006/relationships/image" Target="../media/image108.png"/><Relationship Id="rId15" Type="http://schemas.openxmlformats.org/officeDocument/2006/relationships/image" Target="../media/image117.png"/><Relationship Id="rId10" Type="http://schemas.openxmlformats.org/officeDocument/2006/relationships/image" Target="../media/image75.wmf"/><Relationship Id="rId4" Type="http://schemas.openxmlformats.org/officeDocument/2006/relationships/image" Target="../media/image107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8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0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7" Type="http://schemas.openxmlformats.org/officeDocument/2006/relationships/image" Target="../media/image111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0.png"/><Relationship Id="rId3" Type="http://schemas.openxmlformats.org/officeDocument/2006/relationships/image" Target="../media/image140.png"/><Relationship Id="rId7" Type="http://schemas.openxmlformats.org/officeDocument/2006/relationships/image" Target="../media/image35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400.png"/><Relationship Id="rId7" Type="http://schemas.openxmlformats.org/officeDocument/2006/relationships/image" Target="../media/image43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0.png"/><Relationship Id="rId5" Type="http://schemas.openxmlformats.org/officeDocument/2006/relationships/image" Target="../media/image411.png"/><Relationship Id="rId4" Type="http://schemas.openxmlformats.org/officeDocument/2006/relationships/image" Target="../media/image38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7" Type="http://schemas.openxmlformats.org/officeDocument/2006/relationships/image" Target="../media/image24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0.png"/><Relationship Id="rId5" Type="http://schemas.openxmlformats.org/officeDocument/2006/relationships/image" Target="../media/image211.png"/><Relationship Id="rId4" Type="http://schemas.openxmlformats.org/officeDocument/2006/relationships/image" Target="../media/image23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320.png"/><Relationship Id="rId7" Type="http://schemas.openxmlformats.org/officeDocument/2006/relationships/image" Target="../media/image331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0.png"/><Relationship Id="rId9" Type="http://schemas.openxmlformats.org/officeDocument/2006/relationships/image" Target="../media/image34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0.png"/><Relationship Id="rId5" Type="http://schemas.openxmlformats.org/officeDocument/2006/relationships/hyperlink" Target="https://ru.m.wikipedia.org/wiki/&#1054;&#1073;&#1088;&#1072;&#1090;&#1085;&#1086;&#1077;_&#1087;&#1086;_&#1084;&#1086;&#1076;&#1091;&#1083;&#1102;_&#1095;&#1080;&#1089;&#1083;&#1086;" TargetMode="External"/><Relationship Id="rId4" Type="http://schemas.openxmlformats.org/officeDocument/2006/relationships/image" Target="../media/image37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370.png"/><Relationship Id="rId7" Type="http://schemas.openxmlformats.org/officeDocument/2006/relationships/image" Target="../media/image480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5" Type="http://schemas.openxmlformats.org/officeDocument/2006/relationships/image" Target="../media/image461.png"/><Relationship Id="rId10" Type="http://schemas.openxmlformats.org/officeDocument/2006/relationships/image" Target="../media/image511.png"/><Relationship Id="rId4" Type="http://schemas.openxmlformats.org/officeDocument/2006/relationships/image" Target="../media/image451.png"/><Relationship Id="rId9" Type="http://schemas.openxmlformats.org/officeDocument/2006/relationships/image" Target="../media/image50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dG_92bY7v88EourBIkBm-HxnZHr7KWd0/view?usp=sharing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92179" y="1790700"/>
            <a:ext cx="7207642" cy="2243972"/>
          </a:xfrm>
        </p:spPr>
        <p:txBody>
          <a:bodyPr>
            <a:normAutofit/>
          </a:bodyPr>
          <a:lstStyle/>
          <a:p>
            <a:r>
              <a:rPr lang="ru-RU" sz="3600" b="1" dirty="0"/>
              <a:t>Организация поиска</a:t>
            </a:r>
            <a:br>
              <a:rPr lang="en-US" sz="3600" b="1" dirty="0"/>
            </a:br>
            <a:br>
              <a:rPr lang="ru-RU" sz="3600" b="1" dirty="0"/>
            </a:br>
            <a:r>
              <a:rPr lang="ru-RU" sz="3600" b="1" dirty="0"/>
              <a:t>Хеширование</a:t>
            </a:r>
            <a:br>
              <a:rPr lang="ru-RU" sz="3600" dirty="0"/>
            </a:br>
            <a:endParaRPr lang="ru-RU" sz="36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94431" y="6413958"/>
            <a:ext cx="42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2024 год</a:t>
            </a:r>
          </a:p>
        </p:txBody>
      </p:sp>
    </p:spTree>
    <p:extLst>
      <p:ext uri="{BB962C8B-B14F-4D97-AF65-F5344CB8AC3E}">
        <p14:creationId xmlns:p14="http://schemas.microsoft.com/office/powerpoint/2010/main" val="424222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 txBox="1">
            <a:spLocks/>
          </p:cNvSpPr>
          <p:nvPr/>
        </p:nvSpPr>
        <p:spPr>
          <a:xfrm>
            <a:off x="330741" y="129072"/>
            <a:ext cx="3477688" cy="5185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u="sng" dirty="0"/>
          </a:p>
        </p:txBody>
      </p:sp>
      <p:sp>
        <p:nvSpPr>
          <p:cNvPr id="4" name="Объект 3"/>
          <p:cNvSpPr txBox="1">
            <a:spLocks/>
          </p:cNvSpPr>
          <p:nvPr/>
        </p:nvSpPr>
        <p:spPr>
          <a:xfrm>
            <a:off x="8927184" y="0"/>
            <a:ext cx="3264816" cy="14292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000"/>
              </a:spcAft>
              <a:buNone/>
            </a:pPr>
            <a:r>
              <a:rPr lang="ru-RU" sz="1600" u="sng" dirty="0"/>
              <a:t>Словарные операции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arenR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элемента </a:t>
            </a:r>
            <a:r>
              <a:rPr lang="ru-RU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arenR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нового элемента </a:t>
            </a:r>
            <a:r>
              <a:rPr lang="ru-RU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arenR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элемента </a:t>
            </a:r>
            <a:r>
              <a:rPr lang="ru-RU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5" name="Текст 4"/>
          <p:cNvSpPr txBox="1">
            <a:spLocks/>
          </p:cNvSpPr>
          <p:nvPr/>
        </p:nvSpPr>
        <p:spPr>
          <a:xfrm>
            <a:off x="2504388" y="923275"/>
            <a:ext cx="6843858" cy="10119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Структуры данных </a:t>
            </a:r>
          </a:p>
          <a:p>
            <a:pPr marL="0" indent="0" algn="ctr">
              <a:buNone/>
            </a:pPr>
            <a:r>
              <a:rPr lang="ru-RU" dirty="0"/>
              <a:t>для выполнения словарных операций</a:t>
            </a:r>
          </a:p>
        </p:txBody>
      </p:sp>
      <p:sp>
        <p:nvSpPr>
          <p:cNvPr id="6" name="Объект 5"/>
          <p:cNvSpPr txBox="1">
            <a:spLocks/>
          </p:cNvSpPr>
          <p:nvPr/>
        </p:nvSpPr>
        <p:spPr>
          <a:xfrm>
            <a:off x="3914350" y="2306936"/>
            <a:ext cx="5183188" cy="16727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поисковые деревья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хеш-таблицы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922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791253"/>
              </p:ext>
            </p:extLst>
          </p:nvPr>
        </p:nvGraphicFramePr>
        <p:xfrm>
          <a:off x="179109" y="3708136"/>
          <a:ext cx="1116133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0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04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07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ru-RU" dirty="0"/>
                        <a:t>в стандартной библиотеке С++: контейнер </a:t>
                      </a:r>
                      <a:r>
                        <a:rPr lang="ru-RU" dirty="0" err="1"/>
                        <a:t>std</a:t>
                      </a:r>
                      <a:r>
                        <a:rPr lang="ru-RU" dirty="0"/>
                        <a:t>::</a:t>
                      </a:r>
                      <a:r>
                        <a:rPr lang="ru-RU" dirty="0" err="1"/>
                        <a:t>map</a:t>
                      </a:r>
                      <a:r>
                        <a:rPr lang="ru-RU" dirty="0"/>
                        <a:t>, работающий на основе сбалансированного дерева (обычно красно</a:t>
                      </a:r>
                      <a:r>
                        <a:rPr lang="en-US" dirty="0"/>
                        <a:t>-</a:t>
                      </a:r>
                      <a:r>
                        <a:rPr lang="ru-RU" dirty="0"/>
                        <a:t>чёрного)</a:t>
                      </a:r>
                      <a:endParaRPr lang="en-US" dirty="0"/>
                    </a:p>
                    <a:p>
                      <a:pPr marL="0" indent="0" algn="just">
                        <a:buNone/>
                      </a:pPr>
                      <a:endParaRPr lang="en-US" dirty="0"/>
                    </a:p>
                    <a:p>
                      <a:pPr marL="0" indent="0" algn="just">
                        <a:buNone/>
                      </a:pPr>
                      <a:r>
                        <a:rPr lang="ru-RU" b="1" u="sng" dirty="0"/>
                        <a:t>контейнер </a:t>
                      </a:r>
                      <a:r>
                        <a:rPr lang="ru-RU" b="1" u="sng" dirty="0" err="1"/>
                        <a:t>std</a:t>
                      </a:r>
                      <a:r>
                        <a:rPr lang="ru-RU" b="1" u="sng" dirty="0"/>
                        <a:t>::</a:t>
                      </a:r>
                      <a:r>
                        <a:rPr lang="ru-RU" b="1" u="sng" dirty="0" err="1"/>
                        <a:t>unordered_map</a:t>
                      </a:r>
                      <a:r>
                        <a:rPr lang="ru-RU" b="1" u="sng" dirty="0"/>
                        <a:t>, работающий на основе хеш-таблицы. 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ru-RU" dirty="0"/>
                        <a:t>интерфейс </a:t>
                      </a:r>
                      <a:r>
                        <a:rPr lang="ru-RU" dirty="0" err="1"/>
                        <a:t>Map</a:t>
                      </a:r>
                      <a:r>
                        <a:rPr lang="ru-RU" dirty="0"/>
                        <a:t>, который реализуется несколькими классами, в частности классом </a:t>
                      </a:r>
                      <a:r>
                        <a:rPr lang="ru-RU" dirty="0" err="1"/>
                        <a:t>TreeMap</a:t>
                      </a:r>
                      <a:r>
                        <a:rPr lang="ru-RU" dirty="0"/>
                        <a:t> (базируется на красно-чёрном дереве) и </a:t>
                      </a:r>
                    </a:p>
                    <a:p>
                      <a:pPr marL="0" indent="0" algn="just">
                        <a:buNone/>
                      </a:pPr>
                      <a:endParaRPr lang="ru-RU" b="1" u="sng" dirty="0"/>
                    </a:p>
                    <a:p>
                      <a:pPr marL="0" indent="0" algn="just">
                        <a:buNone/>
                      </a:pPr>
                      <a:r>
                        <a:rPr lang="ru-RU" b="1" u="sng" dirty="0" err="1"/>
                        <a:t>HashMap</a:t>
                      </a:r>
                      <a:r>
                        <a:rPr lang="ru-RU" b="1" u="sng" dirty="0"/>
                        <a:t> (базируется на хеш-таблице)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встроенный тип </a:t>
                      </a:r>
                      <a:r>
                        <a:rPr lang="ru-RU" b="1" u="sng" dirty="0" err="1"/>
                        <a:t>dict</a:t>
                      </a:r>
                      <a:r>
                        <a:rPr lang="ru-RU" b="1" u="sng" dirty="0"/>
                        <a:t> (</a:t>
                      </a:r>
                      <a:r>
                        <a:rPr lang="ru-RU" dirty="0"/>
                        <a:t>этот словарь </a:t>
                      </a:r>
                      <a:r>
                        <a:rPr lang="ru-RU" u="sng" dirty="0">
                          <a:solidFill>
                            <a:schemeClr val="tx1"/>
                          </a:solidFill>
                        </a:rPr>
                        <a:t>использует внутри хеширование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09508" y="517126"/>
            <a:ext cx="4730939" cy="388633"/>
          </a:xfrm>
        </p:spPr>
        <p:txBody>
          <a:bodyPr>
            <a:noAutofit/>
          </a:bodyPr>
          <a:lstStyle/>
          <a:p>
            <a:pPr algn="ctr"/>
            <a:br>
              <a:rPr lang="en-US" sz="2000" dirty="0">
                <a:solidFill>
                  <a:srgbClr val="0070C0"/>
                </a:solidFill>
              </a:rPr>
            </a:br>
            <a:r>
              <a:rPr lang="ru-RU" sz="2000" dirty="0">
                <a:solidFill>
                  <a:srgbClr val="0070C0"/>
                </a:solidFill>
              </a:rPr>
              <a:t>Абстрактный тип данных: множество (</a:t>
            </a:r>
            <a:r>
              <a:rPr lang="en-US" sz="2000" b="1" dirty="0">
                <a:solidFill>
                  <a:srgbClr val="0070C0"/>
                </a:solidFill>
              </a:rPr>
              <a:t>set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  <a:br>
              <a:rPr lang="ru-RU" sz="2000" dirty="0">
                <a:solidFill>
                  <a:srgbClr val="0070C0"/>
                </a:solidFill>
              </a:rPr>
            </a:br>
            <a:endParaRPr lang="ru-RU" sz="2000" dirty="0">
              <a:solidFill>
                <a:srgbClr val="0070C0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2376"/>
              </p:ext>
            </p:extLst>
          </p:nvPr>
        </p:nvGraphicFramePr>
        <p:xfrm>
          <a:off x="146115" y="923888"/>
          <a:ext cx="11227326" cy="245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2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2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8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1205">
                <a:tc>
                  <a:txBody>
                    <a:bodyPr/>
                    <a:lstStyle/>
                    <a:p>
                      <a:r>
                        <a:rPr lang="ru-RU" dirty="0"/>
                        <a:t>контейнер </a:t>
                      </a:r>
                      <a:r>
                        <a:rPr lang="ru-RU" dirty="0" err="1"/>
                        <a:t>std</a:t>
                      </a:r>
                      <a:r>
                        <a:rPr lang="ru-RU" dirty="0"/>
                        <a:t>::</a:t>
                      </a:r>
                      <a:r>
                        <a:rPr lang="ru-RU" dirty="0" err="1"/>
                        <a:t>set</a:t>
                      </a:r>
                      <a:r>
                        <a:rPr lang="ru-RU" dirty="0"/>
                        <a:t>, который реализует множество на основе сбалансированного дерева (обычно красно-чёрного)</a:t>
                      </a:r>
                    </a:p>
                    <a:p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u="none" dirty="0"/>
                        <a:t>контейнер</a:t>
                      </a:r>
                      <a:r>
                        <a:rPr lang="ru-RU" b="1" u="sng" dirty="0"/>
                        <a:t> </a:t>
                      </a:r>
                      <a:r>
                        <a:rPr lang="ru-RU" b="1" u="sng" dirty="0" err="1"/>
                        <a:t>std</a:t>
                      </a:r>
                      <a:r>
                        <a:rPr lang="ru-RU" b="1" u="sng" dirty="0"/>
                        <a:t>::</a:t>
                      </a:r>
                      <a:r>
                        <a:rPr lang="ru-RU" b="1" u="sng" dirty="0" err="1"/>
                        <a:t>unordered_set</a:t>
                      </a:r>
                      <a:r>
                        <a:rPr lang="ru-RU" b="1" u="sng" dirty="0"/>
                        <a:t>, построенный на базе хеш-таблицы</a:t>
                      </a:r>
                      <a:r>
                        <a:rPr lang="ru-RU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интерфейс </a:t>
                      </a:r>
                      <a:r>
                        <a:rPr lang="ru-RU" dirty="0" err="1"/>
                        <a:t>Set</a:t>
                      </a:r>
                      <a:r>
                        <a:rPr lang="ru-RU" dirty="0"/>
                        <a:t>, у которого есть несколько реализаций, среди которых классы </a:t>
                      </a:r>
                      <a:r>
                        <a:rPr lang="ru-RU" dirty="0" err="1"/>
                        <a:t>TreeSet</a:t>
                      </a:r>
                      <a:r>
                        <a:rPr lang="ru-RU" dirty="0"/>
                        <a:t> (работает на основе красно-чёрного дерева)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интерфейс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u="sng" dirty="0" err="1">
                          <a:solidFill>
                            <a:schemeClr val="tx1"/>
                          </a:solidFill>
                        </a:rPr>
                        <a:t>HashSet</a:t>
                      </a:r>
                      <a:r>
                        <a:rPr lang="ru-RU" b="1" u="sng" dirty="0">
                          <a:solidFill>
                            <a:schemeClr val="tx1"/>
                          </a:solidFill>
                        </a:rPr>
                        <a:t> (на основе хеш-таблицы)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нет готового класса множества, построенного на сбалансированных деревьях.</a:t>
                      </a:r>
                    </a:p>
                    <a:p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встроенный тип </a:t>
                      </a:r>
                      <a:r>
                        <a:rPr lang="ru-RU" b="1" u="sng" dirty="0" err="1"/>
                        <a:t>set</a:t>
                      </a:r>
                      <a:r>
                        <a:rPr lang="ru-RU" b="1" u="sng" dirty="0"/>
                        <a:t>, использующий хеширование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Заголовок 1"/>
          <p:cNvSpPr txBox="1">
            <a:spLocks/>
          </p:cNvSpPr>
          <p:nvPr/>
        </p:nvSpPr>
        <p:spPr>
          <a:xfrm>
            <a:off x="5284114" y="3356495"/>
            <a:ext cx="6089327" cy="388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rgbClr val="0070C0"/>
                </a:solidFill>
              </a:rPr>
              <a:t>Абстрактный тип данных: ассоциативный массив (</a:t>
            </a:r>
            <a:r>
              <a:rPr lang="en-US" sz="2000" b="1" dirty="0">
                <a:solidFill>
                  <a:srgbClr val="0070C0"/>
                </a:solidFill>
              </a:rPr>
              <a:t>map)</a:t>
            </a:r>
            <a:endParaRPr lang="ru-RU" sz="2000" dirty="0">
              <a:solidFill>
                <a:srgbClr val="0070C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2080" y="558"/>
            <a:ext cx="115932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Структуры данных на основе хеш-таблиц реализованы в стандартных библиотеках всех широко используемых языков программирования. </a:t>
            </a:r>
          </a:p>
        </p:txBody>
      </p:sp>
    </p:spTree>
    <p:extLst>
      <p:ext uri="{BB962C8B-B14F-4D97-AF65-F5344CB8AC3E}">
        <p14:creationId xmlns:p14="http://schemas.microsoft.com/office/powerpoint/2010/main" val="282368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284969" y="1415945"/>
                <a:ext cx="1154044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Для простоты будем считать, что ключи являются целыми числами из диапазона </a:t>
                </a:r>
                <a:r>
                  <a:rPr lang="ru-RU" sz="2400" b="1" dirty="0"/>
                  <a:t>[0, </a:t>
                </a:r>
                <a:r>
                  <a:rPr lang="ru-RU" sz="2400" b="1" i="1" dirty="0"/>
                  <a:t>N</a:t>
                </a:r>
                <a:r>
                  <a:rPr lang="ru-RU" sz="2400" b="1" dirty="0"/>
                  <a:t>) </a:t>
                </a:r>
                <a:r>
                  <a:rPr lang="ru-RU" sz="2400" dirty="0"/>
                  <a:t>и обозначим через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ru-RU" sz="2400" b="1" dirty="0">
                    <a:latin typeface="Consolas" panose="020B0609020204030204" pitchFamily="49" charset="0"/>
                  </a:rPr>
                  <a:t> </a:t>
                </a:r>
                <a:r>
                  <a:rPr lang="ru-RU" sz="2400" dirty="0"/>
                  <a:t>множество возможных ключей: </a:t>
                </a:r>
                <a:endParaRPr lang="ru-RU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, . . . , 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b="1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69" y="1415945"/>
                <a:ext cx="11540447" cy="1569660"/>
              </a:xfrm>
              <a:prstGeom prst="rect">
                <a:avLst/>
              </a:prstGeom>
              <a:blipFill>
                <a:blip r:embed="rId2"/>
                <a:stretch>
                  <a:fillRect l="-845" t="-310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212556" y="2971040"/>
                <a:ext cx="8785654" cy="3231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dirty="0"/>
                  <a:t>На практике  множество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обычно довольно большое. </a:t>
                </a:r>
                <a:endParaRPr lang="en-US" sz="2000" dirty="0"/>
              </a:p>
              <a:p>
                <a:endParaRPr lang="en-US" sz="2000" dirty="0"/>
              </a:p>
              <a:p>
                <a:r>
                  <a:rPr lang="ru-RU" sz="2000" dirty="0"/>
                  <a:t>Часто в качестве ключей в промышленном программировании применяются 32-битные или 64-битные целые числа, т. е. </a:t>
                </a:r>
                <a:endParaRPr lang="en-US" sz="2000" dirty="0"/>
              </a:p>
              <a:p>
                <a:endParaRPr lang="ru-RU" sz="2000" i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1" i="1" dirty="0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ru-RU" sz="20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ru-RU" sz="20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ru-RU" sz="2000" b="1" i="1" dirty="0" smtClean="0">
                              <a:latin typeface="Cambria Math" panose="02040503050406030204" pitchFamily="18" charset="0"/>
                            </a:rPr>
                            <m:t>𝟑𝟐</m:t>
                          </m:r>
                        </m:sup>
                      </m:sSup>
                      <m:r>
                        <a:rPr lang="ru-RU" sz="2000" b="1" i="1" dirty="0" smtClean="0">
                          <a:latin typeface="Cambria Math" panose="02040503050406030204" pitchFamily="18" charset="0"/>
                        </a:rPr>
                        <m:t> ≈ </m:t>
                      </m:r>
                      <m:r>
                        <a:rPr lang="ru-RU" sz="2000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ru-RU" sz="20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0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ru-RU" sz="2000" b="1" i="1" dirty="0" smtClean="0">
                          <a:latin typeface="Cambria Math" panose="02040503050406030204" pitchFamily="18" charset="0"/>
                        </a:rPr>
                        <m:t> · </m:t>
                      </m:r>
                      <m:sSup>
                        <m:sSupPr>
                          <m:ctrlPr>
                            <a:rPr lang="ru-RU" sz="20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ru-RU" sz="2000" b="1" i="1" dirty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lang="en-US" sz="2000" b="1" dirty="0"/>
              </a:p>
              <a:p>
                <a:endParaRPr lang="ru-RU" sz="2000" dirty="0"/>
              </a:p>
              <a:p>
                <a:pPr lvl="1"/>
                <a:r>
                  <a:rPr lang="ru-RU" sz="2000" dirty="0"/>
                  <a:t>или</a:t>
                </a:r>
                <a:endParaRPr lang="en-US" sz="2000" dirty="0"/>
              </a:p>
              <a:p>
                <a:endParaRPr lang="ru-RU" sz="2000" i="1" dirty="0"/>
              </a:p>
              <a:p>
                <a:pPr algn="ctr"/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ru-RU" sz="2000" b="1" i="1" dirty="0" smtClean="0">
                            <a:latin typeface="Cambria Math" panose="02040503050406030204" pitchFamily="18" charset="0"/>
                          </a:rPr>
                          <m:t>𝟔𝟒</m:t>
                        </m:r>
                      </m:sup>
                    </m:sSup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 · </m:t>
                    </m:r>
                    <m:sSup>
                      <m:sSupPr>
                        <m:ctrlPr>
                          <a:rPr lang="ru-RU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1" i="1" dirty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ru-RU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ru-RU" sz="2000" b="1" i="1" dirty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ru-RU" sz="2000" b="1" i="0" dirty="0">
                    <a:latin typeface="+mj-lt"/>
                  </a:rPr>
                  <a:t> </a:t>
                </a:r>
                <a:r>
                  <a:rPr lang="ru-RU" sz="2000" i="0" dirty="0">
                    <a:latin typeface="+mj-lt"/>
                  </a:rPr>
                  <a:t>.</a:t>
                </a:r>
                <a:endParaRPr lang="ru-RU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556" y="2971040"/>
                <a:ext cx="8785654" cy="3231654"/>
              </a:xfrm>
              <a:prstGeom prst="rect">
                <a:avLst/>
              </a:prstGeom>
              <a:blipFill>
                <a:blip r:embed="rId3"/>
                <a:stretch>
                  <a:fillRect l="-763" t="-942" b="-94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Заголовок 1"/>
          <p:cNvSpPr txBox="1">
            <a:spLocks/>
          </p:cNvSpPr>
          <p:nvPr/>
        </p:nvSpPr>
        <p:spPr>
          <a:xfrm>
            <a:off x="2974493" y="150224"/>
            <a:ext cx="6089327" cy="3886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/>
              <a:t>Устройство хеш-таблицы</a:t>
            </a:r>
          </a:p>
        </p:txBody>
      </p:sp>
    </p:spTree>
    <p:extLst>
      <p:ext uri="{BB962C8B-B14F-4D97-AF65-F5344CB8AC3E}">
        <p14:creationId xmlns:p14="http://schemas.microsoft.com/office/powerpoint/2010/main" val="395514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1353" y="149652"/>
            <a:ext cx="3509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1. Прямая адресация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24702" y="837479"/>
            <a:ext cx="11315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Если достаточно памяти для массива, число элементов которого равно числу всех возможных ключей, то для каждого возможного ключа можно отвести ячейку в этом массиве.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524702" y="2089204"/>
                <a:ext cx="1131536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:r>
                  <a:rPr lang="ru-RU" sz="2400" dirty="0"/>
                  <a:t>Имеем булев массив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ru-RU" sz="2400" dirty="0"/>
                  <a:t> размера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ru-RU" sz="2400" dirty="0"/>
                  <a:t>, называемый </a:t>
                </a:r>
                <a:r>
                  <a:rPr lang="ru-RU" sz="2400" b="1" dirty="0"/>
                  <a:t>таблицей с прямой адресацией</a:t>
                </a:r>
                <a:r>
                  <a:rPr lang="ru-RU" sz="2400" dirty="0"/>
                  <a:t>, в котором </a:t>
                </a:r>
                <a:r>
                  <a:rPr lang="ru-RU" sz="2400" b="1" dirty="0">
                    <a:latin typeface="Consolas" panose="020B0609020204030204" pitchFamily="49" charset="0"/>
                  </a:rPr>
                  <a:t>элемент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ru-RU" sz="2400" b="1" i="1" baseline="-25000" dirty="0" err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ru-RU" sz="2400" b="1" dirty="0">
                    <a:latin typeface="Consolas" panose="020B0609020204030204" pitchFamily="49" charset="0"/>
                  </a:rPr>
                  <a:t> </a:t>
                </a:r>
                <a:r>
                  <a:rPr lang="ru-RU" sz="2400" dirty="0"/>
                  <a:t>содержит истинное значение, если ключ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ru-RU" sz="2400" b="1" dirty="0">
                    <a:latin typeface="Consolas" panose="020B0609020204030204" pitchFamily="49" charset="0"/>
                  </a:rPr>
                  <a:t> </a:t>
                </a:r>
                <a:r>
                  <a:rPr lang="ru-RU" sz="2400" dirty="0"/>
                  <a:t>входит в множество, и ложное значение, если ключ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ru-RU" sz="2400" dirty="0"/>
                  <a:t> в множестве отсутствует.</a:t>
                </a: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02" y="2089204"/>
                <a:ext cx="11315362" cy="1200329"/>
              </a:xfrm>
              <a:prstGeom prst="rect">
                <a:avLst/>
              </a:prstGeom>
              <a:blipFill>
                <a:blip r:embed="rId2"/>
                <a:stretch>
                  <a:fillRect t="-4061" r="-862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198709" y="4838766"/>
            <a:ext cx="3900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- добавление ключа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- проверка наличия ключа</a:t>
            </a:r>
            <a:r>
              <a:rPr lang="en-US" sz="2400" dirty="0"/>
              <a:t>;</a:t>
            </a:r>
            <a:r>
              <a:rPr lang="ru-RU" sz="2400" dirty="0"/>
              <a:t> </a:t>
            </a:r>
          </a:p>
          <a:p>
            <a:r>
              <a:rPr lang="ru-RU" sz="2400" dirty="0"/>
              <a:t>- удаление ключа.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58336" y="5208098"/>
            <a:ext cx="1991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базовые</a:t>
            </a:r>
            <a:r>
              <a:rPr lang="ru-RU" dirty="0"/>
              <a:t> </a:t>
            </a:r>
            <a:r>
              <a:rPr lang="ru-RU" sz="2400" dirty="0"/>
              <a:t>операции</a:t>
            </a:r>
            <a:r>
              <a:rPr lang="ru-RU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3801866"/>
                  </p:ext>
                </p:extLst>
              </p:nvPr>
            </p:nvGraphicFramePr>
            <p:xfrm>
              <a:off x="2082798" y="3425887"/>
              <a:ext cx="8026403" cy="88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66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386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11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3801866"/>
                  </p:ext>
                </p:extLst>
              </p:nvPr>
            </p:nvGraphicFramePr>
            <p:xfrm>
              <a:off x="2082798" y="3425887"/>
              <a:ext cx="8026403" cy="88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66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32" t="-2000" r="-602128" b="-1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00" r="-498942" b="-1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64" t="-2000" r="-401596" b="-1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64" t="-2000" r="-301596" b="-1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8413" t="-2000" r="-100529" b="-1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1596" t="-2000" r="-1064" b="-19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807310" y="5161931"/>
                <a:ext cx="9124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𝚶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310" y="5161931"/>
                <a:ext cx="91248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9206144" y="149651"/>
                <a:ext cx="287901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. . . 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144" y="149651"/>
                <a:ext cx="2879019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57300" y="3770171"/>
                <a:ext cx="4558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300" y="3770171"/>
                <a:ext cx="45589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23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10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91991" y="1651018"/>
            <a:ext cx="111660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/>
              <a:t>размер таблицы с прямой адресацией не зависит от того, сколько элементов реально содержится в множестве</a:t>
            </a:r>
            <a:r>
              <a:rPr lang="en-US" sz="2000" dirty="0"/>
              <a:t>;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61334" y="3015063"/>
                <a:ext cx="1168635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если множество </a:t>
                </a:r>
                <a:r>
                  <a:rPr lang="ru-RU" sz="2000" b="1" dirty="0">
                    <a:latin typeface="Consolas" panose="020B0609020204030204" pitchFamily="49" charset="0"/>
                  </a:rPr>
                  <a:t>K</a:t>
                </a:r>
                <a:r>
                  <a:rPr lang="ru-RU" sz="2000" dirty="0"/>
                  <a:t> всевозможных ключей велико, то хранить в памяти массив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ru-RU" sz="2000" dirty="0"/>
                  <a:t> размера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непрактично, а то и невозможно:</a:t>
                </a: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34" y="3015063"/>
                <a:ext cx="11686358" cy="707886"/>
              </a:xfrm>
              <a:prstGeom prst="rect">
                <a:avLst/>
              </a:prstGeom>
              <a:blipFill>
                <a:blip r:embed="rId2"/>
                <a:stretch>
                  <a:fillRect l="-469" t="-5172" b="-1465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69203" y="2358203"/>
                <a:ext cx="1168635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если число реально присутствующих в таблице записей мало по сравнению с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ru-RU" sz="2000" dirty="0"/>
                  <a:t>, то много памяти тратится зря</a:t>
                </a:r>
                <a:r>
                  <a:rPr lang="en-US" sz="2000" dirty="0"/>
                  <a:t>;</a:t>
                </a:r>
                <a:endParaRPr lang="ru-RU" sz="20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03" y="2358203"/>
                <a:ext cx="11686358" cy="707886"/>
              </a:xfrm>
              <a:prstGeom prst="rect">
                <a:avLst/>
              </a:prstGeom>
              <a:blipFill>
                <a:blip r:embed="rId3"/>
                <a:stretch>
                  <a:fillRect l="-469" t="-5172" b="-1465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96735" y="149652"/>
            <a:ext cx="5036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Недостатки прямой адресации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201480" y="5885561"/>
                <a:ext cx="1183389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000" b="1" dirty="0"/>
                  <a:t>Тем не менее при сравнительно небольших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ru-RU" sz="2000" b="1" dirty="0"/>
                  <a:t> метод прямой адресации успешно используется на практике.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80" y="5885561"/>
                <a:ext cx="11833890" cy="707886"/>
              </a:xfrm>
              <a:prstGeom prst="rect">
                <a:avLst/>
              </a:prstGeom>
              <a:blipFill>
                <a:blip r:embed="rId4"/>
                <a:stretch>
                  <a:fillRect l="-515" t="-4274" r="-567" b="-1367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D743D557-1407-4FA0-9B16-350DD50A7A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334637"/>
                  </p:ext>
                </p:extLst>
              </p:nvPr>
            </p:nvGraphicFramePr>
            <p:xfrm>
              <a:off x="917489" y="667001"/>
              <a:ext cx="8026403" cy="88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66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386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11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D743D557-1407-4FA0-9B16-350DD50A7A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334637"/>
                  </p:ext>
                </p:extLst>
              </p:nvPr>
            </p:nvGraphicFramePr>
            <p:xfrm>
              <a:off x="917489" y="667001"/>
              <a:ext cx="8026403" cy="88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66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1466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2" t="-2000" r="-602128" b="-19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2000" r="-498942" b="-19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064" t="-2000" r="-401596" b="-19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064" t="-2000" r="-301596" b="-19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413" t="-2000" r="-100529" b="-19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1596" t="-2000" r="-1064" b="-19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False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True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3E808B-83CD-4A50-BE10-89BDCF29EB7A}"/>
                  </a:ext>
                </a:extLst>
              </p:cNvPr>
              <p:cNvSpPr txBox="1"/>
              <p:nvPr/>
            </p:nvSpPr>
            <p:spPr>
              <a:xfrm>
                <a:off x="391991" y="1011285"/>
                <a:ext cx="4558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3E808B-83CD-4A50-BE10-89BDCF29E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91" y="1011285"/>
                <a:ext cx="45589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8A2C4EBC-49C9-4368-8AAD-DAF680FFCBCC}"/>
                  </a:ext>
                </a:extLst>
              </p:cNvPr>
              <p:cNvSpPr/>
              <p:nvPr/>
            </p:nvSpPr>
            <p:spPr>
              <a:xfrm>
                <a:off x="9277166" y="149651"/>
                <a:ext cx="280799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. . . 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8A2C4EBC-49C9-4368-8AAD-DAF680FFC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166" y="149651"/>
                <a:ext cx="2807998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31F507A-CE40-4140-A45D-9B8C45BFF22A}"/>
              </a:ext>
            </a:extLst>
          </p:cNvPr>
          <p:cNvGrpSpPr/>
          <p:nvPr/>
        </p:nvGrpSpPr>
        <p:grpSpPr>
          <a:xfrm>
            <a:off x="1103589" y="3773274"/>
            <a:ext cx="10931784" cy="2112428"/>
            <a:chOff x="788959" y="3722949"/>
            <a:chExt cx="10931784" cy="21124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Прямоугольник 8"/>
                <p:cNvSpPr/>
                <p:nvPr/>
              </p:nvSpPr>
              <p:spPr>
                <a:xfrm>
                  <a:off x="788959" y="3773274"/>
                  <a:ext cx="10931784" cy="20621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ru-RU" sz="1600" dirty="0"/>
                    <a:t>Минимальным адресуемым набором данных в современных компьютерах является один байт, состоящий из восьми битов. </a:t>
                  </a:r>
                  <a:endParaRPr lang="en-US" sz="1600" dirty="0"/>
                </a:p>
                <a:p>
                  <a:pPr algn="just"/>
                  <a:r>
                    <a:rPr lang="ru-RU" sz="1600" dirty="0"/>
                    <a:t>Не представляет трудности реализовать таблицу с прямой адресацией так, чтобы каждый бит был использован для хранения одной ячейки. </a:t>
                  </a:r>
                  <a:endParaRPr lang="en-US" sz="1600" dirty="0"/>
                </a:p>
                <a:p>
                  <a:pPr algn="just"/>
                  <a:r>
                    <a:rPr lang="ru-RU" sz="1600" dirty="0"/>
                    <a:t>Если </a:t>
                  </a:r>
                  <a14:m>
                    <m:oMath xmlns:m="http://schemas.openxmlformats.org/officeDocument/2006/math">
                      <m:r>
                        <a:rPr lang="ru-RU" sz="1600" i="1" dirty="0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ru-RU" sz="1600" dirty="0"/>
                    <a:t> — мощность множества возможных ключей, то для прямой адресации требуется выделить последовательный блок из как минимум N бит памяти. Так, </a:t>
                  </a:r>
                  <a:r>
                    <a:rPr lang="ru-RU" sz="1600" b="1" u="sng" dirty="0"/>
                    <a:t>для размеров множества </a:t>
                  </a:r>
                  <a14:m>
                    <m:oMath xmlns:m="http://schemas.openxmlformats.org/officeDocument/2006/math">
                      <m:r>
                        <a:rPr lang="ru-RU" sz="1600" b="1" i="1" u="sng" dirty="0" smtClean="0">
                          <a:latin typeface="Cambria Math" panose="02040503050406030204" pitchFamily="18" charset="0"/>
                        </a:rPr>
                        <m:t>𝑲</m:t>
                      </m:r>
                    </m:oMath>
                  </a14:m>
                  <a:r>
                    <a:rPr lang="ru-RU" sz="1600" b="1" u="sng" dirty="0"/>
                    <a:t> в 10</a:t>
                  </a:r>
                  <a:r>
                    <a:rPr lang="ru-RU" sz="1600" b="1" u="sng" baseline="30000" dirty="0"/>
                    <a:t>9</a:t>
                  </a:r>
                  <a:r>
                    <a:rPr lang="ru-RU" sz="1600" b="1" u="sng" dirty="0"/>
                    <a:t> элементов таблица займёт около 120 МБ памяти</a:t>
                  </a:r>
                  <a:r>
                    <a:rPr lang="en-US" sz="1600" b="1" u="sng" dirty="0"/>
                    <a:t> </a:t>
                  </a:r>
                  <a:br>
                    <a:rPr lang="ru-RU" sz="1600" dirty="0"/>
                  </a:br>
                  <a:r>
                    <a:rPr lang="en-US" sz="1600" dirty="0"/>
                    <a:t>(</a:t>
                  </a:r>
                  <a:r>
                    <a:rPr lang="ru-RU" sz="1600" dirty="0"/>
                    <a:t>10</a:t>
                  </a:r>
                  <a:r>
                    <a:rPr lang="ru-RU" sz="1600" baseline="30000" dirty="0"/>
                    <a:t>9</a:t>
                  </a:r>
                  <a:r>
                    <a:rPr lang="en-US" sz="1600" baseline="30000" dirty="0"/>
                    <a:t> </a:t>
                  </a:r>
                  <a:r>
                    <a:rPr lang="ru-RU" sz="1600" dirty="0"/>
                    <a:t>бит≈1,2*10</a:t>
                  </a:r>
                  <a:r>
                    <a:rPr lang="ru-RU" sz="1600" baseline="30000" dirty="0"/>
                    <a:t>8</a:t>
                  </a:r>
                  <a:r>
                    <a:rPr lang="ru-RU" sz="1600" dirty="0"/>
                    <a:t> байт=120*10</a:t>
                  </a:r>
                  <a:r>
                    <a:rPr lang="ru-RU" sz="1600" baseline="30000" dirty="0"/>
                    <a:t>6</a:t>
                  </a:r>
                  <a:r>
                    <a:rPr lang="ru-RU" sz="1600" dirty="0"/>
                    <a:t> байт=120 Мбайт). </a:t>
                  </a:r>
                </a:p>
                <a:p>
                  <a:pPr algn="just"/>
                  <a:r>
                    <a:rPr lang="ru-RU" sz="1600" dirty="0"/>
                    <a:t>Во многих случаях такой расход памяти неприемлем, особенно когда есть необходимость создавать несколько таблиц. </a:t>
                  </a:r>
                </a:p>
              </p:txBody>
            </p:sp>
          </mc:Choice>
          <mc:Fallback xmlns="">
            <p:sp>
              <p:nvSpPr>
                <p:cNvPr id="9" name="Прямоугольник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959" y="3773274"/>
                  <a:ext cx="10931784" cy="2062103"/>
                </a:xfrm>
                <a:prstGeom prst="rect">
                  <a:avLst/>
                </a:prstGeom>
                <a:blipFill>
                  <a:blip r:embed="rId8"/>
                  <a:stretch>
                    <a:fillRect l="-279" t="-885" r="-335" b="-2655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51289E85-C9F7-4443-93CD-22B44E61D415}"/>
                </a:ext>
              </a:extLst>
            </p:cNvPr>
            <p:cNvCxnSpPr/>
            <p:nvPr/>
          </p:nvCxnSpPr>
          <p:spPr>
            <a:xfrm>
              <a:off x="791133" y="3722949"/>
              <a:ext cx="0" cy="20619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264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3759" y="370703"/>
            <a:ext cx="4904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2. Хеш-функция </a:t>
            </a:r>
            <a:r>
              <a:rPr lang="ru-RU" sz="2000" dirty="0"/>
              <a:t>(англ. </a:t>
            </a:r>
            <a:r>
              <a:rPr lang="ru-RU" sz="2000" i="1" dirty="0" err="1"/>
              <a:t>hash</a:t>
            </a:r>
            <a:r>
              <a:rPr lang="ru-RU" sz="2000" i="1" dirty="0"/>
              <a:t> </a:t>
            </a:r>
            <a:r>
              <a:rPr lang="ru-RU" sz="2000" i="1" dirty="0" err="1"/>
              <a:t>function</a:t>
            </a:r>
            <a:r>
              <a:rPr lang="ru-RU" sz="2000" dirty="0"/>
              <a:t>)</a:t>
            </a:r>
            <a:endParaRPr lang="ru-RU" sz="2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996778" y="1180237"/>
                <a:ext cx="10362522" cy="1692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Введём некоторую функцию, называемую </a:t>
                </a:r>
                <a:r>
                  <a:rPr lang="ru-RU" sz="2400" b="1" dirty="0"/>
                  <a:t>хеш-функцией</a:t>
                </a:r>
                <a:r>
                  <a:rPr lang="ru-RU" sz="2400" dirty="0"/>
                  <a:t>, которая </a:t>
                </a:r>
                <a:r>
                  <a:rPr lang="ru-RU" sz="2400" u="sng" dirty="0"/>
                  <a:t>отображает множество ключей в некоторое гораздо более узкое множество</a:t>
                </a:r>
                <a:r>
                  <a:rPr lang="ru-RU" sz="2400" dirty="0"/>
                  <a:t>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 : {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, . . . , 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} → {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. . . , 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}, </m:t>
                      </m:r>
                    </m:oMath>
                  </m:oMathPara>
                </a14:m>
                <a:endParaRPr lang="ru-RU" sz="24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ru-RU" sz="2800" b="1" i="1" dirty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ru-RU" sz="2800" b="1" i="1" dirty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RU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ru-RU" sz="2800" b="1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sz="2400" b="1" i="1" dirty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78" y="1180237"/>
                <a:ext cx="10362522" cy="1692771"/>
              </a:xfrm>
              <a:prstGeom prst="rect">
                <a:avLst/>
              </a:prstGeom>
              <a:blipFill>
                <a:blip r:embed="rId2"/>
                <a:stretch>
                  <a:fillRect l="-942" t="-2888" r="-5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9187113" y="27492"/>
                <a:ext cx="28071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, . . . ,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113" y="27492"/>
                <a:ext cx="2807179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996777" y="2749897"/>
                <a:ext cx="106803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Величина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называется </a:t>
                </a:r>
                <a:r>
                  <a:rPr lang="ru-RU" sz="2400" b="1" dirty="0" err="1"/>
                  <a:t>хеш</a:t>
                </a:r>
                <a:r>
                  <a:rPr lang="ru-RU" sz="2400" b="1" dirty="0"/>
                  <a:t>-значением</a:t>
                </a:r>
                <a:r>
                  <a:rPr lang="ru-RU" sz="2400" dirty="0"/>
                  <a:t> (</a:t>
                </a:r>
                <a:r>
                  <a:rPr lang="ru-RU" sz="2000" dirty="0"/>
                  <a:t>англ</a:t>
                </a:r>
                <a:r>
                  <a:rPr lang="ru-RU" sz="2400" dirty="0"/>
                  <a:t>. </a:t>
                </a:r>
                <a:r>
                  <a:rPr lang="ru-RU" dirty="0" err="1"/>
                  <a:t>hash</a:t>
                </a:r>
                <a:r>
                  <a:rPr lang="ru-RU" dirty="0"/>
                  <a:t> </a:t>
                </a:r>
                <a:r>
                  <a:rPr lang="ru-RU" dirty="0" err="1"/>
                  <a:t>value</a:t>
                </a:r>
                <a:r>
                  <a:rPr lang="ru-RU" sz="2400" dirty="0"/>
                  <a:t>) ключа</a:t>
                </a:r>
                <a:r>
                  <a:rPr lang="ru-RU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.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77" y="2749897"/>
                <a:ext cx="10680357" cy="461665"/>
              </a:xfrm>
              <a:prstGeom prst="rect">
                <a:avLst/>
              </a:prstGeom>
              <a:blipFill>
                <a:blip r:embed="rId4"/>
                <a:stretch>
                  <a:fillRect l="-913" t="-10526" b="-2894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996777" y="3328598"/>
            <a:ext cx="109975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Далее вместо того, чтобы работать с ключами, мы работаем с </a:t>
            </a:r>
            <a:r>
              <a:rPr lang="ru-RU" sz="2400" dirty="0" err="1"/>
              <a:t>хеш</a:t>
            </a:r>
            <a:r>
              <a:rPr lang="ru-RU" sz="2400" dirty="0"/>
              <a:t>-значениями.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996777" y="4070502"/>
                <a:ext cx="1091705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Если разные ключи получают одинаковые </a:t>
                </a:r>
                <a:r>
                  <a:rPr lang="ru-RU" sz="2400" dirty="0" err="1"/>
                  <a:t>хеш</a:t>
                </a:r>
                <a:r>
                  <a:rPr lang="ru-RU" sz="2400" dirty="0"/>
                  <a:t>-значения: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  ≠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endParaRPr lang="ru-RU" sz="2400" dirty="0"/>
              </a:p>
              <a:p>
                <a:pPr algn="just"/>
                <a:r>
                  <a:rPr lang="ru-RU" sz="2400" dirty="0"/>
                  <a:t>то говорят, что произошла </a:t>
                </a:r>
                <a:r>
                  <a:rPr lang="ru-RU" sz="2400" b="1" dirty="0"/>
                  <a:t>коллизия</a:t>
                </a:r>
                <a:r>
                  <a:rPr lang="ru-RU" sz="2400" dirty="0"/>
                  <a:t> (</a:t>
                </a:r>
                <a:r>
                  <a:rPr lang="ru-RU" dirty="0"/>
                  <a:t>англ.  </a:t>
                </a:r>
                <a:r>
                  <a:rPr lang="ru-RU" sz="2400" dirty="0" err="1"/>
                  <a:t>collisions</a:t>
                </a:r>
                <a:r>
                  <a:rPr lang="ru-RU" sz="2400" dirty="0"/>
                  <a:t>). 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77" y="4070502"/>
                <a:ext cx="10917056" cy="830997"/>
              </a:xfrm>
              <a:prstGeom prst="rect">
                <a:avLst/>
              </a:prstGeom>
              <a:blipFill>
                <a:blip r:embed="rId5"/>
                <a:stretch>
                  <a:fillRect l="-894" t="-5882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Прямоугольник 7"/>
              <p:cNvSpPr/>
              <p:nvPr/>
            </p:nvSpPr>
            <p:spPr>
              <a:xfrm>
                <a:off x="6664410" y="5009969"/>
                <a:ext cx="532988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Хотелось бы выбрать хеш-функцию так, чтобы коллизии были невозможны. Но в общем случае при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это неосуществимо: согласно принципу Дирихле (1834 г.), нельзя построить инъективное отображение из большего множества в меньшее.</a:t>
                </a:r>
              </a:p>
            </p:txBody>
          </p:sp>
        </mc:Choice>
        <mc:Fallback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410" y="5009969"/>
                <a:ext cx="5329882" cy="1477328"/>
              </a:xfrm>
              <a:prstGeom prst="rect">
                <a:avLst/>
              </a:prstGeom>
              <a:blipFill>
                <a:blip r:embed="rId6"/>
                <a:stretch>
                  <a:fillRect l="-914" t="-2479" r="-1257" b="-57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61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043727" y="3007030"/>
            <a:ext cx="7465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является вполне годной для практики хеш-функцией и часто применяется</a:t>
            </a:r>
            <a:r>
              <a:rPr lang="en-US" dirty="0"/>
              <a:t>;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081896" y="253092"/>
            <a:ext cx="7465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любая пара различных ключей будет давать коллизию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ru-RU" dirty="0"/>
              <a:t>такая хеш-функция бесполезна несмотря на то, что она простая и быстро вычисляется</a:t>
            </a:r>
            <a:r>
              <a:rPr lang="en-US" dirty="0"/>
              <a:t>;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81896" y="1611969"/>
            <a:ext cx="7465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 может быть использована как хеш-функция, потому что хеш-функция обязана для равных ключей возвращать одинаковые значения</a:t>
            </a:r>
            <a:r>
              <a:rPr lang="en-US" dirty="0"/>
              <a:t>;</a:t>
            </a:r>
            <a:r>
              <a:rPr lang="ru-RU" dirty="0"/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12668" y="2137376"/>
            <a:ext cx="343105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/>
              <a:t>всякий раз возвращает случайное число от 0 до M − 1 включительно, выбранное равновероятно независимо от x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35604" y="1426514"/>
            <a:ext cx="114773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199107" y="2914761"/>
            <a:ext cx="11575697" cy="16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711738" y="4007705"/>
            <a:ext cx="2964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возвращает остаток от деления ключа x на M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043727" y="4628487"/>
            <a:ext cx="74650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 качестве </a:t>
            </a:r>
            <a:r>
              <a:rPr lang="ru-RU" i="1" dirty="0"/>
              <a:t>М</a:t>
            </a:r>
            <a:r>
              <a:rPr lang="ru-RU" dirty="0"/>
              <a:t>  предпочтителен выбор простого числа, далеко отстоящего от степени 2</a:t>
            </a:r>
            <a:r>
              <a:rPr lang="en-US" dirty="0"/>
              <a:t>;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043727" y="3610411"/>
            <a:ext cx="74650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если ключи возникают, как десятичные числа, то нежелательно выбирать в качестве </a:t>
            </a:r>
            <a:r>
              <a:rPr lang="en-US" i="1" dirty="0"/>
              <a:t>M</a:t>
            </a:r>
            <a:r>
              <a:rPr lang="en-US" dirty="0"/>
              <a:t> </a:t>
            </a:r>
            <a:r>
              <a:rPr lang="ru-RU" dirty="0"/>
              <a:t>степень 10</a:t>
            </a:r>
            <a:r>
              <a:rPr lang="en-US" dirty="0"/>
              <a:t> </a:t>
            </a:r>
            <a:r>
              <a:rPr lang="en-US" sz="1200" dirty="0"/>
              <a:t>(</a:t>
            </a:r>
            <a:r>
              <a:rPr lang="ru-RU" sz="1200" dirty="0"/>
              <a:t>т.к. в этом случае окажется, что часть цифр числа уже полностью определяют </a:t>
            </a:r>
            <a:r>
              <a:rPr lang="ru-RU" sz="1200" dirty="0" err="1"/>
              <a:t>хеш</a:t>
            </a:r>
            <a:r>
              <a:rPr lang="ru-RU" sz="1200" dirty="0"/>
              <a:t>-значение)</a:t>
            </a:r>
            <a:r>
              <a:rPr lang="en-US" dirty="0"/>
              <a:t>;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12668" y="3052115"/>
            <a:ext cx="2149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деление с остатком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 flipV="1">
            <a:off x="369341" y="5310400"/>
            <a:ext cx="11575697" cy="16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Объект 14"/>
              <p:cNvSpPr txBox="1"/>
              <p:nvPr/>
            </p:nvSpPr>
            <p:spPr>
              <a:xfrm>
                <a:off x="612775" y="1581150"/>
                <a:ext cx="1951038" cy="41116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BY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ru-BY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BY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𝒓𝒂𝒏𝒅</m:t>
                      </m:r>
                      <m:d>
                        <m:d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ru-BY" b="1" dirty="0"/>
              </a:p>
            </p:txBody>
          </p:sp>
        </mc:Choice>
        <mc:Fallback xmlns="">
          <p:sp>
            <p:nvSpPr>
              <p:cNvPr id="15" name="Объект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5" y="1581150"/>
                <a:ext cx="1951038" cy="411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Объект 19"/>
              <p:cNvSpPr txBox="1"/>
              <p:nvPr/>
            </p:nvSpPr>
            <p:spPr>
              <a:xfrm>
                <a:off x="711200" y="3556000"/>
                <a:ext cx="1779588" cy="393700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BY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ru-BY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BY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func>
                        <m:func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BY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</m:fName>
                        <m:e>
                          <m: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func>
                    </m:oMath>
                  </m:oMathPara>
                </a14:m>
                <a:endParaRPr lang="ru-BY" b="1" dirty="0"/>
              </a:p>
            </p:txBody>
          </p:sp>
        </mc:Choice>
        <mc:Fallback xmlns="">
          <p:sp>
            <p:nvSpPr>
              <p:cNvPr id="20" name="Объект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3556000"/>
                <a:ext cx="1779588" cy="393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Объект 21"/>
              <p:cNvSpPr txBox="1"/>
              <p:nvPr/>
            </p:nvSpPr>
            <p:spPr>
              <a:xfrm>
                <a:off x="612775" y="304800"/>
                <a:ext cx="1096963" cy="4540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BY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BY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BY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ru-BY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)≡</m:t>
                      </m:r>
                      <m:r>
                        <a:rPr lang="ru-BY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ru-BY" b="1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2" name="Объект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5" y="304800"/>
                <a:ext cx="1096963" cy="454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49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32" y="162401"/>
            <a:ext cx="5834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Велика ли вероятность коллизий?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-4634" y="646954"/>
                <a:ext cx="872699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000" dirty="0"/>
                  <a:t>Пусть </a:t>
                </a:r>
                <a:r>
                  <a:rPr lang="en-US" sz="2000" dirty="0"/>
                  <a:t> </a:t>
                </a:r>
                <a:r>
                  <a:rPr lang="ru-RU" sz="2000" dirty="0"/>
                  <a:t>осуществляется хеширование для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ru-RU" sz="2000" b="1" dirty="0"/>
                  <a:t> </a:t>
                </a:r>
                <a:r>
                  <a:rPr lang="ru-RU" sz="2000" dirty="0"/>
                  <a:t>различных ключей, т.е. мы </a:t>
                </a:r>
                <a:r>
                  <a:rPr lang="ru-RU" sz="2000" b="1" dirty="0"/>
                  <a:t>строим вектор </a:t>
                </a:r>
                <a:r>
                  <a:rPr lang="ru-RU" sz="2000" dirty="0"/>
                  <a:t>длины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ru-RU" sz="2000" dirty="0"/>
                  <a:t>, где назначаем каждому элементу одно из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значений</a:t>
                </a:r>
                <a:r>
                  <a:rPr lang="en-US" sz="2000" dirty="0"/>
                  <a:t> </a:t>
                </a:r>
                <a:r>
                  <a:rPr lang="ru-RU" sz="2000" dirty="0"/>
                  <a:t>(</a:t>
                </a:r>
                <a:r>
                  <a:rPr lang="ru-RU" sz="1600" dirty="0"/>
                  <a:t>предположим, что </a:t>
                </a:r>
                <a:r>
                  <a:rPr lang="ru-RU" sz="1600" dirty="0" err="1"/>
                  <a:t>хеш</a:t>
                </a:r>
                <a:r>
                  <a:rPr lang="ru-RU" sz="1600" dirty="0"/>
                  <a:t>-значения независимы и распределены идеально равномерно от 0 до </a:t>
                </a:r>
                <a14:m>
                  <m:oMath xmlns:m="http://schemas.openxmlformats.org/officeDocument/2006/math">
                    <m:r>
                      <a:rPr lang="ru-RU" sz="16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ru-RU" sz="1600" i="1" dirty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ru-RU" sz="2000" dirty="0"/>
                  <a:t>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34" y="646954"/>
                <a:ext cx="8726999" cy="1323439"/>
              </a:xfrm>
              <a:prstGeom prst="rect">
                <a:avLst/>
              </a:prstGeom>
              <a:blipFill>
                <a:blip r:embed="rId2"/>
                <a:stretch>
                  <a:fillRect l="-698" t="-2304" r="-768" b="-737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227307"/>
              </p:ext>
            </p:extLst>
          </p:nvPr>
        </p:nvGraphicFramePr>
        <p:xfrm>
          <a:off x="9153427" y="835392"/>
          <a:ext cx="3038575" cy="91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4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8649">
                <a:tc>
                  <a:txBody>
                    <a:bodyPr/>
                    <a:lstStyle/>
                    <a:p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0-й</a:t>
                      </a:r>
                    </a:p>
                    <a:p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ключ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1-й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ключ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2-й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ключ</a:t>
                      </a:r>
                    </a:p>
                    <a:p>
                      <a:endParaRPr lang="ru-RU" sz="10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3-й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ключ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000" i="1" dirty="0">
                          <a:solidFill>
                            <a:schemeClr val="tx1"/>
                          </a:solidFill>
                        </a:rPr>
                        <a:t>n-1</a:t>
                      </a:r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)-й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i="1" dirty="0">
                          <a:solidFill>
                            <a:schemeClr val="tx1"/>
                          </a:solidFill>
                        </a:rPr>
                        <a:t>ключ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076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1942958"/>
                <a:ext cx="65233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Число векторов длины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ru-RU" dirty="0"/>
                  <a:t>, которые могут</a:t>
                </a:r>
                <a:r>
                  <a:rPr lang="en-US" dirty="0"/>
                  <a:t> </a:t>
                </a:r>
                <a:r>
                  <a:rPr lang="ru-RU" dirty="0"/>
                  <a:t>быть при этом сгенерированы:</a:t>
                </a:r>
                <a:endParaRPr lang="ru-RU" baseline="30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2958"/>
                <a:ext cx="6523348" cy="646331"/>
              </a:xfrm>
              <a:prstGeom prst="rect">
                <a:avLst/>
              </a:prstGeom>
              <a:blipFill>
                <a:blip r:embed="rId3"/>
                <a:stretch>
                  <a:fillRect l="-748" t="-5660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-4633" y="2728307"/>
                <a:ext cx="63865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Число векторов длины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ru-RU" dirty="0"/>
                  <a:t>, которые могут</a:t>
                </a:r>
                <a:r>
                  <a:rPr lang="en-US" dirty="0"/>
                  <a:t> </a:t>
                </a:r>
                <a:r>
                  <a:rPr lang="ru-RU" dirty="0"/>
                  <a:t>быть при этом сгенерированы и в которых элементы не повторяются:</a:t>
                </a:r>
                <a:endParaRPr lang="ru-RU" baseline="30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33" y="2728307"/>
                <a:ext cx="6386580" cy="646331"/>
              </a:xfrm>
              <a:prstGeom prst="rect">
                <a:avLst/>
              </a:prstGeom>
              <a:blipFill>
                <a:blip r:embed="rId4"/>
                <a:stretch>
                  <a:fillRect l="-763" t="-5660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 txBox="1"/>
              <p:nvPr/>
            </p:nvSpPr>
            <p:spPr>
              <a:xfrm>
                <a:off x="6732997" y="2588138"/>
                <a:ext cx="5213022" cy="746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⋅…⋅</m:t>
                      </m:r>
                      <m:d>
                        <m:dPr>
                          <m:ctrlP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BY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BY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ru-BY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BY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BY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Объект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997" y="2588138"/>
                <a:ext cx="5213022" cy="7460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-4634" y="3643831"/>
            <a:ext cx="59622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Вероятность того, что все элементы сгенерированного вектора различны, т.е. </a:t>
            </a:r>
            <a:r>
              <a:rPr lang="ru-RU" b="1" dirty="0"/>
              <a:t>нет коллизий</a:t>
            </a:r>
            <a:r>
              <a:rPr lang="ru-RU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56295" y="5195859"/>
                <a:ext cx="41491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Вероятность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того, что </a:t>
                </a:r>
                <a:r>
                  <a:rPr lang="ru-RU" b="1" dirty="0"/>
                  <a:t>будут коллизии</a:t>
                </a:r>
                <a:r>
                  <a:rPr lang="ru-RU" dirty="0"/>
                  <a:t>: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5" y="5195859"/>
                <a:ext cx="4149149" cy="369332"/>
              </a:xfrm>
              <a:prstGeom prst="rect">
                <a:avLst/>
              </a:prstGeom>
              <a:blipFill>
                <a:blip r:embed="rId6"/>
                <a:stretch>
                  <a:fillRect l="-1175" t="-8197" r="-881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6732997" y="2053607"/>
                <a:ext cx="64071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997" y="2053607"/>
                <a:ext cx="64071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216955" y="158974"/>
                <a:ext cx="19704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00" dirty="0"/>
                  <a:t>каждый элемент может принять </a:t>
                </a:r>
              </a:p>
              <a:p>
                <a:r>
                  <a:rPr lang="ru-RU" sz="1000" dirty="0"/>
                  <a:t>одно из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000" dirty="0"/>
                  <a:t> </a:t>
                </a:r>
                <a:r>
                  <a:rPr lang="ru-RU" sz="1000" dirty="0"/>
                  <a:t>значений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55" y="158974"/>
                <a:ext cx="1970411" cy="400110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>
            <a:cxnSpLocks/>
          </p:cNvCxnSpPr>
          <p:nvPr/>
        </p:nvCxnSpPr>
        <p:spPr>
          <a:xfrm>
            <a:off x="-4634" y="195969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cxnSpLocks/>
          </p:cNvCxnSpPr>
          <p:nvPr/>
        </p:nvCxnSpPr>
        <p:spPr>
          <a:xfrm>
            <a:off x="74612" y="3419002"/>
            <a:ext cx="12117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cxnSpLocks/>
          </p:cNvCxnSpPr>
          <p:nvPr/>
        </p:nvCxnSpPr>
        <p:spPr>
          <a:xfrm>
            <a:off x="0" y="257570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92EEA5D-A448-496B-9F00-99ACB11112A5}"/>
              </a:ext>
            </a:extLst>
          </p:cNvPr>
          <p:cNvCxnSpPr>
            <a:cxnSpLocks/>
          </p:cNvCxnSpPr>
          <p:nvPr/>
        </p:nvCxnSpPr>
        <p:spPr>
          <a:xfrm>
            <a:off x="-4634" y="4793511"/>
            <a:ext cx="12192000" cy="1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F4F2DD-53D3-C283-CCAA-C141C860B43F}"/>
                  </a:ext>
                </a:extLst>
              </p:cNvPr>
              <p:cNvSpPr txBox="1"/>
              <p:nvPr/>
            </p:nvSpPr>
            <p:spPr>
              <a:xfrm>
                <a:off x="6732997" y="4878305"/>
                <a:ext cx="3026003" cy="650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BY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ru-BY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BY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BY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BY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ru-BY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F4F2DD-53D3-C283-CCAA-C141C860B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997" y="4878305"/>
                <a:ext cx="3026003" cy="6501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04E6E4-4937-59D7-22DB-955A7FD227AE}"/>
                  </a:ext>
                </a:extLst>
              </p:cNvPr>
              <p:cNvSpPr txBox="1"/>
              <p:nvPr/>
            </p:nvSpPr>
            <p:spPr>
              <a:xfrm>
                <a:off x="6732997" y="3551396"/>
                <a:ext cx="1828800" cy="650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BY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BY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BY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ru-BY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ru-BY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04E6E4-4937-59D7-22DB-955A7FD22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997" y="3551396"/>
                <a:ext cx="1828800" cy="65011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5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1" grpId="0"/>
      <p:bldP spid="18" grpId="0"/>
      <p:bldP spid="19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18"/>
              <p:cNvSpPr txBox="1"/>
              <p:nvPr/>
            </p:nvSpPr>
            <p:spPr>
              <a:xfrm>
                <a:off x="1769613" y="2172358"/>
                <a:ext cx="4602264" cy="1063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BY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ru-BY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BY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ru-BY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ru-BY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ru-BY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BY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BY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ru-BY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ru-BY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BY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ru-BY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ru-BY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ru-BY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BY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BY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BY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ru-RU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ru-BY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BY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BY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ru-BY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BY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ru-BY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ru-BY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BY" sz="2400" b="1" dirty="0"/>
              </a:p>
            </p:txBody>
          </p:sp>
        </mc:Choice>
        <mc:Fallback xmlns="">
          <p:sp>
            <p:nvSpPr>
              <p:cNvPr id="19" name="Объект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613" y="2172358"/>
                <a:ext cx="4602264" cy="10631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02920" y="296405"/>
                <a:ext cx="90961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Пусть </a:t>
                </a:r>
                <a:r>
                  <a:rPr lang="en-US" sz="2400" dirty="0"/>
                  <a:t> </a:t>
                </a:r>
                <a:r>
                  <a:rPr lang="ru-RU" sz="2400" dirty="0"/>
                  <a:t>осуществляется хеширование для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различных ключей</a:t>
                </a:r>
              </a:p>
              <a:p>
                <a:r>
                  <a:rPr lang="ru-RU" sz="2400" dirty="0"/>
                  <a:t> (</a:t>
                </a:r>
                <a:r>
                  <a:rPr lang="ru-RU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предположим, что хеш-значения независимы и распределены идеально равномерно от 0 до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ru-RU" sz="1200" i="1" dirty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ru-RU" sz="2400" dirty="0"/>
                  <a:t>). 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20" y="296405"/>
                <a:ext cx="9096187" cy="830997"/>
              </a:xfrm>
              <a:prstGeom prst="rect">
                <a:avLst/>
              </a:prstGeom>
              <a:blipFill>
                <a:blip r:embed="rId3"/>
                <a:stretch>
                  <a:fillRect l="-1005" t="-5882" r="-603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97F9D725-93B6-4AF6-9921-409F3DBE6EA0}"/>
                  </a:ext>
                </a:extLst>
              </p:cNvPr>
              <p:cNvSpPr/>
              <p:nvPr/>
            </p:nvSpPr>
            <p:spPr>
              <a:xfrm>
                <a:off x="402920" y="1314000"/>
                <a:ext cx="8094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Используя приближенную формулу для значения факториала</a:t>
                </a:r>
                <a:r>
                  <a:rPr lang="en-US" dirty="0"/>
                  <a:t> (</a:t>
                </a:r>
                <a:r>
                  <a:rPr lang="ru-RU" dirty="0"/>
                  <a:t>Стирлинга), когда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dirty="0"/>
                  <a:t> велико, а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получим приближенную формулу вероятности коллизии: </a:t>
                </a: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97F9D725-93B6-4AF6-9921-409F3DBE6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20" y="1314000"/>
                <a:ext cx="8094587" cy="646331"/>
              </a:xfrm>
              <a:prstGeom prst="rect">
                <a:avLst/>
              </a:prstGeom>
              <a:blipFill>
                <a:blip r:embed="rId4"/>
                <a:stretch>
                  <a:fillRect l="-602" t="-5660" r="-678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14">
                <a:extLst>
                  <a:ext uri="{FF2B5EF4-FFF2-40B4-BE49-F238E27FC236}">
                    <a16:creationId xmlns:a16="http://schemas.microsoft.com/office/drawing/2014/main" id="{04AF0A5A-5396-45A2-907F-56698A040AD4}"/>
                  </a:ext>
                </a:extLst>
              </p:cNvPr>
              <p:cNvSpPr txBox="1"/>
              <p:nvPr/>
            </p:nvSpPr>
            <p:spPr>
              <a:xfrm>
                <a:off x="8941276" y="1170471"/>
                <a:ext cx="3043575" cy="929998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>
                <a:normAutofit fontScale="85000" lnSpcReduction="20000"/>
              </a:bodyPr>
              <a:lstStyle/>
              <a:p>
                <a:endParaRPr lang="ru-RU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Ф</m:t>
                      </m:r>
                      <m:r>
                        <a:rPr lang="ru-BY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ормула</m:t>
                      </m:r>
                      <m:r>
                        <a:rPr lang="ru-BY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Стирлинга: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BY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!≈</m:t>
                      </m:r>
                      <m:rad>
                        <m:radPr>
                          <m:degHide m:val="on"/>
                          <m:ctrlP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sSup>
                        <m:sSupPr>
                          <m:ctrlP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BY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BY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ru-RU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е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BY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BY" dirty="0"/>
              </a:p>
            </p:txBody>
          </p:sp>
        </mc:Choice>
        <mc:Fallback xmlns="">
          <p:sp>
            <p:nvSpPr>
              <p:cNvPr id="11" name="Объект 14">
                <a:extLst>
                  <a:ext uri="{FF2B5EF4-FFF2-40B4-BE49-F238E27FC236}">
                    <a16:creationId xmlns:a16="http://schemas.microsoft.com/office/drawing/2014/main" id="{04AF0A5A-5396-45A2-907F-56698A040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276" y="1170471"/>
                <a:ext cx="3043575" cy="929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E3AD4F-57B3-80CE-5144-210FD39D4714}"/>
                  </a:ext>
                </a:extLst>
              </p:cNvPr>
              <p:cNvSpPr txBox="1"/>
              <p:nvPr/>
            </p:nvSpPr>
            <p:spPr>
              <a:xfrm>
                <a:off x="2543986" y="3743588"/>
                <a:ext cx="2778368" cy="1092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g>
                        <m:e>
                          <m:func>
                            <m:funcPr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BY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2⋅</m:t>
                                  </m:r>
                                  <m:r>
                                    <a:rPr lang="ru-BY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ru-BY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den>
                              </m:f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ru-BY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E3AD4F-57B3-80CE-5144-210FD39D4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986" y="3743588"/>
                <a:ext cx="2778368" cy="10926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A4370EF-D77E-AE1C-432C-B1BBB7568AC4}"/>
              </a:ext>
            </a:extLst>
          </p:cNvPr>
          <p:cNvSpPr txBox="1"/>
          <p:nvPr/>
        </p:nvSpPr>
        <p:spPr>
          <a:xfrm>
            <a:off x="3585970" y="3192415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88DC04-EF15-5037-275D-38C5CB33DFED}"/>
                  </a:ext>
                </a:extLst>
              </p:cNvPr>
              <p:cNvSpPr txBox="1"/>
              <p:nvPr/>
            </p:nvSpPr>
            <p:spPr>
              <a:xfrm>
                <a:off x="665826" y="5209760"/>
                <a:ext cx="88332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где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−желаемая вероятность того, чтобы </m:t>
                      </m:r>
                      <m:r>
                        <a:rPr lang="ru-RU" sz="1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не было коллизий .</m:t>
                      </m:r>
                    </m:oMath>
                  </m:oMathPara>
                </a14:m>
                <a:endParaRPr lang="ru-BY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88DC04-EF15-5037-275D-38C5CB33D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26" y="5209760"/>
                <a:ext cx="883328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9D976E-BEE3-573C-982A-EE6ABC6DB2A5}"/>
                  </a:ext>
                </a:extLst>
              </p:cNvPr>
              <p:cNvSpPr txBox="1"/>
              <p:nvPr/>
            </p:nvSpPr>
            <p:spPr>
              <a:xfrm>
                <a:off x="638695" y="5745689"/>
                <a:ext cx="7802251" cy="8657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Несложно увидеть, что уже при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rad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/>
                  <a:t>c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u-RU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вероятностью </m:t>
                    </m:r>
                    <m:r>
                      <a:rPr lang="ru-RU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 </m:t>
                    </m:r>
                  </m:oMath>
                </a14:m>
                <a:r>
                  <a:rPr lang="en-US" sz="2400" dirty="0"/>
                  <a:t>50%</a:t>
                </a:r>
                <a:r>
                  <a:rPr lang="ru-RU" sz="2400" dirty="0"/>
                  <a:t>, будут коллизии. </a:t>
                </a:r>
                <a:r>
                  <a:rPr lang="en-US" sz="2400" dirty="0"/>
                  <a:t> </a:t>
                </a:r>
                <a:endParaRPr lang="ru-BY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9D976E-BEE3-573C-982A-EE6ABC6DB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95" y="5745689"/>
                <a:ext cx="7802251" cy="865750"/>
              </a:xfrm>
              <a:prstGeom prst="rect">
                <a:avLst/>
              </a:prstGeom>
              <a:blipFill>
                <a:blip r:embed="rId8"/>
                <a:stretch>
                  <a:fillRect l="-1250" t="-1408" b="-1549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Объект 18">
                <a:extLst>
                  <a:ext uri="{FF2B5EF4-FFF2-40B4-BE49-F238E27FC236}">
                    <a16:creationId xmlns:a16="http://schemas.microsoft.com/office/drawing/2014/main" id="{C08C635A-788C-826E-C0DD-49B89B2FBF0E}"/>
                  </a:ext>
                </a:extLst>
              </p:cNvPr>
              <p:cNvSpPr txBox="1"/>
              <p:nvPr/>
            </p:nvSpPr>
            <p:spPr>
              <a:xfrm>
                <a:off x="8497507" y="2143538"/>
                <a:ext cx="3694493" cy="4292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BY" sz="1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BY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BY" sz="16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BY" sz="16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BY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BY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ru-BY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RU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BY" sz="1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16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BY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BY" sz="16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BY" sz="16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BY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BY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ru-BY" sz="16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sup>
                      </m:sSup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sz="1600" dirty="0"/>
              </a:p>
              <a:p>
                <a:endParaRPr lang="ru-RU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BY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BY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BY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  <a:p>
                <a:endParaRPr lang="ru-RU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ru-BY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600" dirty="0"/>
              </a:p>
              <a:p>
                <a:endParaRPr lang="ru-RU" sz="1600" dirty="0"/>
              </a:p>
              <a:p>
                <a14:m>
                  <m:oMath xmlns:m="http://schemas.openxmlformats.org/officeDocument/2006/math">
                    <m:r>
                      <a:rPr lang="ru-BY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func>
                          <m:func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BY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2⋅</m:t>
                                </m:r>
                                <m:r>
                                  <a:rPr lang="ru-BY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ru-BY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den>
                            </m:f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e>
                    </m:rad>
                  </m:oMath>
                </a14:m>
                <a:r>
                  <a:rPr lang="ru-RU" sz="1600" dirty="0"/>
                  <a:t>,</a:t>
                </a:r>
                <a14:m>
                  <m:oMath xmlns:m="http://schemas.openxmlformats.org/officeDocument/2006/math">
                    <m:r>
                      <a:rPr lang="ru-RU" sz="1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ru-RU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где</m:t>
                    </m:r>
                    <m:r>
                      <a:rPr lang="en-US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желаемая вероятность того, чтобы </m:t>
                    </m:r>
                    <m:r>
                      <a:rPr lang="ru-RU" sz="12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не было коллизий </m:t>
                    </m:r>
                  </m:oMath>
                </a14:m>
                <a:endParaRPr lang="ru-BY" sz="1200" b="1" dirty="0"/>
              </a:p>
              <a:p>
                <a:endParaRPr lang="ru-BY" sz="1200" dirty="0"/>
              </a:p>
            </p:txBody>
          </p:sp>
        </mc:Choice>
        <mc:Fallback xmlns="">
          <p:sp>
            <p:nvSpPr>
              <p:cNvPr id="16" name="Объект 18">
                <a:extLst>
                  <a:ext uri="{FF2B5EF4-FFF2-40B4-BE49-F238E27FC236}">
                    <a16:creationId xmlns:a16="http://schemas.microsoft.com/office/drawing/2014/main" id="{C08C635A-788C-826E-C0DD-49B89B2FB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507" y="2143538"/>
                <a:ext cx="3694493" cy="42927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273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1" grpId="0" animBg="1"/>
      <p:bldP spid="11" grpId="1" animBg="1"/>
      <p:bldP spid="3" grpId="0"/>
      <p:bldP spid="4" grpId="0"/>
      <p:bldP spid="5" grpId="0"/>
      <p:bldP spid="6" grpId="0"/>
      <p:bldP spid="16" grpId="0"/>
      <p:bldP spid="1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0" y="1386017"/>
                <a:ext cx="12118019" cy="3132717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lvl="1" algn="just"/>
                <a:r>
                  <a:rPr lang="ru-RU" sz="3200" dirty="0"/>
                  <a:t>Например,  если   </a:t>
                </a:r>
                <a14:m>
                  <m:oMath xmlns:m="http://schemas.openxmlformats.org/officeDocument/2006/math"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ru-RU" sz="3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32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b="1" dirty="0"/>
                  <a:t> </a:t>
                </a:r>
                <a:r>
                  <a:rPr lang="ru-RU" sz="3200" dirty="0"/>
                  <a:t>и хеширование выполняется для  </a:t>
                </a:r>
                <a14:m>
                  <m:oMath xmlns:m="http://schemas.openxmlformats.org/officeDocument/2006/math"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𝟒𝟓𝟎</m:t>
                    </m:r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уникальных ключей, то тогда с вероятностью </a:t>
                </a:r>
                <a14:m>
                  <m:oMath xmlns:m="http://schemas.openxmlformats.org/officeDocument/2006/math">
                    <m:r>
                      <a:rPr lang="ru-BY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32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95</a:t>
                </a:r>
                <a:r>
                  <a:rPr lang="ru-RU" sz="32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%</a:t>
                </a:r>
                <a:r>
                  <a:rPr lang="ru-RU" sz="3200" dirty="0">
                    <a:solidFill>
                      <a:schemeClr val="tx1"/>
                    </a:solidFill>
                  </a:rPr>
                  <a:t> </a:t>
                </a:r>
                <a:r>
                  <a:rPr lang="ru-RU" sz="3200" dirty="0"/>
                  <a:t>найдутся такие два ключа, что их хеш-значения будут одинаковыми, т.е. будет иметь место коллизия.</a:t>
                </a:r>
                <a:r>
                  <a:rPr lang="en-US" sz="3200" dirty="0"/>
                  <a:t> </a:t>
                </a:r>
              </a:p>
              <a:p>
                <a:pPr lvl="1"/>
                <a:endParaRPr lang="ru-RU" sz="24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86017"/>
                <a:ext cx="12118019" cy="3132717"/>
              </a:xfrm>
              <a:prstGeom prst="rect">
                <a:avLst/>
              </a:prstGeom>
              <a:blipFill>
                <a:blip r:embed="rId2"/>
                <a:stretch>
                  <a:fillRect t="-2335" r="-125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2E1240-ACAE-43F4-9BCE-3BCCA3C5B537}"/>
              </a:ext>
            </a:extLst>
          </p:cNvPr>
          <p:cNvSpPr txBox="1"/>
          <p:nvPr/>
        </p:nvSpPr>
        <p:spPr>
          <a:xfrm>
            <a:off x="1704610" y="412242"/>
            <a:ext cx="80756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Разработано несколько стратегий разрешения коллизий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050B6-0460-4A98-AE90-D73CD5FC9C45}"/>
              </a:ext>
            </a:extLst>
          </p:cNvPr>
          <p:cNvSpPr txBox="1"/>
          <p:nvPr/>
        </p:nvSpPr>
        <p:spPr>
          <a:xfrm>
            <a:off x="426128" y="2319222"/>
            <a:ext cx="1162087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800" dirty="0"/>
              <a:t>Разрешение коллизий </a:t>
            </a:r>
            <a:r>
              <a:rPr lang="ru-RU" sz="2800" b="1" dirty="0"/>
              <a:t>методом цепочек </a:t>
            </a:r>
            <a:r>
              <a:rPr lang="ru-RU" sz="2800" dirty="0"/>
              <a:t>(</a:t>
            </a:r>
            <a:r>
              <a:rPr lang="ru-RU" sz="2000" dirty="0"/>
              <a:t>англ</a:t>
            </a:r>
            <a:r>
              <a:rPr lang="ru-RU" sz="2000" i="1" dirty="0"/>
              <a:t>. </a:t>
            </a:r>
            <a:r>
              <a:rPr lang="ru-RU" sz="2000" dirty="0" err="1"/>
              <a:t>separate</a:t>
            </a:r>
            <a:r>
              <a:rPr lang="ru-RU" sz="2000" dirty="0"/>
              <a:t> </a:t>
            </a:r>
            <a:r>
              <a:rPr lang="ru-RU" sz="2000" dirty="0" err="1"/>
              <a:t>chaining</a:t>
            </a:r>
            <a:r>
              <a:rPr lang="ru-RU" sz="2800" dirty="0"/>
              <a:t>).</a:t>
            </a:r>
          </a:p>
          <a:p>
            <a:pPr marL="457200" indent="-457200">
              <a:spcAft>
                <a:spcPts val="1000"/>
              </a:spcAft>
              <a:buFont typeface="+mj-lt"/>
              <a:buAutoNum type="arabicParenR"/>
            </a:pPr>
            <a:r>
              <a:rPr lang="ru-RU" sz="2800" dirty="0"/>
              <a:t>Разрешение коллизий </a:t>
            </a:r>
            <a:r>
              <a:rPr lang="ru-RU" sz="2800" b="1" dirty="0"/>
              <a:t>методом</a:t>
            </a:r>
            <a:r>
              <a:rPr lang="ru-RU" sz="2800" dirty="0"/>
              <a:t> </a:t>
            </a:r>
            <a:r>
              <a:rPr lang="ru-RU" sz="2800" b="1" dirty="0"/>
              <a:t>открытой адресации  </a:t>
            </a:r>
            <a:r>
              <a:rPr lang="ru-RU" sz="2800" dirty="0"/>
              <a:t>(</a:t>
            </a:r>
            <a:r>
              <a:rPr lang="ru-RU" sz="2000" dirty="0"/>
              <a:t>англ. </a:t>
            </a:r>
            <a:r>
              <a:rPr lang="en-US" sz="2000" dirty="0"/>
              <a:t>open addressing</a:t>
            </a:r>
            <a:r>
              <a:rPr lang="en-US" sz="2800" dirty="0"/>
              <a:t>)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01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239" y="2229633"/>
            <a:ext cx="112335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 </a:t>
            </a:r>
            <a:r>
              <a:rPr lang="ru-RU" sz="3200" dirty="0"/>
              <a:t>Разрешение коллизий </a:t>
            </a:r>
            <a:r>
              <a:rPr lang="ru-RU" sz="3200" b="1" dirty="0"/>
              <a:t>методом цепочек </a:t>
            </a:r>
            <a:endParaRPr lang="en-US" sz="3200" b="1" dirty="0"/>
          </a:p>
          <a:p>
            <a:pPr algn="ctr"/>
            <a:r>
              <a:rPr lang="ru-RU" sz="3200" dirty="0"/>
              <a:t>(англ</a:t>
            </a:r>
            <a:r>
              <a:rPr lang="ru-RU" sz="3200" i="1" dirty="0"/>
              <a:t>. </a:t>
            </a:r>
            <a:r>
              <a:rPr lang="ru-RU" sz="3200" dirty="0" err="1"/>
              <a:t>separate</a:t>
            </a:r>
            <a:r>
              <a:rPr lang="ru-RU" sz="3200" dirty="0"/>
              <a:t> </a:t>
            </a:r>
            <a:r>
              <a:rPr lang="ru-RU" sz="3200" dirty="0" err="1"/>
              <a:t>chaining</a:t>
            </a:r>
            <a:r>
              <a:rPr lang="ru-RU" sz="32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2930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644" y="0"/>
            <a:ext cx="112335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/>
          </a:p>
          <a:p>
            <a:pPr algn="ctr"/>
            <a:endParaRPr lang="ru-RU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94364" y="209599"/>
                <a:ext cx="1123352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Хеш-функция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раскладывает исходные ключи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 </a:t>
                </a:r>
                <a:r>
                  <a:rPr lang="ru-RU" sz="2400" b="1" dirty="0"/>
                  <a:t>корзинам</a:t>
                </a:r>
                <a:r>
                  <a:rPr lang="ru-RU" sz="2400" dirty="0"/>
                  <a:t> (англ. </a:t>
                </a:r>
                <a:r>
                  <a:rPr lang="ru-RU" sz="2400" dirty="0" err="1"/>
                  <a:t>bins</a:t>
                </a:r>
                <a:r>
                  <a:rPr lang="ru-RU" sz="2400" dirty="0"/>
                  <a:t>, </a:t>
                </a:r>
                <a:r>
                  <a:rPr lang="ru-RU" sz="2400" dirty="0" err="1"/>
                  <a:t>buckets</a:t>
                </a:r>
                <a:r>
                  <a:rPr lang="ru-RU" sz="2400" dirty="0"/>
                  <a:t>) или </a:t>
                </a:r>
                <a:r>
                  <a:rPr lang="ru-RU" sz="2400" b="1" dirty="0"/>
                  <a:t>слотам</a:t>
                </a:r>
                <a:r>
                  <a:rPr lang="ru-RU" sz="2400" dirty="0"/>
                  <a:t> (англ. </a:t>
                </a:r>
                <a:r>
                  <a:rPr lang="ru-RU" sz="2400" dirty="0" err="1"/>
                  <a:t>slots</a:t>
                </a:r>
                <a:r>
                  <a:rPr lang="ru-RU" sz="2400" dirty="0"/>
                  <a:t>)</a:t>
                </a:r>
                <a:r>
                  <a:rPr lang="en-US" sz="2400" dirty="0"/>
                  <a:t>.</a:t>
                </a:r>
                <a:r>
                  <a:rPr lang="ru-RU" sz="2400" dirty="0"/>
                  <a:t> 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4" y="209599"/>
                <a:ext cx="11233521" cy="830997"/>
              </a:xfrm>
              <a:prstGeom prst="rect">
                <a:avLst/>
              </a:prstGeom>
              <a:blipFill>
                <a:blip r:embed="rId2"/>
                <a:stretch>
                  <a:fillRect l="-814" t="-5839" b="-1532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6888690" y="1304219"/>
                <a:ext cx="490297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ru-RU" sz="2400" dirty="0"/>
                  <a:t>ключ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>
                    <a:latin typeface="Consolas" panose="020B0609020204030204" pitchFamily="49" charset="0"/>
                  </a:rPr>
                  <a:t> </a:t>
                </a:r>
                <a:r>
                  <a:rPr lang="ru-RU" sz="2400" dirty="0"/>
                  <a:t>попадает в корзину с номером, равным </a:t>
                </a:r>
                <a:r>
                  <a:rPr lang="ru-RU" sz="2400" dirty="0" err="1"/>
                  <a:t>хеш</a:t>
                </a:r>
                <a:r>
                  <a:rPr lang="ru-RU" sz="2400" dirty="0"/>
                  <a:t>-значению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;</a:t>
                </a:r>
                <a:endParaRPr lang="ru-RU" sz="2400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690" y="1304219"/>
                <a:ext cx="4902979" cy="1200329"/>
              </a:xfrm>
              <a:prstGeom prst="rect">
                <a:avLst/>
              </a:prstGeom>
              <a:blipFill>
                <a:blip r:embed="rId3"/>
                <a:stretch>
                  <a:fillRect l="-1617" t="-4061" r="-871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6889597" y="2974370"/>
            <a:ext cx="5156631" cy="1569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400" dirty="0"/>
              <a:t>для хранения элементов с одинаковыми </a:t>
            </a:r>
            <a:r>
              <a:rPr lang="ru-RU" sz="2400" dirty="0" err="1"/>
              <a:t>хеш</a:t>
            </a:r>
            <a:r>
              <a:rPr lang="ru-RU" sz="2400" dirty="0"/>
              <a:t>-значениями внутри одной корзины можно использовать связные списки</a:t>
            </a:r>
            <a:r>
              <a:rPr lang="en-US" sz="2400" dirty="0"/>
              <a:t>;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2883" y="5168677"/>
                <a:ext cx="1195670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На верхнем уровне организуется массив размера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2400" dirty="0"/>
                  <a:t> — по числу различных значений хеш-функции, каждый элемент которого — это односвязный список, состоящий из ключей, имеющих конкретное хеш-значение. Возникают цепочки ключей, из-за чего метод и получил название метода</a:t>
                </a:r>
                <a:r>
                  <a:rPr lang="en-US" sz="2400" dirty="0"/>
                  <a:t> </a:t>
                </a:r>
                <a:r>
                  <a:rPr lang="ru-RU" sz="2400" dirty="0"/>
                  <a:t>цепочек.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3" y="5168677"/>
                <a:ext cx="11956702" cy="1569660"/>
              </a:xfrm>
              <a:prstGeom prst="rect">
                <a:avLst/>
              </a:prstGeom>
              <a:blipFill>
                <a:blip r:embed="rId4"/>
                <a:stretch>
                  <a:fillRect l="-765" t="-3113" r="-765" b="-81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3">
                <a:extLst>
                  <a:ext uri="{FF2B5EF4-FFF2-40B4-BE49-F238E27FC236}">
                    <a16:creationId xmlns:a16="http://schemas.microsoft.com/office/drawing/2014/main" id="{643EFF19-D199-4F86-A084-70C24A3D9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3799537"/>
                  </p:ext>
                </p:extLst>
              </p:nvPr>
            </p:nvGraphicFramePr>
            <p:xfrm>
              <a:off x="0" y="1163706"/>
              <a:ext cx="6864252" cy="3995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9748">
                      <a:extLst>
                        <a:ext uri="{9D8B030D-6E8A-4147-A177-3AD203B41FA5}">
                          <a16:colId xmlns:a16="http://schemas.microsoft.com/office/drawing/2014/main" val="272381683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315314524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795404316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2304584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14025528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178535690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778718554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919455456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730718273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550602099"/>
                        </a:ext>
                      </a:extLst>
                    </a:gridCol>
                  </a:tblGrid>
                  <a:tr h="53347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1367439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dirty="0"/>
                            <a:t>1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5742421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6388127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dirty="0"/>
                            <a:t>3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1327598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4685681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BY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600" dirty="0">
                                  <a:latin typeface="Consolas" panose="020B0609020204030204" pitchFamily="49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BY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=…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BY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BY" sz="16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BY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BY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BY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503986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5060749"/>
                      </a:ext>
                    </a:extLst>
                  </a:tr>
                  <a:tr h="431105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M-1</a:t>
                          </a:r>
                          <a:endParaRPr lang="ru-BY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0600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3">
                <a:extLst>
                  <a:ext uri="{FF2B5EF4-FFF2-40B4-BE49-F238E27FC236}">
                    <a16:creationId xmlns:a16="http://schemas.microsoft.com/office/drawing/2014/main" id="{643EFF19-D199-4F86-A084-70C24A3D9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3799537"/>
                  </p:ext>
                </p:extLst>
              </p:nvPr>
            </p:nvGraphicFramePr>
            <p:xfrm>
              <a:off x="0" y="1163706"/>
              <a:ext cx="6864252" cy="39958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9748">
                      <a:extLst>
                        <a:ext uri="{9D8B030D-6E8A-4147-A177-3AD203B41FA5}">
                          <a16:colId xmlns:a16="http://schemas.microsoft.com/office/drawing/2014/main" val="272381683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315314524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795404316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2304584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14025528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1785356901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2778718554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919455456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730718273"/>
                        </a:ext>
                      </a:extLst>
                    </a:gridCol>
                    <a:gridCol w="516056">
                      <a:extLst>
                        <a:ext uri="{9D8B030D-6E8A-4147-A177-3AD203B41FA5}">
                          <a16:colId xmlns:a16="http://schemas.microsoft.com/office/drawing/2014/main" val="355060209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1367439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dirty="0"/>
                            <a:t>1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5742421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dirty="0"/>
                            <a:t>2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6388127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dirty="0"/>
                            <a:t>3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1327598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4685681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538750" r="-210165" b="-1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28235" t="-538750" r="-600000" b="-1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27059" t="-538750" r="-401176" b="-1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25882" t="-538750" r="-2353" b="-19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503986"/>
                      </a:ext>
                    </a:extLst>
                  </a:tr>
                  <a:tr h="487437">
                    <a:tc>
                      <a:txBody>
                        <a:bodyPr/>
                        <a:lstStyle/>
                        <a:p>
                          <a:pPr algn="r"/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5060749"/>
                      </a:ext>
                    </a:extLst>
                  </a:tr>
                  <a:tr h="431105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M-1</a:t>
                          </a:r>
                          <a:endParaRPr lang="ru-BY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06009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66BAD8E-3F06-4426-A049-09E64A68C065}"/>
              </a:ext>
            </a:extLst>
          </p:cNvPr>
          <p:cNvCxnSpPr>
            <a:cxnSpLocks/>
          </p:cNvCxnSpPr>
          <p:nvPr/>
        </p:nvCxnSpPr>
        <p:spPr>
          <a:xfrm>
            <a:off x="3739686" y="2065932"/>
            <a:ext cx="507021" cy="6655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ABDAE1B6-F2E0-4E17-9B89-C42ECBB409F1}"/>
              </a:ext>
            </a:extLst>
          </p:cNvPr>
          <p:cNvCxnSpPr>
            <a:cxnSpLocks/>
          </p:cNvCxnSpPr>
          <p:nvPr/>
        </p:nvCxnSpPr>
        <p:spPr>
          <a:xfrm>
            <a:off x="5848042" y="4009297"/>
            <a:ext cx="495916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823305D-3942-4E1F-9280-F7E9F6647E0F}"/>
              </a:ext>
            </a:extLst>
          </p:cNvPr>
          <p:cNvCxnSpPr>
            <a:cxnSpLocks/>
          </p:cNvCxnSpPr>
          <p:nvPr/>
        </p:nvCxnSpPr>
        <p:spPr>
          <a:xfrm flipV="1">
            <a:off x="2739206" y="3997726"/>
            <a:ext cx="507021" cy="11571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C927118-FE08-43B5-B887-56005043C280}"/>
              </a:ext>
            </a:extLst>
          </p:cNvPr>
          <p:cNvCxnSpPr>
            <a:cxnSpLocks/>
          </p:cNvCxnSpPr>
          <p:nvPr/>
        </p:nvCxnSpPr>
        <p:spPr>
          <a:xfrm>
            <a:off x="2739206" y="2065932"/>
            <a:ext cx="507021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9A8A161-2227-42F3-87A4-B845C3FAEE5E}"/>
              </a:ext>
            </a:extLst>
          </p:cNvPr>
          <p:cNvCxnSpPr>
            <a:cxnSpLocks/>
          </p:cNvCxnSpPr>
          <p:nvPr/>
        </p:nvCxnSpPr>
        <p:spPr>
          <a:xfrm>
            <a:off x="3739686" y="4009297"/>
            <a:ext cx="550960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9E4A2AF-BDE9-4BBB-AAB9-E36CB2875E10}"/>
              </a:ext>
            </a:extLst>
          </p:cNvPr>
          <p:cNvCxnSpPr>
            <a:cxnSpLocks/>
          </p:cNvCxnSpPr>
          <p:nvPr/>
        </p:nvCxnSpPr>
        <p:spPr>
          <a:xfrm>
            <a:off x="4797310" y="3997726"/>
            <a:ext cx="472667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36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239" y="2229633"/>
            <a:ext cx="112335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 </a:t>
            </a:r>
            <a:r>
              <a:rPr lang="ru-RU" sz="3200" b="1" dirty="0"/>
              <a:t>Операция вставки элемента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74211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5346340" y="549858"/>
                <a:ext cx="6501413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000" b="1" dirty="0"/>
                  <a:t>Сначала вычисляется </a:t>
                </a:r>
                <a:r>
                  <a:rPr lang="ru-RU" sz="2000" b="1" dirty="0" err="1"/>
                  <a:t>хеш</a:t>
                </a:r>
                <a:r>
                  <a:rPr lang="ru-RU" sz="2000" b="1" dirty="0"/>
                  <a:t>-значение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b="1" dirty="0"/>
                  <a:t> для ключа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000" dirty="0"/>
                  <a:t>, а затем происходит обращение к соответствующему связному списку: </a:t>
                </a: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340" y="549858"/>
                <a:ext cx="6501413" cy="1015663"/>
              </a:xfrm>
              <a:prstGeom prst="rect">
                <a:avLst/>
              </a:prstGeom>
              <a:blipFill>
                <a:blip r:embed="rId2"/>
                <a:stretch>
                  <a:fillRect l="-937" t="-2994" r="-94" b="-958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5346340" y="1797784"/>
                <a:ext cx="6501413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algn="just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если </a:t>
                </a:r>
                <a:r>
                  <a:rPr lang="ru-RU" sz="2000" u="sng" dirty="0"/>
                  <a:t>не стоит задача проверять, присутствует </a:t>
                </a:r>
                <a14:m>
                  <m:oMath xmlns:m="http://schemas.openxmlformats.org/officeDocument/2006/math">
                    <m:r>
                      <a:rPr lang="ru-RU" sz="2000" b="0" i="1" u="sng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000" b="0" i="0" u="sng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u="sng" dirty="0"/>
                  <a:t> в таблице или нет</a:t>
                </a:r>
                <a:r>
                  <a:rPr lang="ru-RU" sz="2000" dirty="0"/>
                  <a:t>, то операция вставки может быть реализована за константное время: всегда можно добавить элемент в начало списка, и не нужно идти по всему связному списку. </a:t>
                </a: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340" y="1797784"/>
                <a:ext cx="6501413" cy="1631216"/>
              </a:xfrm>
              <a:prstGeom prst="rect">
                <a:avLst/>
              </a:prstGeom>
              <a:blipFill>
                <a:blip r:embed="rId3"/>
                <a:stretch>
                  <a:fillRect t="-2239" r="-937" b="-559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Прямоугольник 7"/>
              <p:cNvSpPr/>
              <p:nvPr/>
            </p:nvSpPr>
            <p:spPr>
              <a:xfrm>
                <a:off x="5346340" y="3698240"/>
                <a:ext cx="6501414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algn="just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если </a:t>
                </a:r>
                <a:r>
                  <a:rPr lang="ru-RU" sz="2000" u="sng" dirty="0"/>
                  <a:t>требуется поддерживать уникальность элемен</a:t>
                </a:r>
                <a:r>
                  <a:rPr lang="ru-RU" sz="2000" dirty="0"/>
                  <a:t>тов, то сначала надо проверить, есть элемент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в таблице или нет, и добавлять только уникальные элементы. Поэтому операция вставки вначале выполняет проход по списку, и на это расходуется время, пропорциональное длине соответствующей цепочки. </a:t>
                </a:r>
              </a:p>
            </p:txBody>
          </p:sp>
        </mc:Choice>
        <mc:Fallback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340" y="3698240"/>
                <a:ext cx="6501414" cy="2246769"/>
              </a:xfrm>
              <a:prstGeom prst="rect">
                <a:avLst/>
              </a:prstGeom>
              <a:blipFill>
                <a:blip r:embed="rId4"/>
                <a:stretch>
                  <a:fillRect t="-1630" r="-937" b="-40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3">
                <a:extLst>
                  <a:ext uri="{FF2B5EF4-FFF2-40B4-BE49-F238E27FC236}">
                    <a16:creationId xmlns:a16="http://schemas.microsoft.com/office/drawing/2014/main" id="{E6C765F8-1B6E-48CB-BD05-A0869093B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0376135"/>
                  </p:ext>
                </p:extLst>
              </p:nvPr>
            </p:nvGraphicFramePr>
            <p:xfrm>
              <a:off x="-2880" y="1940350"/>
              <a:ext cx="4264842" cy="4275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4279">
                      <a:extLst>
                        <a:ext uri="{9D8B030D-6E8A-4147-A177-3AD203B41FA5}">
                          <a16:colId xmlns:a16="http://schemas.microsoft.com/office/drawing/2014/main" val="272381683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31531452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9540431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2304584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14025528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178535690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7871855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91945545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730718273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550602099"/>
                        </a:ext>
                      </a:extLst>
                    </a:gridCol>
                  </a:tblGrid>
                  <a:tr h="440306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1367439"/>
                      </a:ext>
                    </a:extLst>
                  </a:tr>
                  <a:tr h="49746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61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21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5742421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2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6388127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3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1327598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4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4685681"/>
                      </a:ext>
                    </a:extLst>
                  </a:tr>
                  <a:tr h="4835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5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  <a:r>
                            <a:rPr lang="en-US" sz="1400" dirty="0"/>
                            <a:t>5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503986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7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5060749"/>
                      </a:ext>
                    </a:extLst>
                  </a:tr>
                  <a:tr h="499585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8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060096"/>
                      </a:ext>
                    </a:extLst>
                  </a:tr>
                  <a:tr h="44834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9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99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8</a:t>
                          </a:r>
                          <a:r>
                            <a:rPr lang="en-US" sz="1400" dirty="0"/>
                            <a:t>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2771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3">
                <a:extLst>
                  <a:ext uri="{FF2B5EF4-FFF2-40B4-BE49-F238E27FC236}">
                    <a16:creationId xmlns:a16="http://schemas.microsoft.com/office/drawing/2014/main" id="{E6C765F8-1B6E-48CB-BD05-A0869093B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0376135"/>
                  </p:ext>
                </p:extLst>
              </p:nvPr>
            </p:nvGraphicFramePr>
            <p:xfrm>
              <a:off x="-2880" y="1940350"/>
              <a:ext cx="4264842" cy="4275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4279">
                      <a:extLst>
                        <a:ext uri="{9D8B030D-6E8A-4147-A177-3AD203B41FA5}">
                          <a16:colId xmlns:a16="http://schemas.microsoft.com/office/drawing/2014/main" val="272381683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31531452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9540431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2304584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14025528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178535690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7871855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91945545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730718273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550602099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1367439"/>
                      </a:ext>
                    </a:extLst>
                  </a:tr>
                  <a:tr h="49746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61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21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5742421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2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6388127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3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1327598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4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4685681"/>
                      </a:ext>
                    </a:extLst>
                  </a:tr>
                  <a:tr h="4835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5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83099" t="-497468" r="-607042" b="-294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84507" t="-497468" r="-405634" b="-294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  <a:r>
                            <a:rPr lang="en-US" sz="1400" dirty="0"/>
                            <a:t>5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87324" t="-497468" r="-2817" b="-294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503986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7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5060749"/>
                      </a:ext>
                    </a:extLst>
                  </a:tr>
                  <a:tr h="499585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8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060096"/>
                      </a:ext>
                    </a:extLst>
                  </a:tr>
                  <a:tr h="44834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9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99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400" dirty="0"/>
                            <a:t>8</a:t>
                          </a:r>
                          <a:r>
                            <a:rPr lang="en-US" sz="1400" dirty="0"/>
                            <a:t>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277151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6EB6B28A-C993-445E-A27A-A8EAB024FCA2}"/>
              </a:ext>
            </a:extLst>
          </p:cNvPr>
          <p:cNvCxnSpPr>
            <a:cxnSpLocks/>
          </p:cNvCxnSpPr>
          <p:nvPr/>
        </p:nvCxnSpPr>
        <p:spPr>
          <a:xfrm>
            <a:off x="1646863" y="2708374"/>
            <a:ext cx="425083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2119133-1C14-4A13-BB4C-55BAAB9305D0}"/>
              </a:ext>
            </a:extLst>
          </p:cNvPr>
          <p:cNvCxnSpPr>
            <a:cxnSpLocks/>
          </p:cNvCxnSpPr>
          <p:nvPr/>
        </p:nvCxnSpPr>
        <p:spPr>
          <a:xfrm>
            <a:off x="3380522" y="4581931"/>
            <a:ext cx="408220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F032146-C6CE-443C-952B-D9E8487ED14E}"/>
              </a:ext>
            </a:extLst>
          </p:cNvPr>
          <p:cNvCxnSpPr>
            <a:cxnSpLocks/>
          </p:cNvCxnSpPr>
          <p:nvPr/>
        </p:nvCxnSpPr>
        <p:spPr>
          <a:xfrm>
            <a:off x="772803" y="4597806"/>
            <a:ext cx="429698" cy="14563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2E6D09C-95C6-4EA4-85C9-A3E681FB9B6F}"/>
              </a:ext>
            </a:extLst>
          </p:cNvPr>
          <p:cNvCxnSpPr>
            <a:cxnSpLocks/>
          </p:cNvCxnSpPr>
          <p:nvPr/>
        </p:nvCxnSpPr>
        <p:spPr>
          <a:xfrm>
            <a:off x="2516308" y="2702490"/>
            <a:ext cx="438660" cy="5884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7BEA756-A1AA-4CAA-8BC4-F6F800AA82EE}"/>
              </a:ext>
            </a:extLst>
          </p:cNvPr>
          <p:cNvCxnSpPr>
            <a:cxnSpLocks/>
          </p:cNvCxnSpPr>
          <p:nvPr/>
        </p:nvCxnSpPr>
        <p:spPr>
          <a:xfrm flipV="1">
            <a:off x="1657368" y="4581931"/>
            <a:ext cx="427617" cy="7282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4B6327C-FDDB-4032-A55A-A94373F1E61A}"/>
              </a:ext>
            </a:extLst>
          </p:cNvPr>
          <p:cNvCxnSpPr>
            <a:cxnSpLocks/>
          </p:cNvCxnSpPr>
          <p:nvPr/>
        </p:nvCxnSpPr>
        <p:spPr>
          <a:xfrm flipV="1">
            <a:off x="2520467" y="4560008"/>
            <a:ext cx="434501" cy="804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C905427D-9E1E-4ABF-B88E-520130AD3891}"/>
              </a:ext>
            </a:extLst>
          </p:cNvPr>
          <p:cNvCxnSpPr>
            <a:cxnSpLocks/>
          </p:cNvCxnSpPr>
          <p:nvPr/>
        </p:nvCxnSpPr>
        <p:spPr>
          <a:xfrm>
            <a:off x="801922" y="2708374"/>
            <a:ext cx="400579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297254F-97C9-4047-BE82-0BF9AB40944A}"/>
              </a:ext>
            </a:extLst>
          </p:cNvPr>
          <p:cNvCxnSpPr>
            <a:cxnSpLocks/>
          </p:cNvCxnSpPr>
          <p:nvPr/>
        </p:nvCxnSpPr>
        <p:spPr>
          <a:xfrm>
            <a:off x="801922" y="6015498"/>
            <a:ext cx="429698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68542026-95B2-4DBB-82BC-B685A57EAB87}"/>
              </a:ext>
            </a:extLst>
          </p:cNvPr>
          <p:cNvGrpSpPr/>
          <p:nvPr/>
        </p:nvGrpSpPr>
        <p:grpSpPr>
          <a:xfrm>
            <a:off x="0" y="45842"/>
            <a:ext cx="4113627" cy="1163229"/>
            <a:chOff x="138941" y="5561215"/>
            <a:chExt cx="4113627" cy="11632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76828" y="6262779"/>
                  <a:ext cx="261738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10</m:t>
                        </m:r>
                      </m:oMath>
                    </m:oMathPara>
                  </a14:m>
                  <a:endParaRPr lang="ru-RU" sz="2400" dirty="0">
                    <a:latin typeface="Consolas" panose="020B0609020204030204" pitchFamily="49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828" y="6262779"/>
                  <a:ext cx="261738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8667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08EE6A0-C404-4113-9E25-EE604288698F}"/>
                    </a:ext>
                  </a:extLst>
                </p:cNvPr>
                <p:cNvSpPr txBox="1"/>
                <p:nvPr/>
              </p:nvSpPr>
              <p:spPr>
                <a:xfrm>
                  <a:off x="138941" y="5561215"/>
                  <a:ext cx="41136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𝟐𝟏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𝟖𝟗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𝟔𝟏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𝟓𝟓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𝟒𝟓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𝟗𝟗</m:t>
                        </m:r>
                      </m:oMath>
                    </m:oMathPara>
                  </a14:m>
                  <a:endParaRPr lang="ru-BY" sz="2400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08EE6A0-C404-4113-9E25-EE6042886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41" y="5561215"/>
                  <a:ext cx="4113627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664F7DE2-B49E-4F25-9F13-99908698E30F}"/>
              </a:ext>
            </a:extLst>
          </p:cNvPr>
          <p:cNvCxnSpPr>
            <a:cxnSpLocks/>
          </p:cNvCxnSpPr>
          <p:nvPr/>
        </p:nvCxnSpPr>
        <p:spPr>
          <a:xfrm>
            <a:off x="1642248" y="6042844"/>
            <a:ext cx="429698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5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239" y="2229633"/>
            <a:ext cx="112335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 </a:t>
            </a:r>
            <a:r>
              <a:rPr lang="ru-RU" sz="3200" b="1" dirty="0"/>
              <a:t>Операция удаления элемента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09661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4076922" y="762668"/>
                <a:ext cx="787572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arenR"/>
                </a:pPr>
                <a:r>
                  <a:rPr lang="ru-RU" sz="2400" dirty="0"/>
                  <a:t>Вычисляем хеш-значение для ключа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(45)=5</m:t>
                    </m:r>
                  </m:oMath>
                </a14:m>
                <a:r>
                  <a:rPr lang="ru-RU" sz="2400" dirty="0"/>
                  <a:t>. </a:t>
                </a:r>
              </a:p>
              <a:p>
                <a:pPr marL="457200" indent="-457200">
                  <a:buFont typeface="+mj-lt"/>
                  <a:buAutoNum type="arabicParenR"/>
                </a:pPr>
                <a:r>
                  <a:rPr lang="ru-RU" sz="2400" dirty="0"/>
                  <a:t>в списке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осуществляем поиск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922" y="762668"/>
                <a:ext cx="7875729" cy="1200329"/>
              </a:xfrm>
              <a:prstGeom prst="rect">
                <a:avLst/>
              </a:prstGeom>
              <a:blipFill>
                <a:blip r:embed="rId2"/>
                <a:stretch>
                  <a:fillRect l="-1238" t="-456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/>
          <p:cNvSpPr/>
          <p:nvPr/>
        </p:nvSpPr>
        <p:spPr>
          <a:xfrm>
            <a:off x="4239101" y="2058853"/>
            <a:ext cx="750611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В общем случае из односвязного списка удалить элемент из середины сложно. Однако в рассматриваемом случае, несмотря на то, что список односвязный удалять из него нетрудно:  </a:t>
            </a:r>
          </a:p>
          <a:p>
            <a:pPr marL="701675" indent="-342900" algn="just">
              <a:buFont typeface="Wingdings" panose="05000000000000000000" pitchFamily="2" charset="2"/>
              <a:buChar char="ü"/>
            </a:pPr>
            <a:r>
              <a:rPr lang="ru-RU" sz="2400" dirty="0"/>
              <a:t> так как мы движемся слева направо, то  можем поддерживать указатель на текущий элемент и на предыдущий</a:t>
            </a:r>
            <a:r>
              <a:rPr lang="en-US" sz="2400" dirty="0"/>
              <a:t>; </a:t>
            </a:r>
            <a:endParaRPr lang="ru-RU" sz="2400" dirty="0"/>
          </a:p>
          <a:p>
            <a:pPr marL="701675" indent="-342900" algn="just">
              <a:buFont typeface="Wingdings" panose="05000000000000000000" pitchFamily="2" charset="2"/>
              <a:buChar char="ü"/>
            </a:pPr>
            <a:r>
              <a:rPr lang="ru-RU" sz="2400" dirty="0"/>
              <a:t> при удалении указатель у предыдущего элемента перенаправляется на следующий элемент, а память из-под текущего элемента освобождается.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Таблица 3">
                <a:extLst>
                  <a:ext uri="{FF2B5EF4-FFF2-40B4-BE49-F238E27FC236}">
                    <a16:creationId xmlns:a16="http://schemas.microsoft.com/office/drawing/2014/main" id="{97C4F718-0414-403F-80BF-5429475CE0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593014"/>
                  </p:ext>
                </p:extLst>
              </p:nvPr>
            </p:nvGraphicFramePr>
            <p:xfrm>
              <a:off x="0" y="1544105"/>
              <a:ext cx="4264842" cy="4300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4279">
                      <a:extLst>
                        <a:ext uri="{9D8B030D-6E8A-4147-A177-3AD203B41FA5}">
                          <a16:colId xmlns:a16="http://schemas.microsoft.com/office/drawing/2014/main" val="272381683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31531452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9540431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2304584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14025528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178535690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7871855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91945545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730718273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550602099"/>
                        </a:ext>
                      </a:extLst>
                    </a:gridCol>
                  </a:tblGrid>
                  <a:tr h="440306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1367439"/>
                      </a:ext>
                    </a:extLst>
                  </a:tr>
                  <a:tr h="49746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5742421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2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6388127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3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1327598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4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4685681"/>
                      </a:ext>
                    </a:extLst>
                  </a:tr>
                  <a:tr h="50859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5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45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503986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7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5060749"/>
                      </a:ext>
                    </a:extLst>
                  </a:tr>
                  <a:tr h="499585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8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060096"/>
                      </a:ext>
                    </a:extLst>
                  </a:tr>
                  <a:tr h="44834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9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89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99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2771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Таблица 3">
                <a:extLst>
                  <a:ext uri="{FF2B5EF4-FFF2-40B4-BE49-F238E27FC236}">
                    <a16:creationId xmlns:a16="http://schemas.microsoft.com/office/drawing/2014/main" id="{97C4F718-0414-403F-80BF-5429475CE0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593014"/>
                  </p:ext>
                </p:extLst>
              </p:nvPr>
            </p:nvGraphicFramePr>
            <p:xfrm>
              <a:off x="0" y="1544105"/>
              <a:ext cx="4264842" cy="4300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4279">
                      <a:extLst>
                        <a:ext uri="{9D8B030D-6E8A-4147-A177-3AD203B41FA5}">
                          <a16:colId xmlns:a16="http://schemas.microsoft.com/office/drawing/2014/main" val="272381683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31531452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9540431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2304584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14025528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1785356901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2778718554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919455456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730718273"/>
                        </a:ext>
                      </a:extLst>
                    </a:gridCol>
                    <a:gridCol w="434507">
                      <a:extLst>
                        <a:ext uri="{9D8B030D-6E8A-4147-A177-3AD203B41FA5}">
                          <a16:colId xmlns:a16="http://schemas.microsoft.com/office/drawing/2014/main" val="3550602099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BY" sz="1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1367439"/>
                      </a:ext>
                    </a:extLst>
                  </a:tr>
                  <a:tr h="49746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61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5742421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2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6388127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ru-RU" sz="1400" dirty="0"/>
                            <a:t>3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1327598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4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4685681"/>
                      </a:ext>
                    </a:extLst>
                  </a:tr>
                  <a:tr h="50859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5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3099" t="-473494" r="-605634" b="-280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76389" t="-473494" r="-398611" b="-280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45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85915" t="-473494" r="-2817" b="-2807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503986"/>
                      </a:ext>
                    </a:extLst>
                  </a:tr>
                  <a:tr h="4570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/>
                            <a:t>7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5060749"/>
                      </a:ext>
                    </a:extLst>
                  </a:tr>
                  <a:tr h="499585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8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3060096"/>
                      </a:ext>
                    </a:extLst>
                  </a:tr>
                  <a:tr h="448344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9</a:t>
                          </a:r>
                          <a:endParaRPr lang="ru-BY" sz="1400" dirty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89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99</a:t>
                          </a:r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4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277151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E063A100-DBCE-4182-9255-D38B523A59E3}"/>
              </a:ext>
            </a:extLst>
          </p:cNvPr>
          <p:cNvCxnSpPr>
            <a:cxnSpLocks/>
          </p:cNvCxnSpPr>
          <p:nvPr/>
        </p:nvCxnSpPr>
        <p:spPr>
          <a:xfrm>
            <a:off x="1649743" y="2312129"/>
            <a:ext cx="425083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A88630DD-4E38-4F41-A1D1-EF157B2B2E65}"/>
              </a:ext>
            </a:extLst>
          </p:cNvPr>
          <p:cNvCxnSpPr>
            <a:cxnSpLocks/>
          </p:cNvCxnSpPr>
          <p:nvPr/>
        </p:nvCxnSpPr>
        <p:spPr>
          <a:xfrm>
            <a:off x="3383402" y="4260799"/>
            <a:ext cx="408220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32CE2F7-3882-4565-9A5D-298344EC880F}"/>
              </a:ext>
            </a:extLst>
          </p:cNvPr>
          <p:cNvCxnSpPr>
            <a:cxnSpLocks/>
          </p:cNvCxnSpPr>
          <p:nvPr/>
        </p:nvCxnSpPr>
        <p:spPr>
          <a:xfrm>
            <a:off x="775683" y="4238954"/>
            <a:ext cx="429698" cy="14563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77E9DE28-181A-4266-9FEC-26786C1F5F46}"/>
              </a:ext>
            </a:extLst>
          </p:cNvPr>
          <p:cNvCxnSpPr>
            <a:cxnSpLocks/>
          </p:cNvCxnSpPr>
          <p:nvPr/>
        </p:nvCxnSpPr>
        <p:spPr>
          <a:xfrm>
            <a:off x="2519188" y="2306245"/>
            <a:ext cx="438660" cy="5884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0B30B91B-9FAF-4FF2-97C9-1D2101D09AF9}"/>
              </a:ext>
            </a:extLst>
          </p:cNvPr>
          <p:cNvCxnSpPr>
            <a:cxnSpLocks/>
          </p:cNvCxnSpPr>
          <p:nvPr/>
        </p:nvCxnSpPr>
        <p:spPr>
          <a:xfrm flipV="1">
            <a:off x="1669355" y="4253517"/>
            <a:ext cx="427617" cy="7282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5599F471-E27F-4A96-A822-F013D9165527}"/>
              </a:ext>
            </a:extLst>
          </p:cNvPr>
          <p:cNvCxnSpPr>
            <a:cxnSpLocks/>
          </p:cNvCxnSpPr>
          <p:nvPr/>
        </p:nvCxnSpPr>
        <p:spPr>
          <a:xfrm flipV="1">
            <a:off x="2523347" y="4260799"/>
            <a:ext cx="434501" cy="804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22A63BA-C6EE-44D7-B924-11FA666E6247}"/>
              </a:ext>
            </a:extLst>
          </p:cNvPr>
          <p:cNvCxnSpPr>
            <a:cxnSpLocks/>
          </p:cNvCxnSpPr>
          <p:nvPr/>
        </p:nvCxnSpPr>
        <p:spPr>
          <a:xfrm>
            <a:off x="804802" y="2312129"/>
            <a:ext cx="400579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41AAC436-4EE3-42E5-9CCF-42D6FAA45537}"/>
              </a:ext>
            </a:extLst>
          </p:cNvPr>
          <p:cNvCxnSpPr>
            <a:cxnSpLocks/>
          </p:cNvCxnSpPr>
          <p:nvPr/>
        </p:nvCxnSpPr>
        <p:spPr>
          <a:xfrm>
            <a:off x="804802" y="5631779"/>
            <a:ext cx="429698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7596A15C-FD28-4055-BFBD-85D3C7A01862}"/>
              </a:ext>
            </a:extLst>
          </p:cNvPr>
          <p:cNvCxnSpPr>
            <a:cxnSpLocks/>
          </p:cNvCxnSpPr>
          <p:nvPr/>
        </p:nvCxnSpPr>
        <p:spPr>
          <a:xfrm>
            <a:off x="1649743" y="5631779"/>
            <a:ext cx="429698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EA4A62D-59EC-48E8-A00D-2D8ABA14EF3A}"/>
                  </a:ext>
                </a:extLst>
              </p:cNvPr>
              <p:cNvSpPr txBox="1"/>
              <p:nvPr/>
            </p:nvSpPr>
            <p:spPr>
              <a:xfrm>
                <a:off x="125913" y="484424"/>
                <a:ext cx="27979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10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EA4A62D-59EC-48E8-A00D-2D8ABA14E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3" y="484424"/>
                <a:ext cx="2797907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7989577-3416-4C7A-B2B2-064B9E69D6DF}"/>
                  </a:ext>
                </a:extLst>
              </p:cNvPr>
              <p:cNvSpPr txBox="1"/>
              <p:nvPr/>
            </p:nvSpPr>
            <p:spPr>
              <a:xfrm>
                <a:off x="4035984" y="228912"/>
                <a:ext cx="13548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7989577-3416-4C7A-B2B2-064B9E69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84" y="228912"/>
                <a:ext cx="135481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Дуга 56">
            <a:extLst>
              <a:ext uri="{FF2B5EF4-FFF2-40B4-BE49-F238E27FC236}">
                <a16:creationId xmlns:a16="http://schemas.microsoft.com/office/drawing/2014/main" id="{B1BFA145-A58E-4D04-AF89-7E0E3D028948}"/>
              </a:ext>
            </a:extLst>
          </p:cNvPr>
          <p:cNvSpPr/>
          <p:nvPr/>
        </p:nvSpPr>
        <p:spPr>
          <a:xfrm rot="8376574">
            <a:off x="2539260" y="3674838"/>
            <a:ext cx="1326116" cy="1128231"/>
          </a:xfrm>
          <a:prstGeom prst="arc">
            <a:avLst>
              <a:gd name="adj1" fmla="val 13779081"/>
              <a:gd name="adj2" fmla="val 2042068"/>
            </a:avLst>
          </a:prstGeom>
          <a:ln>
            <a:solidFill>
              <a:srgbClr val="000000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8562A8AA-1719-4989-8122-60F967697F53}"/>
              </a:ext>
            </a:extLst>
          </p:cNvPr>
          <p:cNvCxnSpPr>
            <a:cxnSpLocks/>
          </p:cNvCxnSpPr>
          <p:nvPr/>
        </p:nvCxnSpPr>
        <p:spPr>
          <a:xfrm>
            <a:off x="2638995" y="4147664"/>
            <a:ext cx="235741" cy="2419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F3DFA605-7318-41C6-84A5-70362BB0F3E6}"/>
              </a:ext>
            </a:extLst>
          </p:cNvPr>
          <p:cNvCxnSpPr>
            <a:cxnSpLocks/>
          </p:cNvCxnSpPr>
          <p:nvPr/>
        </p:nvCxnSpPr>
        <p:spPr>
          <a:xfrm>
            <a:off x="3439048" y="4139841"/>
            <a:ext cx="235741" cy="2419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42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8048" y="368974"/>
            <a:ext cx="11495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Таким образом, производительность всей конструкции связана с таким параметром, как длина цепочки.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391294" y="1443840"/>
                <a:ext cx="1149590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sub>
                    </m:sSub>
                  </m:oMath>
                </a14:m>
                <a:r>
                  <a:rPr lang="ru-RU" sz="2400" dirty="0"/>
                  <a:t>– длины цепочек (для каждого </a:t>
                </a:r>
                <a:r>
                  <a:rPr lang="ru-RU" sz="2400" dirty="0" err="1"/>
                  <a:t>хеш</a:t>
                </a:r>
                <a:r>
                  <a:rPr lang="ru-RU" sz="2400" dirty="0"/>
                  <a:t>-значения длина цепочки своя). </a:t>
                </a:r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94" y="1443840"/>
                <a:ext cx="11495903" cy="830997"/>
              </a:xfrm>
              <a:prstGeom prst="rect">
                <a:avLst/>
              </a:prstGeom>
              <a:blipFill>
                <a:blip r:embed="rId2"/>
                <a:stretch>
                  <a:fillRect l="-795" t="-5882" r="-63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412902" y="2359375"/>
                <a:ext cx="1149590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Каждая из базовых операций с ключом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 требует времени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— длина цепочки, в которую попадает ключ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. 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02" y="2359375"/>
                <a:ext cx="11495903" cy="830997"/>
              </a:xfrm>
              <a:prstGeom prst="rect">
                <a:avLst/>
              </a:prstGeom>
              <a:blipFill>
                <a:blip r:embed="rId3"/>
                <a:stretch>
                  <a:fillRect l="-848" t="-5882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22649" y="3639370"/>
            <a:ext cx="105567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/>
              <a:t>ВНИМАНИЕ </a:t>
            </a:r>
          </a:p>
          <a:p>
            <a:pPr lvl="1" algn="just"/>
            <a:r>
              <a:rPr lang="ru-RU" sz="2400" dirty="0"/>
              <a:t>Даже если цепочка имеет нулевую длину, то требуется выделить  время на то, чтобы вычислить </a:t>
            </a:r>
            <a:r>
              <a:rPr lang="ru-RU" sz="2400" dirty="0" err="1"/>
              <a:t>хеш</a:t>
            </a:r>
            <a:r>
              <a:rPr lang="ru-RU" sz="2400" dirty="0"/>
              <a:t>-значение (мы полагаем, что хеш-функция от ключа вычисляется за константу) и обратиться к соответствующей цепочке.</a:t>
            </a:r>
          </a:p>
        </p:txBody>
      </p:sp>
    </p:spTree>
    <p:extLst>
      <p:ext uri="{BB962C8B-B14F-4D97-AF65-F5344CB8AC3E}">
        <p14:creationId xmlns:p14="http://schemas.microsoft.com/office/powerpoint/2010/main" val="62236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64368" y="2271608"/>
            <a:ext cx="100632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Разрешение коллизий </a:t>
            </a:r>
            <a:r>
              <a:rPr lang="ru-RU" sz="3200" b="1" dirty="0"/>
              <a:t>методом</a:t>
            </a:r>
            <a:r>
              <a:rPr lang="ru-RU" sz="3200" dirty="0"/>
              <a:t> </a:t>
            </a:r>
            <a:r>
              <a:rPr lang="ru-RU" sz="3200" b="1" dirty="0"/>
              <a:t>открытой адресации</a:t>
            </a:r>
          </a:p>
          <a:p>
            <a:pPr algn="ctr"/>
            <a:r>
              <a:rPr lang="ru-RU" sz="3200" b="1" dirty="0"/>
              <a:t> </a:t>
            </a:r>
            <a:r>
              <a:rPr lang="ru-RU" sz="3200" dirty="0"/>
              <a:t>(англ. </a:t>
            </a:r>
            <a:r>
              <a:rPr lang="en-US" sz="3200" dirty="0"/>
              <a:t>open addressing)</a:t>
            </a:r>
            <a:r>
              <a:rPr lang="ru-RU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7987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445477" y="810758"/>
            <a:ext cx="117465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линейном массиве хранятся непосредственно ключи, а не заголовки связных списков.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233575"/>
              </p:ext>
            </p:extLst>
          </p:nvPr>
        </p:nvGraphicFramePr>
        <p:xfrm>
          <a:off x="2172677" y="1752879"/>
          <a:ext cx="7299569" cy="1388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9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99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9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99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94453"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5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F6BBEF-D955-4310-9FB5-7F2D09664AEA}"/>
              </a:ext>
            </a:extLst>
          </p:cNvPr>
          <p:cNvSpPr/>
          <p:nvPr/>
        </p:nvSpPr>
        <p:spPr>
          <a:xfrm>
            <a:off x="445477" y="3898016"/>
            <a:ext cx="105966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каждой ячейке массива разрешено хранить только один элемент.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F03BF-8290-494A-B42E-C90B47ED9C52}"/>
              </a:ext>
            </a:extLst>
          </p:cNvPr>
          <p:cNvSpPr txBox="1"/>
          <p:nvPr/>
        </p:nvSpPr>
        <p:spPr>
          <a:xfrm>
            <a:off x="445477" y="4740719"/>
            <a:ext cx="6131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Что делать, если произошла коллизия?</a:t>
            </a:r>
          </a:p>
        </p:txBody>
      </p:sp>
    </p:spTree>
    <p:extLst>
      <p:ext uri="{BB962C8B-B14F-4D97-AF65-F5344CB8AC3E}">
        <p14:creationId xmlns:p14="http://schemas.microsoft.com/office/powerpoint/2010/main" val="291513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2440" y="749251"/>
            <a:ext cx="73871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Последовательность проб </a:t>
            </a:r>
          </a:p>
          <a:p>
            <a:pPr algn="ctr"/>
            <a:r>
              <a:rPr lang="ru-RU" sz="2400" dirty="0"/>
              <a:t>(англ. </a:t>
            </a:r>
            <a:r>
              <a:rPr lang="ru-RU" sz="2400" dirty="0" err="1"/>
              <a:t>probe</a:t>
            </a:r>
            <a:r>
              <a:rPr lang="ru-RU" sz="2400" dirty="0"/>
              <a:t> </a:t>
            </a:r>
            <a:r>
              <a:rPr lang="ru-RU" sz="2400" dirty="0" err="1"/>
              <a:t>sequence</a:t>
            </a:r>
            <a:r>
              <a:rPr lang="ru-RU" sz="2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883092" y="1798083"/>
                <a:ext cx="1111943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Обозначим через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b="1" i="1" dirty="0" err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400" b="1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400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ru-RU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b="1" dirty="0">
                    <a:solidFill>
                      <a:schemeClr val="accent6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2400" dirty="0"/>
                  <a:t>номер ячейки в массиве, к которой следует обращаться на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ru-RU" sz="2400" dirty="0"/>
                  <a:t>-й попытке при выполнении операций с ключом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. 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92" y="1798083"/>
                <a:ext cx="11119438" cy="830997"/>
              </a:xfrm>
              <a:prstGeom prst="rect">
                <a:avLst/>
              </a:prstGeom>
              <a:blipFill>
                <a:blip r:embed="rId2"/>
                <a:stretch>
                  <a:fillRect l="-877" t="-5882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990599" y="4169757"/>
                <a:ext cx="1028441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Последовательность проб для ключа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 получается такой: 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ru-RU" sz="2400" b="1" dirty="0">
                  <a:latin typeface="Consolas" panose="020B0609020204030204" pitchFamily="49" charset="0"/>
                </a:endParaRP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ru-RU" sz="2400" b="1" dirty="0">
                  <a:latin typeface="Consolas" panose="020B0609020204030204" pitchFamily="49" charset="0"/>
                </a:endParaRP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ru-RU" sz="2400" b="1" dirty="0">
                  <a:latin typeface="Consolas" panose="020B0609020204030204" pitchFamily="49" charset="0"/>
                </a:endParaRP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ru-RU" sz="2400" b="1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4169757"/>
                <a:ext cx="10284416" cy="1938992"/>
              </a:xfrm>
              <a:prstGeom prst="rect">
                <a:avLst/>
              </a:prstGeom>
              <a:blipFill>
                <a:blip r:embed="rId3"/>
                <a:stretch>
                  <a:fillRect l="-889" t="-251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29E334-9A5F-4A62-A610-04B06A11517F}"/>
                  </a:ext>
                </a:extLst>
              </p:cNvPr>
              <p:cNvSpPr txBox="1"/>
              <p:nvPr/>
            </p:nvSpPr>
            <p:spPr>
              <a:xfrm>
                <a:off x="912399" y="3168586"/>
                <a:ext cx="106504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Будем нумеровать попытки с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ru-RU" sz="2400" b="1" dirty="0"/>
                  <a:t> </a:t>
                </a:r>
                <a:r>
                  <a:rPr lang="ru-RU" sz="2400" dirty="0"/>
                  <a:t>для каждого вновь поступающего элемента.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29E334-9A5F-4A62-A610-04B06A115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99" y="3168586"/>
                <a:ext cx="10650415" cy="461665"/>
              </a:xfrm>
              <a:prstGeom prst="rect">
                <a:avLst/>
              </a:prstGeom>
              <a:blipFill>
                <a:blip r:embed="rId4"/>
                <a:stretch>
                  <a:fillRect l="-916" t="-10526" b="-2894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3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730691" y="736581"/>
                <a:ext cx="11119439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Для успешной работы алгоритмов поиска последовательность проб должна быть такой, чтобы в результате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2400" b="1" dirty="0">
                    <a:latin typeface="Consolas" panose="020B0609020204030204" pitchFamily="49" charset="0"/>
                  </a:rPr>
                  <a:t> </a:t>
                </a:r>
                <a:r>
                  <a:rPr lang="ru-RU" sz="2400" dirty="0"/>
                  <a:t>проб все ячейки хеш-таблицы оказались просмотренными ровно по одному разу в каком-либо порядке: </a:t>
                </a:r>
              </a:p>
              <a:p>
                <a:pPr algn="just"/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 {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0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0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) | 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 = 0,1,…,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 − 1} = {0,1,…,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b="0" i="1" dirty="0" smtClean="0">
                          <a:latin typeface="Cambria Math" panose="02040503050406030204" pitchFamily="18" charset="0"/>
                        </a:rPr>
                        <m:t> − 1}. 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91" y="736581"/>
                <a:ext cx="11119439" cy="1938992"/>
              </a:xfrm>
              <a:prstGeom prst="rect">
                <a:avLst/>
              </a:prstGeom>
              <a:blipFill>
                <a:blip r:embed="rId2"/>
                <a:stretch>
                  <a:fillRect l="-877" t="-2516" r="-822" b="-345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859644" y="3198167"/>
            <a:ext cx="82522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Широко используются три вида последовательностей проб: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942174" y="3766639"/>
            <a:ext cx="19661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400" dirty="0"/>
              <a:t>линейная</a:t>
            </a:r>
            <a:r>
              <a:rPr lang="en-US" sz="2400" dirty="0"/>
              <a:t>;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42173" y="4157386"/>
            <a:ext cx="2465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ru-RU" sz="2400" dirty="0"/>
              <a:t>квадратичная</a:t>
            </a:r>
            <a:r>
              <a:rPr lang="en-US" sz="2400" dirty="0"/>
              <a:t>;</a:t>
            </a:r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936779" y="4548133"/>
            <a:ext cx="36912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ru-RU" sz="2400" dirty="0"/>
              <a:t>двойное хеширование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3B6D1D-3FD6-6674-F4E6-2EB273D2D2AC}"/>
              </a:ext>
            </a:extLst>
          </p:cNvPr>
          <p:cNvSpPr/>
          <p:nvPr/>
        </p:nvSpPr>
        <p:spPr>
          <a:xfrm>
            <a:off x="656289" y="185919"/>
            <a:ext cx="82522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Требования к функции пробирования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09362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7100" y="326282"/>
            <a:ext cx="4115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Линейное пробирование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29983" y="2672569"/>
            <a:ext cx="105880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842060" y="1718462"/>
                <a:ext cx="10983514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Ячейки хеш-таблицы последовательно просматриваются с некоторым фиксированным интервалом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sz="2400" dirty="0"/>
                  <a:t> между ячейками: </a:t>
                </a:r>
              </a:p>
              <a:p>
                <a:pPr algn="just"/>
                <a:endParaRPr lang="ru-RU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ru-RU" sz="2400" b="0" i="0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sz="2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algn="ctr"/>
                <a:endParaRPr lang="ru-RU" sz="2400" b="1" dirty="0"/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400" dirty="0"/>
                  <a:t>— некоторая хеш-функция. 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60" y="1718462"/>
                <a:ext cx="10983514" cy="2308324"/>
              </a:xfrm>
              <a:prstGeom prst="rect">
                <a:avLst/>
              </a:prstGeom>
              <a:blipFill>
                <a:blip r:embed="rId2"/>
                <a:stretch>
                  <a:fillRect l="-832" t="-2111" r="-888" b="-501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988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1799528" y="369820"/>
                <a:ext cx="506110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 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+2·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 10</m:t>
                    </m:r>
                  </m:oMath>
                </a14:m>
                <a:endParaRPr lang="ru-RU" sz="2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528" y="369820"/>
                <a:ext cx="506110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492210" y="1443600"/>
                <a:ext cx="869617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/>
                <a:r>
                  <a:rPr lang="ru-RU" sz="2400" dirty="0"/>
                  <a:t>Например, при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= 5</m:t>
                    </m:r>
                  </m:oMath>
                </a14:m>
                <a:r>
                  <a:rPr lang="ru-RU" sz="2400" dirty="0"/>
                  <a:t>, подставляя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400" dirty="0"/>
                  <a:t> от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400" dirty="0"/>
                  <a:t> до </a:t>
                </a:r>
                <a:r>
                  <a:rPr lang="ru-RU" sz="2400" dirty="0">
                    <a:latin typeface="Consolas" panose="020B0609020204030204" pitchFamily="49" charset="0"/>
                  </a:rPr>
                  <a:t>9</a:t>
                </a:r>
                <a:r>
                  <a:rPr lang="ru-RU" sz="2400" dirty="0"/>
                  <a:t>, будем получать индексы: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5,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7,9,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5,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7,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9,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ru-RU" sz="2400" dirty="0">
                    <a:latin typeface="Consolas" panose="020B0609020204030204" pitchFamily="49" charset="0"/>
                  </a:rPr>
                  <a:t> </a:t>
                </a:r>
              </a:p>
              <a:p>
                <a:pPr lvl="2"/>
                <a:r>
                  <a:rPr lang="ru-RU" sz="2400" dirty="0"/>
                  <a:t>в результате чётные позиции оказываются не посещены. 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10" y="1443600"/>
                <a:ext cx="8696178" cy="1200329"/>
              </a:xfrm>
              <a:prstGeom prst="rect">
                <a:avLst/>
              </a:prstGeom>
              <a:blipFill>
                <a:blip r:embed="rId3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30193" y="390444"/>
            <a:ext cx="13260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Функция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92210" y="4387627"/>
                <a:ext cx="650247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ru-RU" sz="2400" dirty="0"/>
                  <a:t>Например, при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 = 5</m:t>
                    </m:r>
                  </m:oMath>
                </a14:m>
                <a:r>
                  <a:rPr lang="ru-RU" sz="2400" dirty="0"/>
                  <a:t>, подставляя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400" dirty="0"/>
                  <a:t> от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400" dirty="0"/>
                  <a:t> до </a:t>
                </a:r>
                <a:r>
                  <a:rPr lang="ru-RU" sz="2400" dirty="0">
                    <a:latin typeface="Consolas" panose="020B0609020204030204" pitchFamily="49" charset="0"/>
                  </a:rPr>
                  <a:t>9</a:t>
                </a:r>
                <a:r>
                  <a:rPr lang="ru-RU" sz="2400" dirty="0"/>
                  <a:t>, получим каждый индекс ровно один раз: 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5,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8,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4,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7,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3,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6,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9,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10" y="4387627"/>
                <a:ext cx="6502479" cy="1200329"/>
              </a:xfrm>
              <a:prstGeom prst="rect">
                <a:avLst/>
              </a:prstGeom>
              <a:blipFill>
                <a:blip r:embed="rId4"/>
                <a:stretch>
                  <a:fillRect t="-406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1971011" y="3060396"/>
                <a:ext cx="638287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+3·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ru-RU" sz="28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ru-RU" sz="2800" i="1" dirty="0">
                        <a:latin typeface="Cambria Math" panose="02040503050406030204" pitchFamily="18" charset="0"/>
                      </a:rPr>
                      <m:t> 10</m:t>
                    </m:r>
                  </m:oMath>
                </a14:m>
                <a:endParaRPr lang="ru-RU" sz="2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011" y="3060396"/>
                <a:ext cx="638287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302201" y="2894256"/>
            <a:ext cx="11528981" cy="94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0DC3DC-C887-42E9-8486-90CFFEE2C6E4}"/>
              </a:ext>
            </a:extLst>
          </p:cNvPr>
          <p:cNvSpPr txBox="1"/>
          <p:nvPr/>
        </p:nvSpPr>
        <p:spPr>
          <a:xfrm>
            <a:off x="445607" y="879307"/>
            <a:ext cx="7921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</a:rPr>
              <a:t>НЕ ПОДХОДИТ </a:t>
            </a:r>
            <a:r>
              <a:rPr lang="ru-RU" sz="2400" dirty="0"/>
              <a:t>в качестве последовательности проб.</a:t>
            </a:r>
            <a:endParaRPr lang="ru-BY" sz="24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4379FA0-4E18-4D36-973E-227451D97D2E}"/>
              </a:ext>
            </a:extLst>
          </p:cNvPr>
          <p:cNvSpPr/>
          <p:nvPr/>
        </p:nvSpPr>
        <p:spPr>
          <a:xfrm>
            <a:off x="492210" y="3108938"/>
            <a:ext cx="13260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Функция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7079ED-B952-4109-A8E9-106F9BA04503}"/>
              </a:ext>
            </a:extLst>
          </p:cNvPr>
          <p:cNvSpPr txBox="1"/>
          <p:nvPr/>
        </p:nvSpPr>
        <p:spPr>
          <a:xfrm>
            <a:off x="0" y="3558039"/>
            <a:ext cx="7984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ru-RU" sz="2400" b="1" dirty="0">
                <a:solidFill>
                  <a:srgbClr val="FF0000"/>
                </a:solidFill>
              </a:rPr>
              <a:t>ПОДХОДИТ </a:t>
            </a:r>
            <a:r>
              <a:rPr lang="ru-RU" sz="2400" dirty="0"/>
              <a:t>в качестве последовательности проб</a:t>
            </a:r>
            <a:endParaRPr lang="ru-BY" sz="24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1F91875-C43E-8204-4F21-58D10728C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177173"/>
              </p:ext>
            </p:extLst>
          </p:nvPr>
        </p:nvGraphicFramePr>
        <p:xfrm>
          <a:off x="8939814" y="930881"/>
          <a:ext cx="306323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7909"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12"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05B9B59-4A3F-A693-3083-B5CC35F3D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693067"/>
              </p:ext>
            </p:extLst>
          </p:nvPr>
        </p:nvGraphicFramePr>
        <p:xfrm>
          <a:off x="8074119" y="4387627"/>
          <a:ext cx="306323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3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7909"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12"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51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AF9420-4F30-4096-816E-C24DB64A2BFD}"/>
              </a:ext>
            </a:extLst>
          </p:cNvPr>
          <p:cNvSpPr/>
          <p:nvPr/>
        </p:nvSpPr>
        <p:spPr>
          <a:xfrm>
            <a:off x="522960" y="1307964"/>
            <a:ext cx="1322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Теорема</a:t>
            </a:r>
            <a:endParaRPr lang="en-US" sz="2400" b="1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E41963F-A7FE-47D5-9B16-E4FA65BFB3BE}"/>
              </a:ext>
            </a:extLst>
          </p:cNvPr>
          <p:cNvCxnSpPr>
            <a:cxnSpLocks/>
          </p:cNvCxnSpPr>
          <p:nvPr/>
        </p:nvCxnSpPr>
        <p:spPr>
          <a:xfrm>
            <a:off x="1184390" y="1769629"/>
            <a:ext cx="0" cy="12003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D9BAA6DA-03A0-4528-93D5-CCFC836EE749}"/>
                  </a:ext>
                </a:extLst>
              </p:cNvPr>
              <p:cNvSpPr/>
              <p:nvPr/>
            </p:nvSpPr>
            <p:spPr>
              <a:xfrm>
                <a:off x="1344278" y="1769629"/>
                <a:ext cx="1028337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Для того чтобы в ходе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2400" dirty="0"/>
                  <a:t> проб все ячейки таблицы оказались просмотренными по одному разу, необходимо и достаточно, чтобы число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sz="2400" dirty="0"/>
                  <a:t> было взаимно простым с размером хеш-таблицы </a:t>
                </a:r>
                <a14:m>
                  <m:oMath xmlns:m="http://schemas.openxmlformats.org/officeDocument/2006/math">
                    <m:r>
                      <a:rPr lang="ru-RU" sz="2400" b="1" i="1" dirty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D9BAA6DA-03A0-4528-93D5-CCFC836EE7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278" y="1769629"/>
                <a:ext cx="10283371" cy="1200329"/>
              </a:xfrm>
              <a:prstGeom prst="rect">
                <a:avLst/>
              </a:prstGeom>
              <a:blipFill>
                <a:blip r:embed="rId2"/>
                <a:stretch>
                  <a:fillRect l="-949" t="-4061" r="-949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E285970F-5359-49A1-958E-95A54227CF28}"/>
                  </a:ext>
                </a:extLst>
              </p:cNvPr>
              <p:cNvSpPr/>
              <p:nvPr/>
            </p:nvSpPr>
            <p:spPr>
              <a:xfrm>
                <a:off x="1088553" y="3764933"/>
                <a:ext cx="9476349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2400" dirty="0"/>
                  <a:t>В простейшем случае можно взять единицу в качестве константы </a:t>
                </a:r>
                <a14:m>
                  <m:oMath xmlns:m="http://schemas.openxmlformats.org/officeDocument/2006/math">
                    <m:r>
                      <a:rPr lang="ru-R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sz="2400" b="1" dirty="0">
                    <a:latin typeface="Consolas" panose="020B0609020204030204" pitchFamily="49" charset="0"/>
                  </a:rPr>
                  <a:t> 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pPr algn="ctr"/>
                <a:endParaRPr lang="ru-RU" sz="2800" b="1" dirty="0">
                  <a:latin typeface="Consolas" panose="020B0609020204030204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b="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800" b="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800" b="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800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ru-RU" sz="2800" b="0" i="0" dirty="0" err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800" b="0" i="1" dirty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ru-RU" sz="2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E285970F-5359-49A1-958E-95A54227C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553" y="3764933"/>
                <a:ext cx="9476349" cy="1323439"/>
              </a:xfrm>
              <a:prstGeom prst="rect">
                <a:avLst/>
              </a:prstGeom>
              <a:blipFill>
                <a:blip r:embed="rId3"/>
                <a:stretch>
                  <a:fillRect t="-368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2A358-CDBD-450A-A8C3-BE3FC1EE9C24}"/>
                  </a:ext>
                </a:extLst>
              </p:cNvPr>
              <p:cNvSpPr txBox="1"/>
              <p:nvPr/>
            </p:nvSpPr>
            <p:spPr>
              <a:xfrm>
                <a:off x="2219785" y="510367"/>
                <a:ext cx="61311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sz="2800" b="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ru-RU" sz="2800" b="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8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ru-RU" sz="2800" b="0" i="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ru-RU" sz="28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8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8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2A358-CDBD-450A-A8C3-BE3FC1EE9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785" y="510367"/>
                <a:ext cx="613116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39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30691" y="1711277"/>
            <a:ext cx="105880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16433" y="540370"/>
                <a:ext cx="11416611" cy="60631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800" b="1" dirty="0"/>
                  <a:t>Доказательство. </a:t>
                </a:r>
              </a:p>
              <a:p>
                <a:pPr lvl="1"/>
                <a:endParaRPr lang="ru-RU" sz="2000" dirty="0"/>
              </a:p>
              <a:p>
                <a:pPr lvl="1"/>
                <a:r>
                  <a:rPr lang="ru-RU" sz="2000" dirty="0"/>
                  <a:t>Воспользуемся сведениями из элементарной теории чисел. </a:t>
                </a:r>
              </a:p>
              <a:p>
                <a:pPr lvl="1" algn="just"/>
                <a:endParaRPr lang="ru-RU" sz="2000" u="sng" dirty="0"/>
              </a:p>
              <a:p>
                <a:pPr lvl="1" algn="just"/>
                <a:r>
                  <a:rPr lang="ru-RU" sz="2000" u="sng" dirty="0"/>
                  <a:t>Докажем необходимость</a:t>
                </a:r>
              </a:p>
              <a:p>
                <a:pPr lvl="2" algn="just"/>
                <a:r>
                  <a:rPr lang="ru-RU" sz="2000" dirty="0"/>
                  <a:t>Пусть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 пробегает все значения от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000" dirty="0"/>
                  <a:t> до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ru-RU" sz="2000" dirty="0"/>
                  <a:t>. Значит, для любого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000" dirty="0"/>
                  <a:t> найдётся такой индекс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/>
                  <a:t>, что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ru-RU" sz="2000" i="0" dirty="0" err="1">
                        <a:latin typeface="Cambria Math" panose="02040503050406030204" pitchFamily="18" charset="0"/>
                      </a:rPr>
                      <m:t>mod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. В частности, это верно для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ru-RU" sz="2000" dirty="0"/>
                  <a:t>. Следовательно, есть такое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/>
                  <a:t>, что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≡ </m:t>
                    </m:r>
                  </m:oMath>
                </a14:m>
                <a:r>
                  <a:rPr lang="ru-RU" sz="2000" dirty="0"/>
                  <a:t> 1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00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), или, другими словами,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·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− 1 </m:t>
                    </m:r>
                  </m:oMath>
                </a14:m>
                <a:r>
                  <a:rPr lang="ru-RU" sz="2000" dirty="0"/>
                  <a:t>делится на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. Пусть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2000" dirty="0"/>
                  <a:t> — общий делитель чисел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sz="2000" dirty="0"/>
                  <a:t> и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. Тогда число 1 также вынуждено делиться на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sz="2000" dirty="0"/>
                  <a:t>. Значит,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= ±1</m:t>
                    </m:r>
                  </m:oMath>
                </a14:m>
                <a:r>
                  <a:rPr lang="ru-RU" sz="2000" dirty="0"/>
                  <a:t>, т.е. числа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sz="2000" dirty="0"/>
                  <a:t> и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 взаимно просты и не могут иметь других общих делителей. </a:t>
                </a:r>
                <a:endParaRPr lang="ru-RU" sz="2000" u="sng" dirty="0"/>
              </a:p>
              <a:p>
                <a:pPr lvl="1" algn="just"/>
                <a:endParaRPr lang="ru-RU" sz="2000" u="sng" dirty="0"/>
              </a:p>
              <a:p>
                <a:pPr lvl="1" algn="just"/>
                <a:r>
                  <a:rPr lang="ru-RU" sz="2000" u="sng" dirty="0"/>
                  <a:t>Докажем достаточность</a:t>
                </a:r>
                <a:endParaRPr lang="ru-RU" sz="2000" dirty="0"/>
              </a:p>
              <a:p>
                <a:pPr lvl="2" algn="just"/>
                <a:r>
                  <a:rPr lang="ru-RU" sz="2000" dirty="0"/>
                  <a:t>Пусть числа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sz="2000" dirty="0"/>
                  <a:t> и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 взаимно просты. Предположим от противного, что при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/>
                  <a:t>-й и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sz="2000" dirty="0"/>
                  <a:t>-й пробах получаются одинаковые индексы: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. Но это значит, что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ru-RU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ru-RU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ru-RU" sz="2000" dirty="0"/>
                  <a:t>или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·(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 ≡ 0 (</m:t>
                    </m:r>
                    <m:r>
                      <a:rPr lang="ru-RU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r>
                  <a:rPr lang="ru-RU" sz="2000" dirty="0"/>
                  <a:t>Отсюда следует, что разность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делится на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 без остатка. Но раз номера попыток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оба лежат на отрезке от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0 до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ru-RU" sz="2000" dirty="0"/>
                  <a:t>, то это возможно лишь в случае, когда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sz="2000" dirty="0"/>
                  <a:t>. Противоречие. Значит, при всех попытках пробы получаются разными. Поскольку попыток всего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, каждая ячейка будет учтена по одному разу.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33" y="540370"/>
                <a:ext cx="11416611" cy="6063198"/>
              </a:xfrm>
              <a:prstGeom prst="rect">
                <a:avLst/>
              </a:prstGeom>
              <a:blipFill>
                <a:blip r:embed="rId2"/>
                <a:stretch>
                  <a:fillRect l="-1121" t="-1006" r="-534" b="-9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8A54FFE-A512-2BA8-C763-C0A94A14A112}"/>
              </a:ext>
            </a:extLst>
          </p:cNvPr>
          <p:cNvSpPr txBox="1"/>
          <p:nvPr/>
        </p:nvSpPr>
        <p:spPr>
          <a:xfrm>
            <a:off x="458955" y="69766"/>
            <a:ext cx="11416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ДЛЯ ТЕХ, КТО ХОЧЕТ СТРОГОГО МАТЕМАТИЧЕСКОГО ОБОСНОВАНИЯ</a:t>
            </a:r>
            <a:endParaRPr lang="ru-BY" sz="2800" dirty="0"/>
          </a:p>
        </p:txBody>
      </p:sp>
    </p:spTree>
    <p:extLst>
      <p:ext uri="{BB962C8B-B14F-4D97-AF65-F5344CB8AC3E}">
        <p14:creationId xmlns:p14="http://schemas.microsoft.com/office/powerpoint/2010/main" val="1334827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926" y="4386921"/>
            <a:ext cx="113256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Недостаток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линейного пробирования проявляется в том, что на реальных данных часто образуются</a:t>
            </a:r>
            <a:r>
              <a:rPr lang="ru-RU" b="1" u="sng" dirty="0">
                <a:solidFill>
                  <a:srgbClr val="000000"/>
                </a:solidFill>
              </a:rPr>
              <a:t> кластеры из занятых ячеек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(длинные последовательности ячеек, идущих подряд). 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При непрерывном расположении заполненных ячеек увеличивается время добавления нового элемента и других операций.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18178" y="342828"/>
            <a:ext cx="402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Линейное пробирование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308103" y="1065976"/>
                <a:ext cx="4848379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103" y="1065976"/>
                <a:ext cx="4848379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7110521-9F97-4577-BEBA-E1480B6B929D}"/>
              </a:ext>
            </a:extLst>
          </p:cNvPr>
          <p:cNvSpPr txBox="1"/>
          <p:nvPr/>
        </p:nvSpPr>
        <p:spPr>
          <a:xfrm>
            <a:off x="630848" y="1824748"/>
            <a:ext cx="10755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/>
              <a:t>Ячейки хеш-таблицы последовательно просматриваются с некоторым фиксированным интервалом c между ячейками: </a:t>
            </a:r>
          </a:p>
        </p:txBody>
      </p:sp>
      <p:graphicFrame>
        <p:nvGraphicFramePr>
          <p:cNvPr id="15" name="Таблица 15">
            <a:extLst>
              <a:ext uri="{FF2B5EF4-FFF2-40B4-BE49-F238E27FC236}">
                <a16:creationId xmlns:a16="http://schemas.microsoft.com/office/drawing/2014/main" id="{6589CD86-489B-49F8-8647-611040862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365857"/>
              </p:ext>
            </p:extLst>
          </p:nvPr>
        </p:nvGraphicFramePr>
        <p:xfrm>
          <a:off x="1978945" y="3089324"/>
          <a:ext cx="7320251" cy="369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603">
                  <a:extLst>
                    <a:ext uri="{9D8B030D-6E8A-4147-A177-3AD203B41FA5}">
                      <a16:colId xmlns:a16="http://schemas.microsoft.com/office/drawing/2014/main" val="362176855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90052595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499314310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71645399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12805692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408911985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429266693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87059732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161899938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06668928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28075479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5900085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3581462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35214931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99204702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766732964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642122321"/>
                    </a:ext>
                  </a:extLst>
                </a:gridCol>
              </a:tblGrid>
              <a:tr h="369331"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965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DD25E2-A8C7-475E-8FAD-F6C139C07796}"/>
                  </a:ext>
                </a:extLst>
              </p:cNvPr>
              <p:cNvSpPr txBox="1"/>
              <p:nvPr/>
            </p:nvSpPr>
            <p:spPr>
              <a:xfrm>
                <a:off x="848412" y="3059668"/>
                <a:ext cx="984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ru-BY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DD25E2-A8C7-475E-8FAD-F6C139C07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12" y="3059668"/>
                <a:ext cx="98412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Таблица 15">
            <a:extLst>
              <a:ext uri="{FF2B5EF4-FFF2-40B4-BE49-F238E27FC236}">
                <a16:creationId xmlns:a16="http://schemas.microsoft.com/office/drawing/2014/main" id="{FB8337B2-4EE5-4D62-B502-A4EC682FC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814590"/>
              </p:ext>
            </p:extLst>
          </p:nvPr>
        </p:nvGraphicFramePr>
        <p:xfrm>
          <a:off x="1978945" y="3628343"/>
          <a:ext cx="7320251" cy="369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603">
                  <a:extLst>
                    <a:ext uri="{9D8B030D-6E8A-4147-A177-3AD203B41FA5}">
                      <a16:colId xmlns:a16="http://schemas.microsoft.com/office/drawing/2014/main" val="362176855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90052595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499314310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71645399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12805692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408911985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429266693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87059732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161899938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06668928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28075479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5900085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3581462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35214931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99204702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766732964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642122321"/>
                    </a:ext>
                  </a:extLst>
                </a:gridCol>
              </a:tblGrid>
              <a:tr h="369331"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65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CA3DDF-01B3-4951-B34B-E98D125FB1C5}"/>
                  </a:ext>
                </a:extLst>
              </p:cNvPr>
              <p:cNvSpPr txBox="1"/>
              <p:nvPr/>
            </p:nvSpPr>
            <p:spPr>
              <a:xfrm>
                <a:off x="848412" y="3598687"/>
                <a:ext cx="984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BY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CA3DDF-01B3-4951-B34B-E98D125FB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12" y="3598687"/>
                <a:ext cx="9841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Таблица 15">
            <a:extLst>
              <a:ext uri="{FF2B5EF4-FFF2-40B4-BE49-F238E27FC236}">
                <a16:creationId xmlns:a16="http://schemas.microsoft.com/office/drawing/2014/main" id="{1B42D700-DCD7-443A-8B48-51C40761A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851169"/>
              </p:ext>
            </p:extLst>
          </p:nvPr>
        </p:nvGraphicFramePr>
        <p:xfrm>
          <a:off x="1978945" y="2595386"/>
          <a:ext cx="7320251" cy="369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603">
                  <a:extLst>
                    <a:ext uri="{9D8B030D-6E8A-4147-A177-3AD203B41FA5}">
                      <a16:colId xmlns:a16="http://schemas.microsoft.com/office/drawing/2014/main" val="362176855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90052595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499314310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71645399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12805692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408911985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429266693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87059732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161899938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06668928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28075479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5900085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35814627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3352149319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992047022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2766732964"/>
                    </a:ext>
                  </a:extLst>
                </a:gridCol>
                <a:gridCol w="430603">
                  <a:extLst>
                    <a:ext uri="{9D8B030D-6E8A-4147-A177-3AD203B41FA5}">
                      <a16:colId xmlns:a16="http://schemas.microsoft.com/office/drawing/2014/main" val="642122321"/>
                    </a:ext>
                  </a:extLst>
                </a:gridCol>
              </a:tblGrid>
              <a:tr h="369331"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65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05B2E8-90D0-4608-9E40-51697DE092DD}"/>
                  </a:ext>
                </a:extLst>
              </p:cNvPr>
              <p:cNvSpPr txBox="1"/>
              <p:nvPr/>
            </p:nvSpPr>
            <p:spPr>
              <a:xfrm>
                <a:off x="848412" y="2565730"/>
                <a:ext cx="9841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BY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05B2E8-90D0-4608-9E40-51697DE09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12" y="2565730"/>
                <a:ext cx="98412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89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9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4288810" y="280258"/>
            <a:ext cx="3352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Двойное хеширование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798236" y="1102470"/>
                <a:ext cx="10595529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b="1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400" b="1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400" b="1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400" b="1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400" b="1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)·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ru-RU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</a:t>
                </a: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dirty="0"/>
                      <m:t>𝒉</m:t>
                    </m:r>
                    <m:r>
                      <a:rPr lang="ru-RU" sz="2000" baseline="-25000" dirty="0"/>
                      <m:t>𝟏</m:t>
                    </m:r>
                    <m:r>
                      <a:rPr lang="ru-RU" sz="2000" dirty="0"/>
                      <m:t> </m:t>
                    </m:r>
                    <m:d>
                      <m:dPr>
                        <m:ctrlPr>
                          <a:rPr lang="ru-RU" sz="2000" dirty="0"/>
                        </m:ctrlPr>
                      </m:dPr>
                      <m:e>
                        <m:r>
                          <a:rPr lang="ru-RU" sz="2000" dirty="0"/>
                          <m:t>𝒙</m:t>
                        </m:r>
                      </m:e>
                    </m:d>
                    <m:r>
                      <a:rPr lang="ru-RU" sz="2000" dirty="0"/>
                      <m:t>,</m:t>
                    </m:r>
                    <m:r>
                      <a:rPr lang="ru-RU" sz="2000" dirty="0"/>
                      <m:t>𝒉</m:t>
                    </m:r>
                    <m:r>
                      <a:rPr lang="ru-RU" sz="2000" baseline="-25000" dirty="0"/>
                      <m:t>𝟐</m:t>
                    </m:r>
                    <m:r>
                      <a:rPr lang="ru-RU" sz="2000" dirty="0"/>
                      <m:t> </m:t>
                    </m:r>
                    <m:d>
                      <m:dPr>
                        <m:ctrlPr>
                          <a:rPr lang="ru-RU" sz="2000" dirty="0"/>
                        </m:ctrlPr>
                      </m:dPr>
                      <m:e>
                        <m:r>
                          <a:rPr lang="ru-RU" sz="2000" dirty="0"/>
                          <m:t>𝒙</m:t>
                        </m:r>
                      </m:e>
                    </m:d>
                    <m:r>
                      <a:rPr lang="ru-RU" sz="2000" dirty="0"/>
                      <m:t>−</m:t>
                    </m:r>
                    <m:r>
                      <a:rPr lang="ru-RU" sz="2000" b="0" i="0" dirty="0" smtClean="0">
                        <a:latin typeface="Cambria Math" panose="02040503050406030204" pitchFamily="18" charset="0"/>
                      </a:rPr>
                      <m:t>обычные </m:t>
                    </m:r>
                    <m:r>
                      <a:rPr lang="ru-RU" sz="2000" dirty="0"/>
                      <m:t>хеш−функции</m:t>
                    </m:r>
                  </m:oMath>
                </a14:m>
                <a:endParaRPr lang="ru-RU" sz="2000" dirty="0"/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6" y="1102470"/>
                <a:ext cx="10595529" cy="461665"/>
              </a:xfrm>
              <a:prstGeom prst="rect">
                <a:avLst/>
              </a:prstGeom>
              <a:blipFill>
                <a:blip r:embed="rId3"/>
                <a:stretch>
                  <a:fillRect l="-58" t="-10526" b="-2894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 11"/>
              <p:cNvSpPr/>
              <p:nvPr/>
            </p:nvSpPr>
            <p:spPr>
              <a:xfrm>
                <a:off x="798235" y="2081618"/>
                <a:ext cx="11106719" cy="984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000" dirty="0"/>
                  <a:t>Последовательность проб при работе с ключом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000" dirty="0"/>
                  <a:t> представляет собой арифметическую прогрессию (по модулю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) с первым членом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000" b="1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000" dirty="0"/>
                  <a:t>и шагом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000" b="1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/>
                  <a:t>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5" y="2081618"/>
                <a:ext cx="11106719" cy="984885"/>
              </a:xfrm>
              <a:prstGeom prst="rect">
                <a:avLst/>
              </a:prstGeom>
              <a:blipFill>
                <a:blip r:embed="rId4"/>
                <a:stretch>
                  <a:fillRect l="-604" t="-3086" r="-54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Прямоугольник 12"/>
              <p:cNvSpPr/>
              <p:nvPr/>
            </p:nvSpPr>
            <p:spPr>
              <a:xfrm>
                <a:off x="1254514" y="4045651"/>
                <a:ext cx="1044415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выбрать в качестве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2000" dirty="0"/>
                  <a:t> степень двойки, а функцию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000" b="1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000" dirty="0"/>
                  <a:t> взять такую, чтобы она принимала только нечётные значения; 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sz="2000" dirty="0"/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выбрать в качестве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2000" dirty="0"/>
                  <a:t> простое число и потребовать, чтобы вспомогательная хеш-функция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000" b="1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000" dirty="0"/>
                  <a:t>принимала значения от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ru-RU" sz="2000" dirty="0"/>
                  <a:t> до </a:t>
                </a:r>
                <a14:m>
                  <m:oMath xmlns:m="http://schemas.openxmlformats.org/officeDocument/2006/math">
                    <m:r>
                      <a:rPr lang="ru-RU" sz="20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 − 1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000" dirty="0"/>
              </a:p>
            </p:txBody>
          </p:sp>
        </mc:Choice>
        <mc:Fallback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514" y="4045651"/>
                <a:ext cx="10444150" cy="1631216"/>
              </a:xfrm>
              <a:prstGeom prst="rect">
                <a:avLst/>
              </a:prstGeom>
              <a:blipFill>
                <a:blip r:embed="rId5"/>
                <a:stretch>
                  <a:fillRect t="-2247" b="-599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E242C9-79C5-4945-A35B-FF6C3063CF24}"/>
                  </a:ext>
                </a:extLst>
              </p:cNvPr>
              <p:cNvSpPr txBox="1"/>
              <p:nvPr/>
            </p:nvSpPr>
            <p:spPr>
              <a:xfrm>
                <a:off x="798235" y="3202134"/>
                <a:ext cx="1090042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000" dirty="0"/>
                  <a:t>Для того, чтобы последовательность проб покрыла всю таблицу, значение </a:t>
                </a:r>
                <a14:m>
                  <m:oMath xmlns:m="http://schemas.openxmlformats.org/officeDocument/2006/math"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ru-RU" sz="2000" b="1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sz="2000" dirty="0"/>
                  <a:t>должно быть ненулевым и взаимно простым с </a:t>
                </a:r>
                <a14:m>
                  <m:oMath xmlns:m="http://schemas.openxmlformats.org/officeDocument/2006/math">
                    <m:r>
                      <a:rPr lang="ru-RU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2000" dirty="0"/>
                  <a:t>. Для этого можно поступить следующим образом: </a:t>
                </a:r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E242C9-79C5-4945-A35B-FF6C3063C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5" y="3202134"/>
                <a:ext cx="10900429" cy="707886"/>
              </a:xfrm>
              <a:prstGeom prst="rect">
                <a:avLst/>
              </a:prstGeom>
              <a:blipFill>
                <a:blip r:embed="rId6"/>
                <a:stretch>
                  <a:fillRect l="-615" t="-4310" r="-559" b="-1465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0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527450" y="259148"/>
            <a:ext cx="41800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Квадратичное пробирование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596920" y="921297"/>
                <a:ext cx="680607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sz="2400" b="0" i="1" baseline="-25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sz="2400" b="0" i="1" baseline="-25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400" b="0" i="1" baseline="30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ru-RU" sz="2400" b="0" i="1" dirty="0" err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920" y="921297"/>
                <a:ext cx="6806079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650820" y="2919710"/>
            <a:ext cx="108903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На практике такой метод часто работает лучше линейного, разбрасывая ключи более равномерно по массиву. Тенденции к образованию кластеров нет, но аналогичный эффект проявляется в форме образования </a:t>
            </a:r>
            <a:r>
              <a:rPr lang="ru-RU" b="1" u="sng" dirty="0">
                <a:solidFill>
                  <a:srgbClr val="000000"/>
                </a:solidFill>
              </a:rPr>
              <a:t>вторичных кластеров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dirty="0"/>
              <a:t>(ситуация, когда на начальном этапе различные элементы получают одно и тоже хеш-значение, что приводит к тому, что каждый последующий из этих элементов проходит путь предшествующего).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473D08-5F90-4A63-BEC4-C60FC4ABE12E}"/>
                  </a:ext>
                </a:extLst>
              </p:cNvPr>
              <p:cNvSpPr txBox="1"/>
              <p:nvPr/>
            </p:nvSpPr>
            <p:spPr>
              <a:xfrm>
                <a:off x="757879" y="1544660"/>
                <a:ext cx="108903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где числа c</a:t>
                </a:r>
                <a:r>
                  <a:rPr lang="ru-RU" baseline="-25000" dirty="0"/>
                  <a:t>1</a:t>
                </a:r>
                <a:r>
                  <a:rPr lang="ru-RU" dirty="0"/>
                  <a:t> и c</a:t>
                </a:r>
                <a:r>
                  <a:rPr lang="ru-RU" baseline="-25000" dirty="0"/>
                  <a:t>2</a:t>
                </a:r>
                <a:r>
                  <a:rPr lang="ru-RU" dirty="0"/>
                  <a:t> фиксированы (эти значения должны быть тщательно подобраны, чтобы в результате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попыток все ячейки были посещены </a:t>
                </a:r>
                <a:r>
                  <a:rPr lang="en-US" dirty="0"/>
                  <a:t>.</a:t>
                </a:r>
                <a:endParaRPr lang="ru-BY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473D08-5F90-4A63-BEC4-C60FC4ABE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79" y="1544660"/>
                <a:ext cx="10890360" cy="646331"/>
              </a:xfrm>
              <a:prstGeom prst="rect">
                <a:avLst/>
              </a:prstGeom>
              <a:blipFill>
                <a:blip r:embed="rId4"/>
                <a:stretch>
                  <a:fillRect l="-448" t="-4717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46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239" y="2229633"/>
            <a:ext cx="112335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 </a:t>
            </a:r>
            <a:r>
              <a:rPr lang="ru-RU" sz="3200" b="1" dirty="0"/>
              <a:t>Операция вставки элемента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59125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276534" y="627676"/>
                <a:ext cx="11472711" cy="5139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ru-RU" sz="2400" u="sng" dirty="0">
                    <a:solidFill>
                      <a:srgbClr val="000000"/>
                    </a:solidFill>
                  </a:rPr>
                  <a:t>Перед вставкой</a:t>
                </a:r>
                <a:r>
                  <a:rPr 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ru-RU" sz="2400" dirty="0">
                    <a:solidFill>
                      <a:srgbClr val="000000"/>
                    </a:solidFill>
                  </a:rPr>
                  <a:t>ключа</a:t>
                </a:r>
                <a14:m>
                  <m:oMath xmlns:m="http://schemas.openxmlformats.org/officeDocument/2006/math">
                    <m:r>
                      <a:rPr lang="ru-RU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</a:rPr>
                  <a:t> выполняется </a:t>
                </a:r>
                <a:r>
                  <a:rPr lang="ru-RU" sz="2400" u="sng" dirty="0">
                    <a:solidFill>
                      <a:srgbClr val="000000"/>
                    </a:solidFill>
                  </a:rPr>
                  <a:t>поиск</a:t>
                </a:r>
                <a:r>
                  <a:rPr lang="ru-RU" sz="2400" dirty="0">
                    <a:solidFill>
                      <a:srgbClr val="000000"/>
                    </a:solidFill>
                  </a:rPr>
                  <a:t> этого ключа. Если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ru-RU" sz="2400" dirty="0">
                    <a:solidFill>
                      <a:srgbClr val="000000"/>
                    </a:solidFill>
                  </a:rPr>
                  <a:t>уже есть в таблице, то вставка не требуется. 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lvl="1" algn="just">
                  <a:spcAft>
                    <a:spcPts val="800"/>
                  </a:spcAft>
                </a:pPr>
                <a:endParaRPr lang="ru-RU" sz="2400" dirty="0">
                  <a:solidFill>
                    <a:srgbClr val="000000"/>
                  </a:solidFill>
                </a:endParaRPr>
              </a:p>
              <a:p>
                <a:pPr marL="457200" indent="-457200" algn="just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ru-RU" sz="2400" dirty="0">
                    <a:solidFill>
                      <a:srgbClr val="000000"/>
                    </a:solidFill>
                  </a:rPr>
                  <a:t>Затем проверяется принципиальное наличие ячеек, не занятых ключами (</a:t>
                </a:r>
                <a:r>
                  <a:rPr lang="ru-RU" sz="2400" u="sng" dirty="0">
                    <a:solidFill>
                      <a:srgbClr val="000000"/>
                    </a:solidFill>
                  </a:rPr>
                  <a:t>счётчик занятых ячеек</a:t>
                </a:r>
                <a:r>
                  <a:rPr lang="en-US" sz="2400" dirty="0">
                    <a:solidFill>
                      <a:srgbClr val="000000"/>
                    </a:solidFill>
                  </a:rPr>
                  <a:t>).</a:t>
                </a:r>
              </a:p>
              <a:p>
                <a:pPr lvl="1" algn="just">
                  <a:spcAft>
                    <a:spcPts val="800"/>
                  </a:spcAft>
                </a:pPr>
                <a:endParaRPr lang="ru-RU" sz="2400" dirty="0">
                  <a:solidFill>
                    <a:srgbClr val="000000"/>
                  </a:solidFill>
                </a:endParaRPr>
              </a:p>
              <a:p>
                <a:pPr marL="457200" indent="-457200" algn="just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ru-RU" sz="2400" dirty="0">
                    <a:solidFill>
                      <a:srgbClr val="000000"/>
                    </a:solidFill>
                  </a:rPr>
                  <a:t>Если есть свободные ячейки, то осуществляется пробирование, начиная с того места, в которое указывает хеш-функция, в соответствии с некоторой последовательностью проб,  пока не будет найдено свободное место в хеш-таблице. 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457200" indent="-457200" algn="just">
                  <a:spcAft>
                    <a:spcPts val="800"/>
                  </a:spcAft>
                  <a:buFont typeface="+mj-lt"/>
                  <a:buAutoNum type="arabicParenR"/>
                </a:pPr>
                <a:r>
                  <a:rPr lang="ru-RU" sz="2400" dirty="0">
                    <a:solidFill>
                      <a:srgbClr val="000000"/>
                    </a:solidFill>
                  </a:rPr>
                  <a:t>В свободную ячейку заносится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</a:rPr>
                  <a:t>, а счётчик занятых ячеек увеличивается на 1.</a:t>
                </a:r>
              </a:p>
              <a:p>
                <a:pPr marL="457200" indent="-457200" algn="just">
                  <a:buFont typeface="+mj-lt"/>
                  <a:buAutoNum type="arabicParenR"/>
                </a:pPr>
                <a:endParaRPr lang="ru-RU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34" y="627676"/>
                <a:ext cx="11472711" cy="5139869"/>
              </a:xfrm>
              <a:prstGeom prst="rect">
                <a:avLst/>
              </a:prstGeom>
              <a:blipFill>
                <a:blip r:embed="rId3"/>
                <a:stretch>
                  <a:fillRect l="-850" t="-1068" r="-85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123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81443"/>
              </p:ext>
            </p:extLst>
          </p:nvPr>
        </p:nvGraphicFramePr>
        <p:xfrm>
          <a:off x="305069" y="2809764"/>
          <a:ext cx="6889579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870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42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19041" y="94403"/>
                <a:ext cx="707107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Например, при линейном пробировании: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da-DK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da-DK" sz="2400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a-DK" sz="24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da-DK" sz="24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da-DK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400" b="0" i="0" dirty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da-DK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dirty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ru-RU" sz="2400" b="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2400" b="1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41" y="94403"/>
                <a:ext cx="7071070" cy="830997"/>
              </a:xfrm>
              <a:prstGeom prst="rect">
                <a:avLst/>
              </a:prstGeom>
              <a:blipFill>
                <a:blip r:embed="rId3"/>
                <a:stretch>
                  <a:fillRect l="-1293" t="-583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1603709" y="1741235"/>
            <a:ext cx="30812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7, 29, 67, 38, 25, 27, 18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2609" y="311009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673808" y="311028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194863" y="357176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67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865228" y="311009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25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854283" y="35717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38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169672" y="387209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865013" y="311009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8617" y="35717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38</a:t>
            </a:r>
            <a:endParaRPr lang="ru-R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416341" y="311009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38</a:t>
            </a:r>
            <a:endParaRPr lang="ru-R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29092" y="387209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6641738" y="387209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412664" y="380259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074205" y="311009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1743561" y="3115416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062537" y="4172434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379801" y="4182355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6616547" y="4172434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5805757" y="4172434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8197775" y="651455"/>
            <a:ext cx="3408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h(</a:t>
            </a:r>
            <a:r>
              <a:rPr lang="ru-RU" dirty="0"/>
              <a:t>7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0</a:t>
            </a:r>
            <a:r>
              <a:rPr lang="da-DK" dirty="0"/>
              <a:t>)</a:t>
            </a:r>
            <a:r>
              <a:rPr lang="ru-RU" dirty="0"/>
              <a:t>=7   свободна – заносим</a:t>
            </a:r>
            <a:r>
              <a:rPr lang="en-US" dirty="0"/>
              <a:t> 7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8197775" y="1104016"/>
            <a:ext cx="3695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h(</a:t>
            </a:r>
            <a:r>
              <a:rPr lang="en-US" dirty="0"/>
              <a:t>29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0</a:t>
            </a:r>
            <a:r>
              <a:rPr lang="da-DK" dirty="0"/>
              <a:t>)</a:t>
            </a:r>
            <a:r>
              <a:rPr lang="ru-RU" dirty="0"/>
              <a:t>=</a:t>
            </a:r>
            <a:r>
              <a:rPr lang="en-US" dirty="0"/>
              <a:t>9</a:t>
            </a:r>
            <a:r>
              <a:rPr lang="ru-RU" dirty="0"/>
              <a:t>   свободна – заносим</a:t>
            </a:r>
            <a:r>
              <a:rPr lang="en-US" dirty="0"/>
              <a:t> 29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8197775" y="1496107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h(</a:t>
            </a:r>
            <a:r>
              <a:rPr lang="en-US" dirty="0"/>
              <a:t>67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0</a:t>
            </a:r>
            <a:r>
              <a:rPr lang="da-DK" dirty="0"/>
              <a:t>)</a:t>
            </a:r>
            <a:r>
              <a:rPr lang="ru-RU" dirty="0"/>
              <a:t>=</a:t>
            </a:r>
            <a:r>
              <a:rPr lang="en-US" dirty="0"/>
              <a:t>7</a:t>
            </a:r>
            <a:r>
              <a:rPr lang="ru-RU" dirty="0"/>
              <a:t> - </a:t>
            </a:r>
            <a:r>
              <a:rPr lang="ru-RU" dirty="0">
                <a:solidFill>
                  <a:srgbClr val="FF0000"/>
                </a:solidFill>
              </a:rPr>
              <a:t>занята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7163" y="1985725"/>
            <a:ext cx="3642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h(</a:t>
            </a:r>
            <a:r>
              <a:rPr lang="en-US" dirty="0"/>
              <a:t>67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1</a:t>
            </a:r>
            <a:r>
              <a:rPr lang="da-DK" dirty="0"/>
              <a:t>)</a:t>
            </a:r>
            <a:r>
              <a:rPr lang="ru-RU" dirty="0"/>
              <a:t>=8  свободна – заносим</a:t>
            </a:r>
            <a:r>
              <a:rPr lang="en-US" dirty="0"/>
              <a:t> </a:t>
            </a:r>
            <a:r>
              <a:rPr lang="ru-RU" dirty="0"/>
              <a:t>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7163" y="2483816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h(</a:t>
            </a:r>
            <a:r>
              <a:rPr lang="ru-RU" dirty="0"/>
              <a:t>38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0</a:t>
            </a:r>
            <a:r>
              <a:rPr lang="da-DK" dirty="0"/>
              <a:t>)</a:t>
            </a:r>
            <a:r>
              <a:rPr lang="ru-RU" dirty="0"/>
              <a:t>=8 </a:t>
            </a:r>
            <a:r>
              <a:rPr lang="ru-RU" dirty="0">
                <a:solidFill>
                  <a:srgbClr val="FF0000"/>
                </a:solidFill>
              </a:rPr>
              <a:t>занята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8227163" y="2853148"/>
            <a:ext cx="212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h(</a:t>
            </a:r>
            <a:r>
              <a:rPr lang="ru-RU" dirty="0"/>
              <a:t>38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1</a:t>
            </a:r>
            <a:r>
              <a:rPr lang="da-DK" dirty="0"/>
              <a:t>)</a:t>
            </a:r>
            <a:r>
              <a:rPr lang="ru-RU" dirty="0"/>
              <a:t>=9 </a:t>
            </a:r>
            <a:r>
              <a:rPr lang="ru-RU" dirty="0">
                <a:solidFill>
                  <a:srgbClr val="FF0000"/>
                </a:solidFill>
              </a:rPr>
              <a:t>занята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8239459" y="3211317"/>
            <a:ext cx="358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h(</a:t>
            </a:r>
            <a:r>
              <a:rPr lang="ru-RU" dirty="0"/>
              <a:t>38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2</a:t>
            </a:r>
            <a:r>
              <a:rPr lang="da-DK" dirty="0"/>
              <a:t>)</a:t>
            </a:r>
            <a:r>
              <a:rPr lang="ru-RU" dirty="0"/>
              <a:t>=0  свободна – заносим</a:t>
            </a:r>
            <a:r>
              <a:rPr lang="en-US" dirty="0"/>
              <a:t> </a:t>
            </a:r>
            <a:r>
              <a:rPr lang="ru-RU" dirty="0"/>
              <a:t>38</a:t>
            </a:r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>
            <a:off x="8239459" y="1104016"/>
            <a:ext cx="3611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8268847" y="1473890"/>
            <a:ext cx="3611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8268847" y="2393306"/>
            <a:ext cx="3611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8268847" y="3571764"/>
            <a:ext cx="3611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97775" y="3591812"/>
            <a:ext cx="363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h(</a:t>
            </a:r>
            <a:r>
              <a:rPr lang="ru-RU" dirty="0"/>
              <a:t>25</a:t>
            </a:r>
            <a:r>
              <a:rPr lang="da-DK" dirty="0"/>
              <a:t>, </a:t>
            </a:r>
            <a:r>
              <a:rPr lang="ru-RU" b="1" dirty="0">
                <a:solidFill>
                  <a:srgbClr val="FF0000"/>
                </a:solidFill>
              </a:rPr>
              <a:t>0</a:t>
            </a:r>
            <a:r>
              <a:rPr lang="da-DK" dirty="0"/>
              <a:t>)</a:t>
            </a:r>
            <a:r>
              <a:rPr lang="ru-RU" dirty="0"/>
              <a:t>=5  свободна – заносим</a:t>
            </a:r>
            <a:r>
              <a:rPr lang="en-US" dirty="0"/>
              <a:t> </a:t>
            </a:r>
            <a:r>
              <a:rPr lang="ru-RU" dirty="0"/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7163" y="3997297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 так далее …</a:t>
            </a:r>
          </a:p>
        </p:txBody>
      </p:sp>
      <p:sp>
        <p:nvSpPr>
          <p:cNvPr id="41" name="Прямоугольник 40"/>
          <p:cNvSpPr/>
          <p:nvPr/>
        </p:nvSpPr>
        <p:spPr>
          <a:xfrm>
            <a:off x="160668" y="4921524"/>
            <a:ext cx="11498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Название «открытая адресация» связано с тем фактом, что положение (адрес) элемента не определяется полностью его хеш-значением. В случае, когда слот уже занят, функция пробирования открывает следующий для проверки слот.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041" y="2269417"/>
            <a:ext cx="5767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Хеш-таблица будет иметь следующий вид: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024BC0-B32F-4217-A65B-08999C357F44}"/>
              </a:ext>
            </a:extLst>
          </p:cNvPr>
          <p:cNvSpPr txBox="1"/>
          <p:nvPr/>
        </p:nvSpPr>
        <p:spPr>
          <a:xfrm>
            <a:off x="290932" y="1286394"/>
            <a:ext cx="6251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для последовательности элементов: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551B3F96-539C-41E5-9BCE-2110FF16AAB9}"/>
              </a:ext>
            </a:extLst>
          </p:cNvPr>
          <p:cNvCxnSpPr/>
          <p:nvPr/>
        </p:nvCxnSpPr>
        <p:spPr>
          <a:xfrm>
            <a:off x="7432431" y="0"/>
            <a:ext cx="0" cy="4818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43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9" grpId="1"/>
      <p:bldP spid="10" grpId="0"/>
      <p:bldP spid="11" grpId="0"/>
      <p:bldP spid="11" grpId="1"/>
      <p:bldP spid="12" grpId="0"/>
      <p:bldP spid="12" grpId="1"/>
      <p:bldP spid="14" grpId="0"/>
      <p:bldP spid="15" grpId="0"/>
      <p:bldP spid="15" grpId="1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2" grpId="0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1" grpId="0"/>
      <p:bldP spid="27" grpId="0"/>
      <p:bldP spid="28" grpId="0"/>
      <p:bldP spid="29" grpId="0"/>
      <p:bldP spid="30" grpId="0"/>
      <p:bldP spid="31" grpId="0"/>
      <p:bldP spid="32" grpId="0"/>
      <p:bldP spid="39" grpId="0"/>
      <p:bldP spid="40" grpId="0"/>
      <p:bldP spid="41" grpId="0"/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9066" y="682186"/>
            <a:ext cx="7093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 </a:t>
            </a:r>
            <a:r>
              <a:rPr lang="ru-RU" sz="3200" b="1" dirty="0"/>
              <a:t>Операция поиска элемента</a:t>
            </a:r>
            <a:endParaRPr lang="ru-RU" sz="32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7E8299-84EC-4935-8B1C-772E0B846A45}"/>
              </a:ext>
            </a:extLst>
          </p:cNvPr>
          <p:cNvSpPr/>
          <p:nvPr/>
        </p:nvSpPr>
        <p:spPr>
          <a:xfrm>
            <a:off x="322517" y="1708850"/>
            <a:ext cx="118694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u="sng" dirty="0"/>
              <a:t>Случай 1. </a:t>
            </a:r>
          </a:p>
          <a:p>
            <a:pPr lvl="1"/>
            <a:r>
              <a:rPr lang="ru-RU" sz="2400" dirty="0"/>
              <a:t>Предположим, что в таблице </a:t>
            </a:r>
            <a:r>
              <a:rPr lang="ru-RU" sz="2400" b="1" dirty="0"/>
              <a:t>операция удаления элемента НЕ поддерживается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639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9430" y="325765"/>
            <a:ext cx="116154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Ячейки массива проверяются, в соответствии с той же функцией последовательности проб, которая использовалась при добавлении элементов</a:t>
            </a:r>
            <a:r>
              <a:rPr lang="en-US" sz="2400" dirty="0"/>
              <a:t> </a:t>
            </a:r>
            <a:r>
              <a:rPr lang="ru-RU" sz="2400" dirty="0"/>
              <a:t>в хеш-таблицу.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533807"/>
              </p:ext>
            </p:extLst>
          </p:nvPr>
        </p:nvGraphicFramePr>
        <p:xfrm>
          <a:off x="583107" y="4492058"/>
          <a:ext cx="6889579" cy="991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168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42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50647" y="48392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951846" y="483947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143266" y="48392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25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143051" y="483928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379" y="483927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38</a:t>
            </a:r>
            <a:endParaRPr lang="ru-R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352243" y="48392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2021599" y="4844598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404106" y="2849254"/>
                <a:ext cx="11197583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b="1" dirty="0"/>
                  <a:t>Поиск останавливается </a:t>
                </a:r>
                <a:r>
                  <a:rPr lang="ru-RU" sz="2400" dirty="0"/>
                  <a:t>как только будет выполнено одно из условий:</a:t>
                </a: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400" dirty="0"/>
                  <a:t>найден элемент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;</a:t>
                </a:r>
                <a:endParaRPr lang="ru-RU" sz="2400" dirty="0"/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400" dirty="0"/>
                  <a:t>достигнута пустая ячейка (элемента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ru-RU" sz="2400" dirty="0">
                    <a:solidFill>
                      <a:srgbClr val="FF0000"/>
                    </a:solidFill>
                  </a:rPr>
                  <a:t> </a:t>
                </a:r>
                <a:r>
                  <a:rPr lang="ru-RU" sz="2400" dirty="0"/>
                  <a:t>в таблице нет)</a:t>
                </a:r>
                <a:r>
                  <a:rPr lang="en-US" sz="2400" dirty="0"/>
                  <a:t>;</a:t>
                </a:r>
                <a:endParaRPr lang="ru-RU" sz="2400" dirty="0"/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400" dirty="0"/>
                  <a:t>выполнены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ru-RU" sz="2400" dirty="0"/>
                  <a:t>попыток (таблица полностью заполнена, а элемента -  нет)</a:t>
                </a:r>
                <a:r>
                  <a:rPr lang="en-US" sz="2400" dirty="0"/>
                  <a:t>.</a:t>
                </a:r>
                <a:endParaRPr lang="ru-RU" sz="24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06" y="2849254"/>
                <a:ext cx="11197583" cy="1569660"/>
              </a:xfrm>
              <a:prstGeom prst="rect">
                <a:avLst/>
              </a:prstGeom>
              <a:blipFill>
                <a:blip r:embed="rId2"/>
                <a:stretch>
                  <a:fillRect l="-817" t="-3101" b="-814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A43643B-C205-4468-BF3A-881A7B752A0F}"/>
              </a:ext>
            </a:extLst>
          </p:cNvPr>
          <p:cNvGrpSpPr/>
          <p:nvPr/>
        </p:nvGrpSpPr>
        <p:grpSpPr>
          <a:xfrm>
            <a:off x="8164103" y="4740387"/>
            <a:ext cx="3826791" cy="1101643"/>
            <a:chOff x="5124357" y="3547500"/>
            <a:chExt cx="3826791" cy="11016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Прямоугольник 4"/>
                <p:cNvSpPr/>
                <p:nvPr/>
              </p:nvSpPr>
              <p:spPr>
                <a:xfrm>
                  <a:off x="5124357" y="3547500"/>
                  <a:ext cx="382679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r>
                    <a:rPr lang="da-DK" sz="2400" dirty="0"/>
                    <a:t> </a:t>
                  </a:r>
                  <a:endParaRPr lang="ru-RU" sz="2400" dirty="0"/>
                </a:p>
              </p:txBody>
            </p:sp>
          </mc:Choice>
          <mc:Fallback xmlns="">
            <p:sp>
              <p:nvSpPr>
                <p:cNvPr id="5" name="Прямоугольник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4357" y="3547500"/>
                  <a:ext cx="3826791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478" b="-18667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C8DC38B-67DA-4D85-B422-B280120B56B8}"/>
                </a:ext>
              </a:extLst>
            </p:cNvPr>
            <p:cNvGrpSpPr/>
            <p:nvPr/>
          </p:nvGrpSpPr>
          <p:grpSpPr>
            <a:xfrm>
              <a:off x="5124358" y="4172801"/>
              <a:ext cx="3079804" cy="476342"/>
              <a:chOff x="5124358" y="4172801"/>
              <a:chExt cx="3079804" cy="4763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Прямоугольник 20"/>
                  <p:cNvSpPr/>
                  <p:nvPr/>
                </p:nvSpPr>
                <p:spPr>
                  <a:xfrm>
                    <a:off x="5124358" y="4172801"/>
                    <a:ext cx="1425903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a-DK" sz="24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da-DK" sz="2400" i="1" dirty="0" smtClean="0">
                              <a:latin typeface="Cambria Math" panose="02040503050406030204" pitchFamily="18" charset="0"/>
                            </a:rPr>
                            <m:t>=10,</m:t>
                          </m:r>
                        </m:oMath>
                      </m:oMathPara>
                    </a14:m>
                    <a:endParaRPr lang="ru-RU" sz="2400" dirty="0">
                      <a:latin typeface="Consolas" panose="020B060902020403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21" name="Прямоугольник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4358" y="4172801"/>
                    <a:ext cx="1425903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BY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7037752" y="4187478"/>
                    <a:ext cx="116641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ru-RU" sz="2400" dirty="0">
                        <a:solidFill>
                          <a:srgbClr val="FF0000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=19</m:t>
                        </m:r>
                      </m:oMath>
                    </a14:m>
                    <a:endParaRPr lang="ru-RU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7752" y="4187478"/>
                    <a:ext cx="116641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047"/>
                    </a:stretch>
                  </a:blipFill>
                </p:spPr>
                <p:txBody>
                  <a:bodyPr/>
                  <a:lstStyle/>
                  <a:p>
                    <a:r>
                      <a:rPr lang="ru-BY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8" name="TextBox 27"/>
          <p:cNvSpPr txBox="1"/>
          <p:nvPr/>
        </p:nvSpPr>
        <p:spPr>
          <a:xfrm>
            <a:off x="6834370" y="548382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</a:t>
            </a:r>
            <a:r>
              <a:rPr lang="en-US" dirty="0"/>
              <a:t>19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51712" y="546727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</a:t>
            </a:r>
            <a:r>
              <a:rPr lang="en-US" dirty="0"/>
              <a:t>19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1280909" y="548382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</a:t>
            </a:r>
            <a:r>
              <a:rPr lang="en-US" dirty="0"/>
              <a:t>19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2612796" y="5465845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</a:t>
            </a:r>
            <a:r>
              <a:rPr lang="en-US" dirty="0"/>
              <a:t>19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1883599" y="546584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</a:t>
            </a:r>
            <a:r>
              <a:rPr lang="en-US" dirty="0"/>
              <a:t>19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462051" y="5978189"/>
            <a:ext cx="266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СТОП, элемента </a:t>
            </a:r>
            <a:r>
              <a:rPr lang="en-US" dirty="0"/>
              <a:t>x=19 </a:t>
            </a:r>
            <a:r>
              <a:rPr lang="ru-RU" dirty="0"/>
              <a:t>НЕТ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48637" y="1374173"/>
                <a:ext cx="574346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Для ячейки вводится </a:t>
                </a:r>
                <a:r>
                  <a:rPr lang="ru-RU" sz="2400" b="1" u="sng" dirty="0"/>
                  <a:t>два</a:t>
                </a:r>
                <a:r>
                  <a:rPr lang="ru-RU" sz="2400" dirty="0"/>
                  <a:t> состояния: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𝒆𝒎𝒑𝒕𝒚</m:t>
                    </m:r>
                    <m:r>
                      <a:rPr lang="ru-RU" sz="2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— ячейка пуста;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𝒌𝒆𝒚</m:t>
                    </m:r>
                    <m:r>
                      <a:rPr lang="ru-RU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b="1" dirty="0">
                    <a:latin typeface="Consolas" panose="020B0609020204030204" pitchFamily="49" charset="0"/>
                  </a:rPr>
                  <a:t> </a:t>
                </a:r>
                <a:r>
                  <a:rPr lang="ru-RU" sz="2400" dirty="0"/>
                  <a:t>— ячейка содержит ключ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</a:t>
                </a:r>
                <a:r>
                  <a:rPr lang="ru-RU" sz="2400" dirty="0"/>
                  <a:t> 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7" y="1374173"/>
                <a:ext cx="5743468" cy="1200329"/>
              </a:xfrm>
              <a:prstGeom prst="rect">
                <a:avLst/>
              </a:prstGeom>
              <a:blipFill>
                <a:blip r:embed="rId6"/>
                <a:stretch>
                  <a:fillRect l="-1592" t="-4061" b="-1066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471FCDBF-8ABD-44EB-847B-383764679CF7}"/>
              </a:ext>
            </a:extLst>
          </p:cNvPr>
          <p:cNvCxnSpPr/>
          <p:nvPr/>
        </p:nvCxnSpPr>
        <p:spPr>
          <a:xfrm flipV="1">
            <a:off x="-3895" y="4525964"/>
            <a:ext cx="12192000" cy="179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68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4" grpId="0"/>
      <p:bldP spid="16" grpId="0"/>
      <p:bldP spid="20" grpId="0"/>
      <p:bldP spid="22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2" grpId="0"/>
      <p:bldP spid="32" grpId="1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9066" y="682186"/>
            <a:ext cx="7093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 </a:t>
            </a:r>
            <a:r>
              <a:rPr lang="ru-RU" sz="3200" b="1" dirty="0"/>
              <a:t>Операция поиска элемента</a:t>
            </a:r>
            <a:endParaRPr lang="ru-RU" sz="32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7E8299-84EC-4935-8B1C-772E0B846A45}"/>
              </a:ext>
            </a:extLst>
          </p:cNvPr>
          <p:cNvSpPr/>
          <p:nvPr/>
        </p:nvSpPr>
        <p:spPr>
          <a:xfrm>
            <a:off x="482168" y="2022231"/>
            <a:ext cx="109148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u="sng" dirty="0"/>
              <a:t>Случай 2. </a:t>
            </a:r>
          </a:p>
          <a:p>
            <a:pPr lvl="1"/>
            <a:r>
              <a:rPr lang="ru-RU" sz="2400" dirty="0"/>
              <a:t>Предположим, что в хеш-таблице </a:t>
            </a:r>
            <a:r>
              <a:rPr lang="ru-RU" sz="2400" b="1" dirty="0"/>
              <a:t>поддерживается операция удаления элемента.</a:t>
            </a:r>
          </a:p>
          <a:p>
            <a:pPr lvl="1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81824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952576"/>
              </p:ext>
            </p:extLst>
          </p:nvPr>
        </p:nvGraphicFramePr>
        <p:xfrm>
          <a:off x="2545381" y="1086940"/>
          <a:ext cx="6889579" cy="991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168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42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85436" y="233751"/>
                <a:ext cx="434006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da-DK" sz="2400" i="0" dirty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36" y="233751"/>
                <a:ext cx="4340061" cy="461665"/>
              </a:xfrm>
              <a:prstGeom prst="rect">
                <a:avLst/>
              </a:prstGeom>
              <a:blipFill>
                <a:blip r:embed="rId2"/>
                <a:stretch>
                  <a:fillRect l="-421"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512921" y="143416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914120" y="143435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105540" y="14341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25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8105325" y="14341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6653" y="143416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38</a:t>
            </a:r>
            <a:endParaRPr lang="ru-R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3314517" y="14341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3981646" y="1467932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385437" y="625275"/>
                <a:ext cx="129178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37" y="625275"/>
                <a:ext cx="129178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038427" y="3440052"/>
                <a:ext cx="49073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arenR" startAt="2"/>
                </a:pPr>
                <a:r>
                  <a:rPr lang="ru-RU" sz="2400" dirty="0"/>
                  <a:t>Затем выполнили поиск</a:t>
                </a:r>
              </a:p>
              <a:p>
                <a:pPr lvl="1"/>
                <a:r>
                  <a:rPr lang="ru-RU" sz="2400" dirty="0"/>
                  <a:t> элемента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8.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427" y="3440052"/>
                <a:ext cx="4907387" cy="830997"/>
              </a:xfrm>
              <a:prstGeom prst="rect">
                <a:avLst/>
              </a:prstGeom>
              <a:blipFill>
                <a:blip r:embed="rId4"/>
                <a:stretch>
                  <a:fillRect l="-1988" t="-6569" b="-1532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8796644" y="207870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3986" y="20621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3183" y="207870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3991" y="20335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3986" y="2782670"/>
            <a:ext cx="526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СТОП, элемента </a:t>
            </a:r>
            <a:r>
              <a:rPr lang="en-US" dirty="0"/>
              <a:t>x=1</a:t>
            </a:r>
            <a:r>
              <a:rPr lang="ru-RU" dirty="0"/>
              <a:t>8</a:t>
            </a:r>
            <a:r>
              <a:rPr lang="en-US" dirty="0"/>
              <a:t> </a:t>
            </a:r>
            <a:r>
              <a:rPr lang="ru-RU" dirty="0"/>
              <a:t>НЕТ - </a:t>
            </a:r>
            <a:r>
              <a:rPr lang="ru-RU" b="1" dirty="0"/>
              <a:t>НЕ ВЕРНО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0" y="3429000"/>
                <a:ext cx="583730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arenR"/>
                </a:pPr>
                <a:r>
                  <a:rPr lang="ru-RU" sz="2400" dirty="0"/>
                  <a:t>Предположим, что из таблицы сначала </a:t>
                </a:r>
              </a:p>
              <a:p>
                <a:pPr lvl="1"/>
                <a:r>
                  <a:rPr lang="ru-RU" sz="2400" dirty="0"/>
                  <a:t>удалили элемент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ru-RU" sz="2400" dirty="0">
                    <a:latin typeface="Consolas" panose="020B0609020204030204" pitchFamily="49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29000"/>
                <a:ext cx="5837304" cy="830997"/>
              </a:xfrm>
              <a:prstGeom prst="rect">
                <a:avLst/>
              </a:prstGeom>
              <a:blipFill>
                <a:blip r:embed="rId5"/>
                <a:stretch>
                  <a:fillRect l="-1670" t="-7353" r="-522" b="-1544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Прямоугольник 1"/>
          <p:cNvSpPr/>
          <p:nvPr/>
        </p:nvSpPr>
        <p:spPr>
          <a:xfrm>
            <a:off x="3269985" y="1480327"/>
            <a:ext cx="5847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FF0000"/>
                </a:solidFill>
              </a:rPr>
              <a:t>empty</a:t>
            </a:r>
            <a:endParaRPr lang="ru-RU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69689" y="4397756"/>
                <a:ext cx="5600852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just"/>
                <a:r>
                  <a:rPr lang="ru-RU" sz="2000" dirty="0"/>
                  <a:t>Для удаления элемента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=27 </m:t>
                    </m:r>
                  </m:oMath>
                </a14:m>
                <a:r>
                  <a:rPr lang="ru-RU" sz="2000" dirty="0"/>
                  <a:t>вначале выполняем его поиск и, если ячейка с элементом найдена, то: </a:t>
                </a:r>
              </a:p>
              <a:p>
                <a:pPr marL="1257300" lvl="2" indent="-342900" algn="just">
                  <a:buFont typeface="+mj-lt"/>
                  <a:buAutoNum type="arabicParenR"/>
                </a:pPr>
                <a:r>
                  <a:rPr lang="ru-RU" sz="2000" dirty="0"/>
                  <a:t>переводим её в состояние свободной</a:t>
                </a:r>
                <a:r>
                  <a:rPr lang="en-US" sz="2000" dirty="0"/>
                  <a:t>;</a:t>
                </a:r>
              </a:p>
              <a:p>
                <a:pPr marL="1257300" lvl="2" indent="-342900" algn="just">
                  <a:buFont typeface="+mj-lt"/>
                  <a:buAutoNum type="arabicParenR"/>
                </a:pPr>
                <a:r>
                  <a:rPr lang="ru-RU" sz="2000" dirty="0"/>
                  <a:t>счётчик занятых ячеек уменьшаем на единицу. 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89" y="4397756"/>
                <a:ext cx="5600852" cy="2523768"/>
              </a:xfrm>
              <a:prstGeom prst="rect">
                <a:avLst/>
              </a:prstGeom>
              <a:blipFill>
                <a:blip r:embed="rId6"/>
                <a:stretch>
                  <a:fillRect t="-1208" r="-108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7038428" y="4204328"/>
                <a:ext cx="4997484" cy="26161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solidFill>
                      <a:srgbClr val="FF0000"/>
                    </a:solidFill>
                  </a:rPr>
                  <a:t> </a:t>
                </a:r>
                <a:r>
                  <a:rPr lang="ru-RU" sz="2000" dirty="0"/>
                  <a:t>Поиск останавливается как только будет выполнено одно из условий:</a:t>
                </a: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000" dirty="0"/>
                  <a:t>найден элемент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;</a:t>
                </a:r>
                <a:endParaRPr lang="ru-RU" sz="2000" dirty="0"/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000" dirty="0"/>
                  <a:t>достигнута пустая ячейка (элемента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solidFill>
                      <a:srgbClr val="FF0000"/>
                    </a:solidFill>
                  </a:rPr>
                  <a:t> </a:t>
                </a:r>
                <a:r>
                  <a:rPr lang="ru-RU" sz="2000" dirty="0"/>
                  <a:t>в таблице нет)</a:t>
                </a:r>
                <a:r>
                  <a:rPr lang="en-US" sz="2000" dirty="0"/>
                  <a:t>;</a:t>
                </a:r>
                <a:endParaRPr lang="ru-RU" sz="2000" dirty="0"/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000" dirty="0"/>
                  <a:t>выполнены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попыток (таблица полностью заполнена, а элемента</a:t>
                </a:r>
                <a:r>
                  <a:rPr lang="en-US" sz="2000" dirty="0"/>
                  <a:t> </a:t>
                </a:r>
                <a:r>
                  <a:rPr lang="ru-RU" sz="2000" dirty="0"/>
                  <a:t> -  нет)</a:t>
                </a:r>
                <a:r>
                  <a:rPr lang="en-US" sz="2000" dirty="0"/>
                  <a:t>.</a:t>
                </a:r>
                <a:endParaRPr lang="ru-RU" sz="20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428" y="4204328"/>
                <a:ext cx="4997484" cy="2616101"/>
              </a:xfrm>
              <a:prstGeom prst="rect">
                <a:avLst/>
              </a:prstGeom>
              <a:blipFill>
                <a:blip r:embed="rId7"/>
                <a:stretch>
                  <a:fillRect l="-1343" t="-1399" b="-93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27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28" grpId="0"/>
      <p:bldP spid="28" grpId="1"/>
      <p:bldP spid="29" grpId="0"/>
      <p:bldP spid="29" grpId="1"/>
      <p:bldP spid="30" grpId="0"/>
      <p:bldP spid="31" grpId="0"/>
      <p:bldP spid="31" grpId="1"/>
      <p:bldP spid="33" grpId="0"/>
      <p:bldP spid="23" grpId="0"/>
      <p:bldP spid="2" grpId="0"/>
      <p:bldP spid="6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94291"/>
              </p:ext>
            </p:extLst>
          </p:nvPr>
        </p:nvGraphicFramePr>
        <p:xfrm>
          <a:off x="442953" y="1122042"/>
          <a:ext cx="7036369" cy="986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36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6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3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906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9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empty</a:t>
                      </a:r>
                      <a:endParaRPr lang="ru-RU" sz="14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empty</a:t>
                      </a:r>
                      <a:endParaRPr lang="ru-RU" sz="14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empty</a:t>
                      </a:r>
                      <a:endParaRPr lang="ru-RU" sz="1400" b="1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442953" y="317523"/>
                <a:ext cx="433391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da-DK" sz="24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53" y="317523"/>
                <a:ext cx="4333915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380309" y="14692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811692" y="146945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972928" y="14692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25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002897" y="146926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041" y="14692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38</a:t>
            </a:r>
            <a:endParaRPr lang="ru-R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181905" y="14692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</a:t>
            </a:r>
            <a:endParaRPr lang="ru-R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1971601" y="1541389"/>
            <a:ext cx="518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18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4947727" y="304434"/>
                <a:ext cx="17569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a-DK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727" y="304434"/>
                <a:ext cx="175695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6811692" y="212198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558" y="212198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755" y="212198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5145" y="212198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8307" y="4706183"/>
                <a:ext cx="109588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/>
                  <a:t>Теперь при удалении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ru-RU" sz="2400" dirty="0"/>
                  <a:t>, ячейка </a:t>
                </a:r>
                <a:r>
                  <a:rPr lang="en-US" sz="2400" dirty="0"/>
                  <a:t>c </a:t>
                </a:r>
                <a:r>
                  <a:rPr lang="ru-RU" sz="2400" dirty="0"/>
                  <a:t>номером 1 перейдет в состояние </a:t>
                </a:r>
                <a:r>
                  <a:rPr lang="en-US" sz="2400" b="1" dirty="0">
                    <a:latin typeface="Consolas" panose="020B0609020204030204" pitchFamily="49" charset="0"/>
                  </a:rPr>
                  <a:t>deleted</a:t>
                </a:r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7" y="4706183"/>
                <a:ext cx="10958897" cy="461665"/>
              </a:xfrm>
              <a:prstGeom prst="rect">
                <a:avLst/>
              </a:prstGeom>
              <a:blipFill>
                <a:blip r:embed="rId4"/>
                <a:stretch>
                  <a:fillRect l="-890" t="-10526" b="-2894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0183" y="2675420"/>
                <a:ext cx="642029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u="sng" dirty="0"/>
                  <a:t>Для ячейки вводятся три состояния</a:t>
                </a:r>
                <a:r>
                  <a:rPr lang="ru-RU" sz="2400" dirty="0"/>
                  <a:t>: </a:t>
                </a:r>
              </a:p>
              <a:p>
                <a:pPr lvl="1"/>
                <a:r>
                  <a:rPr lang="ru-RU" sz="2400" b="1" dirty="0">
                    <a:latin typeface="Consolas" panose="020B0609020204030204" pitchFamily="49" charset="0"/>
                  </a:rPr>
                  <a:t>(1)</a:t>
                </a:r>
                <a:r>
                  <a:rPr lang="ru-RU" sz="24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sz="2400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empty</a:t>
                </a:r>
                <a:r>
                  <a:rPr lang="ru-RU" sz="2400" b="1" dirty="0"/>
                  <a:t> </a:t>
                </a:r>
                <a:r>
                  <a:rPr lang="ru-RU" sz="2400" dirty="0"/>
                  <a:t>— ячейка пуста;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u-RU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ru-RU" sz="2400" b="1" i="1" dirty="0" smtClean="0">
                        <a:latin typeface="Cambria Math" panose="02040503050406030204" pitchFamily="18" charset="0"/>
                      </a:rPr>
                      <m:t>𝒌𝒆𝒚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>
                    <a:solidFill>
                      <a:srgbClr val="0070C0"/>
                    </a:solidFill>
                  </a:rPr>
                  <a:t> </a:t>
                </a:r>
                <a:r>
                  <a:rPr lang="ru-RU" sz="2400" dirty="0"/>
                  <a:t>— ячейка содержит ключ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400" dirty="0"/>
                  <a:t>; </a:t>
                </a:r>
              </a:p>
              <a:p>
                <a:pPr lvl="1"/>
                <a:r>
                  <a:rPr lang="ru-RU" sz="2400" b="1" dirty="0">
                    <a:latin typeface="Consolas" panose="020B0609020204030204" pitchFamily="49" charset="0"/>
                  </a:rPr>
                  <a:t>(3) </a:t>
                </a:r>
                <a:r>
                  <a:rPr lang="ru-RU" sz="2400" b="1" dirty="0" err="1">
                    <a:latin typeface="Consolas" panose="020B0609020204030204" pitchFamily="49" charset="0"/>
                  </a:rPr>
                  <a:t>deleted</a:t>
                </a:r>
                <a:r>
                  <a:rPr lang="ru-RU" sz="2400" dirty="0"/>
                  <a:t> — ячейка ранее содержала ключ, но он был удалён.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83" y="2675420"/>
                <a:ext cx="6420299" cy="1938992"/>
              </a:xfrm>
              <a:prstGeom prst="rect">
                <a:avLst/>
              </a:prstGeom>
              <a:blipFill>
                <a:blip r:embed="rId5"/>
                <a:stretch>
                  <a:fillRect l="-1519" t="-2516" b="-628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55461" y="1772221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>
                <a:latin typeface="Consolas" panose="020B0609020204030204" pitchFamily="49" charset="0"/>
              </a:rPr>
              <a:t>deleted</a:t>
            </a:r>
            <a:endParaRPr lang="ru-RU" sz="1400" b="1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7515093" y="252649"/>
                <a:ext cx="4606125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solidFill>
                      <a:schemeClr val="tx1"/>
                    </a:solidFill>
                  </a:rPr>
                  <a:t>Поиск</a:t>
                </a:r>
                <a:r>
                  <a:rPr lang="ru-RU" sz="2400" dirty="0">
                    <a:solidFill>
                      <a:schemeClr val="tx1"/>
                    </a:solidFill>
                  </a:rPr>
                  <a:t> останавливается как только будет выполнено одно из условий:</a:t>
                </a: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400" dirty="0">
                    <a:solidFill>
                      <a:schemeClr val="tx1"/>
                    </a:solidFill>
                  </a:rPr>
                  <a:t>найден элемент </a:t>
                </a:r>
                <a14:m>
                  <m:oMath xmlns:m="http://schemas.openxmlformats.org/officeDocument/2006/math">
                    <m:r>
                      <a:rPr lang="ru-RU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;</a:t>
                </a:r>
                <a:endParaRPr lang="ru-RU" sz="2400" dirty="0">
                  <a:solidFill>
                    <a:schemeClr val="tx1"/>
                  </a:solidFill>
                </a:endParaRP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400" dirty="0">
                    <a:solidFill>
                      <a:schemeClr val="tx1"/>
                    </a:solidFill>
                  </a:rPr>
                  <a:t>достигнута пустая ячейка </a:t>
                </a:r>
                <a:r>
                  <a:rPr lang="ru-RU" sz="2400" b="1" dirty="0" err="1">
                    <a:solidFill>
                      <a:schemeClr val="tx1"/>
                    </a:solidFill>
                    <a:latin typeface="Consolas" panose="020B0609020204030204" pitchFamily="49" charset="0"/>
                  </a:rPr>
                  <a:t>empty</a:t>
                </a:r>
                <a:r>
                  <a:rPr lang="ru-RU" sz="2400" dirty="0">
                    <a:solidFill>
                      <a:schemeClr val="tx1"/>
                    </a:solidFill>
                  </a:rPr>
                  <a:t> (элемента </a:t>
                </a:r>
                <a14:m>
                  <m:oMath xmlns:m="http://schemas.openxmlformats.org/officeDocument/2006/math">
                    <m:r>
                      <a:rPr lang="ru-RU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dirty="0">
                    <a:solidFill>
                      <a:schemeClr val="tx1"/>
                    </a:solidFill>
                  </a:rPr>
                  <a:t> в таблице нет)</a:t>
                </a:r>
                <a:r>
                  <a:rPr lang="en-US" sz="2400" dirty="0">
                    <a:solidFill>
                      <a:schemeClr val="tx1"/>
                    </a:solidFill>
                  </a:rPr>
                  <a:t>;</a:t>
                </a:r>
                <a:endParaRPr lang="ru-RU" sz="2400" dirty="0">
                  <a:solidFill>
                    <a:schemeClr val="tx1"/>
                  </a:solidFill>
                </a:endParaRP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ru-RU" sz="2400" dirty="0">
                    <a:solidFill>
                      <a:schemeClr val="tx1"/>
                    </a:solidFill>
                  </a:rPr>
                  <a:t>выполнены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M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dirty="0">
                    <a:solidFill>
                      <a:schemeClr val="tx1"/>
                    </a:solidFill>
                  </a:rPr>
                  <a:t>попыток (таблица полностью заполнена, но элемента </a:t>
                </a:r>
                <a14:m>
                  <m:oMath xmlns:m="http://schemas.openxmlformats.org/officeDocument/2006/math">
                    <m:r>
                      <a:rPr lang="ru-RU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dirty="0">
                    <a:solidFill>
                      <a:schemeClr val="tx1"/>
                    </a:solidFill>
                  </a:rPr>
                  <a:t>в таблице нет)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093" y="252649"/>
                <a:ext cx="4606125" cy="4154984"/>
              </a:xfrm>
              <a:prstGeom prst="rect">
                <a:avLst/>
              </a:prstGeom>
              <a:blipFill>
                <a:blip r:embed="rId6"/>
                <a:stretch>
                  <a:fillRect l="-2119" t="-1173" r="-2649" b="-234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859170" y="212198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=1</a:t>
            </a:r>
            <a:r>
              <a:rPr lang="ru-RU" sz="2400" dirty="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07" y="5180937"/>
            <a:ext cx="10293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Добавление нового элемента можно осуществлять как в ячейку </a:t>
            </a:r>
            <a:r>
              <a:rPr lang="ru-RU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empty</a:t>
            </a:r>
            <a:r>
              <a:rPr lang="ru-RU" sz="2400" dirty="0"/>
              <a:t>,</a:t>
            </a:r>
            <a:r>
              <a:rPr lang="en-US" sz="2400" dirty="0"/>
              <a:t> </a:t>
            </a:r>
          </a:p>
          <a:p>
            <a:r>
              <a:rPr lang="ru-RU" sz="2400" dirty="0"/>
              <a:t>так и в ячейку </a:t>
            </a:r>
            <a:r>
              <a:rPr lang="ru-RU" sz="2400" b="1" dirty="0" err="1">
                <a:latin typeface="Consolas" panose="020B0609020204030204" pitchFamily="49" charset="0"/>
              </a:rPr>
              <a:t>deleted</a:t>
            </a:r>
            <a:r>
              <a:rPr lang="ru-RU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3320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23" grpId="0"/>
      <p:bldP spid="23" grpId="1"/>
      <p:bldP spid="6" grpId="0"/>
      <p:bldP spid="6" grpId="1"/>
      <p:bldP spid="9" grpId="0"/>
      <p:bldP spid="11" grpId="0"/>
      <p:bldP spid="26" grpId="0"/>
      <p:bldP spid="26" grpId="1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C7DA76-5762-4794-AA67-19ACD0ADDDE9}"/>
              </a:ext>
            </a:extLst>
          </p:cNvPr>
          <p:cNvSpPr txBox="1"/>
          <p:nvPr/>
        </p:nvSpPr>
        <p:spPr>
          <a:xfrm>
            <a:off x="3100669" y="1841968"/>
            <a:ext cx="5803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Недостатки </a:t>
            </a:r>
          </a:p>
          <a:p>
            <a:pPr algn="ctr"/>
            <a:r>
              <a:rPr lang="ru-RU" sz="2800" b="1" dirty="0"/>
              <a:t>открытой адресации</a:t>
            </a:r>
          </a:p>
        </p:txBody>
      </p:sp>
    </p:spTree>
    <p:extLst>
      <p:ext uri="{BB962C8B-B14F-4D97-AF65-F5344CB8AC3E}">
        <p14:creationId xmlns:p14="http://schemas.microsoft.com/office/powerpoint/2010/main" val="15105097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81458" y="685067"/>
            <a:ext cx="116290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1. </a:t>
            </a:r>
            <a:r>
              <a:rPr lang="ru-RU" sz="2400" dirty="0"/>
              <a:t>Нетрудно видеть, что при разрешении коллизий методом открытой адресации наличие большого числа </a:t>
            </a:r>
            <a:r>
              <a:rPr lang="ru-RU" sz="2400" dirty="0" err="1">
                <a:latin typeface="Consolas" panose="020B0609020204030204" pitchFamily="49" charset="0"/>
              </a:rPr>
              <a:t>deleted</a:t>
            </a:r>
            <a:r>
              <a:rPr lang="ru-RU" sz="2400" dirty="0"/>
              <a:t>-ячеек отрицательно сказывается на времени выполнения операции поиска, а значит и других операций.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6129" y="3291622"/>
            <a:ext cx="118044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Чтобы исправить ситуацию, после ряда удалений можно перестраивать хеш-таблицу заново, уничтожая удалённые ячейки.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9379"/>
              </p:ext>
            </p:extLst>
          </p:nvPr>
        </p:nvGraphicFramePr>
        <p:xfrm>
          <a:off x="1126760" y="1837663"/>
          <a:ext cx="7583489" cy="1178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3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83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3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83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83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248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31"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empty</a:t>
                      </a:r>
                      <a:endParaRPr lang="ru-RU" sz="1400" dirty="0">
                        <a:solidFill>
                          <a:srgbClr val="144E9D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48788" y="249124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062433" y="24526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1723" y="251018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237" y="2535071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>
                <a:latin typeface="Consolas" panose="020B0609020204030204" pitchFamily="49" charset="0"/>
              </a:rPr>
              <a:t>deleted</a:t>
            </a:r>
            <a:endParaRPr lang="ru-RU" sz="1400" dirty="0"/>
          </a:p>
        </p:txBody>
      </p:sp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910879"/>
              </p:ext>
            </p:extLst>
          </p:nvPr>
        </p:nvGraphicFramePr>
        <p:xfrm>
          <a:off x="1296264" y="4664242"/>
          <a:ext cx="6889579" cy="808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89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168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empty</a:t>
                      </a:r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rgbClr val="144E9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63804" y="501146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  <a:endParaRPr lang="ru-R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6856208" y="501146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8771" y="501146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F3DEF3-CE43-404A-854A-8323AC5BC273}"/>
              </a:ext>
            </a:extLst>
          </p:cNvPr>
          <p:cNvSpPr txBox="1"/>
          <p:nvPr/>
        </p:nvSpPr>
        <p:spPr>
          <a:xfrm>
            <a:off x="1832424" y="2535070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>
                <a:latin typeface="Consolas" panose="020B0609020204030204" pitchFamily="49" charset="0"/>
              </a:rPr>
              <a:t>deleted</a:t>
            </a:r>
            <a:endParaRPr lang="ru-RU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1A6E60-43D0-486B-AF54-C87EE03A783C}"/>
              </a:ext>
            </a:extLst>
          </p:cNvPr>
          <p:cNvSpPr txBox="1"/>
          <p:nvPr/>
        </p:nvSpPr>
        <p:spPr>
          <a:xfrm>
            <a:off x="2606392" y="2559660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>
                <a:latin typeface="Consolas" panose="020B0609020204030204" pitchFamily="49" charset="0"/>
              </a:rPr>
              <a:t>deleted</a:t>
            </a:r>
            <a:endParaRPr lang="ru-RU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F72B5E-489B-4AB6-810E-D2F59FDB8807}"/>
              </a:ext>
            </a:extLst>
          </p:cNvPr>
          <p:cNvSpPr txBox="1"/>
          <p:nvPr/>
        </p:nvSpPr>
        <p:spPr>
          <a:xfrm>
            <a:off x="3346206" y="2557427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>
                <a:latin typeface="Consolas" panose="020B0609020204030204" pitchFamily="49" charset="0"/>
              </a:rPr>
              <a:t>deleted</a:t>
            </a:r>
            <a:endParaRPr lang="ru-RU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A69844-914B-4F2D-A259-8115CBCC4811}"/>
              </a:ext>
            </a:extLst>
          </p:cNvPr>
          <p:cNvSpPr txBox="1"/>
          <p:nvPr/>
        </p:nvSpPr>
        <p:spPr>
          <a:xfrm>
            <a:off x="4110876" y="2557427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>
                <a:latin typeface="Consolas" panose="020B0609020204030204" pitchFamily="49" charset="0"/>
              </a:rPr>
              <a:t>deleted</a:t>
            </a:r>
            <a:endParaRPr lang="ru-RU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E9D71E-9CFC-4310-8D57-AB6DD59EADC0}"/>
              </a:ext>
            </a:extLst>
          </p:cNvPr>
          <p:cNvSpPr txBox="1"/>
          <p:nvPr/>
        </p:nvSpPr>
        <p:spPr>
          <a:xfrm>
            <a:off x="7895403" y="2602691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>
                <a:latin typeface="Consolas" panose="020B0609020204030204" pitchFamily="49" charset="0"/>
              </a:rPr>
              <a:t>deleted</a:t>
            </a:r>
            <a:endParaRPr lang="ru-RU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A8EB8528-AD00-4606-B61D-9A249C670B27}"/>
                  </a:ext>
                </a:extLst>
              </p:cNvPr>
              <p:cNvSpPr/>
              <p:nvPr/>
            </p:nvSpPr>
            <p:spPr>
              <a:xfrm>
                <a:off x="545835" y="4055822"/>
                <a:ext cx="433391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) = (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A8EB8528-AD00-4606-B61D-9A249C670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35" y="4055822"/>
                <a:ext cx="4333915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F50A4B73-EE92-4C44-ACB0-3C9007AE4784}"/>
                  </a:ext>
                </a:extLst>
              </p:cNvPr>
              <p:cNvSpPr/>
              <p:nvPr/>
            </p:nvSpPr>
            <p:spPr>
              <a:xfrm>
                <a:off x="4786232" y="4030449"/>
                <a:ext cx="14775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a-DK" sz="240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F50A4B73-EE92-4C44-ACB0-3C9007AE4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232" y="4030449"/>
                <a:ext cx="14775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14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  <p:bldP spid="27" grpId="0"/>
      <p:bldP spid="34" grpId="0"/>
      <p:bldP spid="35" grpId="0"/>
      <p:bldP spid="3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65113" y="1036907"/>
            <a:ext cx="10942149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dirty="0"/>
              <a:t>2. </a:t>
            </a:r>
            <a:r>
              <a:rPr lang="ru-RU" sz="2400" dirty="0"/>
              <a:t>Число хранимых ключей не может превышать размер хеш-массива (при заполнении на 70% производительность падает и нужно расширять таблицу)</a:t>
            </a:r>
            <a:r>
              <a:rPr lang="en-US" sz="2400" dirty="0"/>
              <a:t>;</a:t>
            </a:r>
          </a:p>
          <a:p>
            <a:pPr algn="just">
              <a:spcAft>
                <a:spcPts val="800"/>
              </a:spcAft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8B34D-CECE-4E0F-973B-ABB66CD9837C}"/>
              </a:ext>
            </a:extLst>
          </p:cNvPr>
          <p:cNvSpPr txBox="1"/>
          <p:nvPr/>
        </p:nvSpPr>
        <p:spPr>
          <a:xfrm>
            <a:off x="265113" y="2872713"/>
            <a:ext cx="109421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400" dirty="0"/>
              <a:t>3. Более строгие требования к выбору хеш-функции: чтобы распределять значения максимально равномерно по корзинам, функция должна минимизировать кластеризацию хеш-значений, которые стоят рядом в последовательности проб</a:t>
            </a:r>
            <a:r>
              <a:rPr lang="en-US" sz="2400" dirty="0"/>
              <a:t>;</a:t>
            </a:r>
            <a:r>
              <a:rPr lang="ru-RU" sz="2400" dirty="0"/>
              <a:t> при образовании больших кластеров, время выполнения всех операций может стать неприемлемым даже при том, что заполненность таблицы в среднем невысокая и коллизии редки.</a:t>
            </a:r>
          </a:p>
        </p:txBody>
      </p:sp>
    </p:spTree>
    <p:extLst>
      <p:ext uri="{BB962C8B-B14F-4D97-AF65-F5344CB8AC3E}">
        <p14:creationId xmlns:p14="http://schemas.microsoft.com/office/powerpoint/2010/main" val="378638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21690" y="2696077"/>
            <a:ext cx="60974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Преимущества </a:t>
            </a:r>
          </a:p>
          <a:p>
            <a:pPr algn="ctr"/>
            <a:r>
              <a:rPr lang="ru-RU" sz="2800" b="1" dirty="0"/>
              <a:t>открытой адресации</a:t>
            </a:r>
          </a:p>
        </p:txBody>
      </p:sp>
    </p:spTree>
    <p:extLst>
      <p:ext uri="{BB962C8B-B14F-4D97-AF65-F5344CB8AC3E}">
        <p14:creationId xmlns:p14="http://schemas.microsoft.com/office/powerpoint/2010/main" val="288724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5617" y="458956"/>
            <a:ext cx="11660765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800"/>
              </a:spcAft>
              <a:buFont typeface="+mj-lt"/>
              <a:buAutoNum type="arabicParenR"/>
            </a:pPr>
            <a:r>
              <a:rPr lang="ru-RU" sz="2400" dirty="0"/>
              <a:t>экономия памяти, если размер ключа невелик по сравнению с размером указателя</a:t>
            </a:r>
          </a:p>
          <a:p>
            <a:pPr lvl="2" algn="just">
              <a:spcAft>
                <a:spcPts val="800"/>
              </a:spcAft>
            </a:pPr>
            <a:r>
              <a:rPr lang="ru-RU" dirty="0"/>
              <a:t>в методе цепочек приходится хранить в массиве указатели на начала списков, а каждый элемент списка хранит, кроме ключа, указатель на следующий элемент, поэтому на все эти указатели расходуется память</a:t>
            </a:r>
            <a:r>
              <a:rPr lang="en-US" dirty="0"/>
              <a:t>;</a:t>
            </a:r>
          </a:p>
          <a:p>
            <a:pPr marL="342900" indent="-342900" algn="just">
              <a:spcAft>
                <a:spcPts val="800"/>
              </a:spcAft>
              <a:buFont typeface="+mj-lt"/>
              <a:buAutoNum type="arabicParenR"/>
            </a:pPr>
            <a:r>
              <a:rPr lang="ru-RU" sz="2400" dirty="0"/>
              <a:t>не требуется затрат времени на выделение памяти на каждую новую запись и подход может быть реализован даже на миниатюрных встраиваемых системах, где полноценный </a:t>
            </a:r>
            <a:r>
              <a:rPr lang="ru-RU" sz="2400" dirty="0" err="1"/>
              <a:t>аллокатор</a:t>
            </a:r>
            <a:r>
              <a:rPr lang="ru-RU" sz="2400" dirty="0"/>
              <a:t> недоступен</a:t>
            </a:r>
            <a:r>
              <a:rPr lang="en-US" sz="2400" dirty="0"/>
              <a:t>;</a:t>
            </a:r>
            <a:r>
              <a:rPr lang="ru-RU" sz="2400" dirty="0"/>
              <a:t> </a:t>
            </a:r>
          </a:p>
          <a:p>
            <a:pPr marL="342900" indent="-342900" algn="just">
              <a:spcAft>
                <a:spcPts val="800"/>
              </a:spcAft>
              <a:buFont typeface="+mj-lt"/>
              <a:buAutoNum type="arabicParenR"/>
            </a:pPr>
            <a:r>
              <a:rPr lang="ru-RU" sz="2400" dirty="0"/>
              <a:t>нет лишней операции обращения по указателю (</a:t>
            </a:r>
            <a:r>
              <a:rPr lang="ru-RU" sz="2400" dirty="0" err="1">
                <a:latin typeface="Consolas" panose="020B0609020204030204" pitchFamily="49" charset="0"/>
              </a:rPr>
              <a:t>indirection</a:t>
            </a:r>
            <a:r>
              <a:rPr lang="ru-RU" sz="2400" dirty="0"/>
              <a:t>) при доступе к элементу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 algn="just">
              <a:spcAft>
                <a:spcPts val="800"/>
              </a:spcAft>
              <a:buFont typeface="+mj-lt"/>
              <a:buAutoNum type="arabicParenR"/>
            </a:pPr>
            <a:r>
              <a:rPr lang="ru-RU" sz="2400" dirty="0"/>
              <a:t>лучшая локальность хранения, особенно с линейной функцией проб </a:t>
            </a:r>
          </a:p>
          <a:p>
            <a:pPr lvl="1" algn="just">
              <a:spcAft>
                <a:spcPts val="800"/>
              </a:spcAft>
            </a:pPr>
            <a:r>
              <a:rPr lang="ru-RU" dirty="0"/>
              <a:t>когда размеры ключей небольшие, это даёт лучшую производительность за счёт хорошей работы </a:t>
            </a:r>
            <a:r>
              <a:rPr lang="ru-RU" dirty="0" err="1"/>
              <a:t>кеша</a:t>
            </a:r>
            <a:r>
              <a:rPr lang="ru-RU" dirty="0"/>
              <a:t> процессора, который ускоряет обращения к оперативной памяти</a:t>
            </a:r>
            <a:r>
              <a:rPr lang="en-US" dirty="0"/>
              <a:t>;</a:t>
            </a:r>
            <a:r>
              <a:rPr lang="ru-RU" dirty="0"/>
              <a:t> </a:t>
            </a:r>
          </a:p>
          <a:p>
            <a:pPr lvl="1" algn="just">
              <a:spcAft>
                <a:spcPts val="800"/>
              </a:spcAft>
            </a:pPr>
            <a:r>
              <a:rPr lang="ru-RU" dirty="0"/>
              <a:t>однако, когда ключи «тяжёлые» (не целые числа, а составные объекты), то они забивают все </a:t>
            </a:r>
            <a:r>
              <a:rPr lang="ru-RU" dirty="0" err="1"/>
              <a:t>кеш</a:t>
            </a:r>
            <a:r>
              <a:rPr lang="ru-RU" dirty="0"/>
              <a:t>-линии процессора, к тому же много места в </a:t>
            </a:r>
            <a:r>
              <a:rPr lang="ru-RU" dirty="0" err="1"/>
              <a:t>кеше</a:t>
            </a:r>
            <a:r>
              <a:rPr lang="ru-RU" dirty="0"/>
              <a:t> тратится на хранение незанятых ячеек - можно в массиве с открытой адресацией хранить не сами ключи, а указатели на них, но при этом часть преимуществ при этом будет утрачена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868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282805" y="414779"/>
                <a:ext cx="10821970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За годы развития вычислительной техники сформировалась наука о том, как практически строить хеш-функции. </a:t>
                </a:r>
                <a:endParaRPr lang="en-US" sz="2400" dirty="0"/>
              </a:p>
              <a:p>
                <a:pPr algn="just"/>
                <a:endParaRPr lang="en-US" sz="2400" dirty="0"/>
              </a:p>
              <a:p>
                <a:pPr lvl="1" algn="just"/>
                <a:r>
                  <a:rPr lang="ru-RU" sz="2400" dirty="0"/>
                  <a:t>Разработаны всевозможные правила на тему того, какие биты ключа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400" dirty="0"/>
                  <a:t> стоит взять, на сколько позиций выполнить поразрядный сдвиг, как применить операцию исключающего «или», на что умножить, чтобы получить </a:t>
                </a:r>
                <a:r>
                  <a:rPr lang="ru-RU" sz="2400" dirty="0" err="1"/>
                  <a:t>хеш</a:t>
                </a:r>
                <a:r>
                  <a:rPr lang="ru-RU" sz="2400" dirty="0"/>
                  <a:t>, который бы выглядел как случайный. </a:t>
                </a:r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r>
                  <a:rPr lang="ru-RU" sz="2400" dirty="0"/>
                  <a:t>Чтобы найти примеры практических хеш-функций, можно взять какую-нибудь стандартную библиотеку</a:t>
                </a:r>
                <a:r>
                  <a:rPr lang="en-US" sz="2400" dirty="0"/>
                  <a:t>. </a:t>
                </a:r>
                <a:r>
                  <a:rPr lang="ru-RU" sz="2400" dirty="0"/>
                  <a:t>Эти функции часто ничего не гарантируют: коллизии, конечно, есть. </a:t>
                </a:r>
              </a:p>
              <a:p>
                <a:pPr algn="just"/>
                <a:endParaRPr lang="ru-RU" sz="2400" dirty="0"/>
              </a:p>
              <a:p>
                <a:pPr algn="just"/>
                <a:r>
                  <a:rPr lang="ru-RU" sz="2400" dirty="0"/>
                  <a:t>Любую фиксированную хеш-функцию можно всегда «сломать» — придумать ситуацию, когда там будут одни сплошные коллизии.</a:t>
                </a:r>
                <a:r>
                  <a:rPr lang="en-US" sz="2400" dirty="0"/>
                  <a:t> </a:t>
                </a:r>
                <a:r>
                  <a:rPr lang="ru-RU" sz="2400" b="1" dirty="0"/>
                  <a:t>Попробуем тогда внести элемент случайности при выборе хеш-функции?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05" y="414779"/>
                <a:ext cx="10821970" cy="5632311"/>
              </a:xfrm>
              <a:prstGeom prst="rect">
                <a:avLst/>
              </a:prstGeom>
              <a:blipFill>
                <a:blip r:embed="rId2"/>
                <a:stretch>
                  <a:fillRect l="-845" t="-866" r="-845" b="-15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819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DE6E9B-E9C2-4430-ACAE-6AE6CE043774}"/>
              </a:ext>
            </a:extLst>
          </p:cNvPr>
          <p:cNvSpPr/>
          <p:nvPr/>
        </p:nvSpPr>
        <p:spPr>
          <a:xfrm>
            <a:off x="2364325" y="2150091"/>
            <a:ext cx="74633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/>
              <a:t>Универсальное хеширование </a:t>
            </a:r>
            <a:endParaRPr lang="en-US" sz="3200" b="1" dirty="0"/>
          </a:p>
          <a:p>
            <a:pPr algn="ctr"/>
            <a:r>
              <a:rPr lang="ru-RU" sz="2800" dirty="0"/>
              <a:t>(англ. </a:t>
            </a:r>
            <a:r>
              <a:rPr lang="ru-RU" sz="2800" dirty="0" err="1"/>
              <a:t>universal</a:t>
            </a:r>
            <a:r>
              <a:rPr lang="ru-RU" sz="2800" dirty="0"/>
              <a:t> </a:t>
            </a:r>
            <a:r>
              <a:rPr lang="ru-RU" sz="2800" dirty="0" err="1"/>
              <a:t>hashing</a:t>
            </a:r>
            <a:r>
              <a:rPr lang="ru-RU" sz="2800" dirty="0"/>
              <a:t>)</a:t>
            </a:r>
            <a:endParaRPr lang="ru-RU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9371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0097" y="447727"/>
            <a:ext cx="11680352" cy="5052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ru-RU" sz="2400" b="1" dirty="0"/>
              <a:t>Добавить рандомизацию</a:t>
            </a:r>
            <a:r>
              <a:rPr lang="ru-RU" sz="2400" dirty="0"/>
              <a:t>: </a:t>
            </a:r>
            <a:endParaRPr lang="en-US" sz="2400" dirty="0"/>
          </a:p>
          <a:p>
            <a:pPr lvl="1" algn="just">
              <a:spcAft>
                <a:spcPts val="1000"/>
              </a:spcAft>
            </a:pPr>
            <a:r>
              <a:rPr lang="ru-RU" sz="2400" dirty="0"/>
              <a:t>внести элемент случайности, чтобы не было фиксированного «плохого» случая. </a:t>
            </a:r>
            <a:endParaRPr lang="en-US" sz="2400" dirty="0"/>
          </a:p>
          <a:p>
            <a:pPr algn="just">
              <a:spcAft>
                <a:spcPts val="1000"/>
              </a:spcAft>
            </a:pPr>
            <a:endParaRPr lang="en-US" sz="2400" dirty="0"/>
          </a:p>
          <a:p>
            <a:pPr algn="just">
              <a:spcAft>
                <a:spcPts val="1000"/>
              </a:spcAft>
            </a:pPr>
            <a:r>
              <a:rPr lang="ru-RU" sz="2400" dirty="0"/>
              <a:t>Идея не брать какую-либо одну конкретную хеш-функцию, а, например, организовать программу так, чтобы при каждом запуске хеш-функция выбиралась заново. </a:t>
            </a:r>
          </a:p>
          <a:p>
            <a:pPr algn="just">
              <a:spcAft>
                <a:spcPts val="1000"/>
              </a:spcAft>
            </a:pPr>
            <a:endParaRPr lang="en-US" sz="2400" dirty="0"/>
          </a:p>
          <a:p>
            <a:pPr algn="just">
              <a:spcAft>
                <a:spcPts val="1000"/>
              </a:spcAft>
            </a:pPr>
            <a:r>
              <a:rPr lang="ru-RU" sz="2400" dirty="0"/>
              <a:t>Тогда одним и тем же входом «сломать» программу не получится, и можно будет рассуждать о длине цепочки с точки зрения теории вероятностей: говорить о том, какая длина цепочки в среднем, какая у неё дисперсия и т.п. </a:t>
            </a:r>
          </a:p>
          <a:p>
            <a:pPr algn="just" defTabSz="358775">
              <a:spcAft>
                <a:spcPts val="1000"/>
              </a:spcAft>
            </a:pPr>
            <a:endParaRPr lang="en-US" sz="2400" dirty="0"/>
          </a:p>
          <a:p>
            <a:pPr algn="just" defTabSz="358775">
              <a:spcAft>
                <a:spcPts val="1000"/>
              </a:spcAft>
            </a:pPr>
            <a:r>
              <a:rPr lang="ru-RU" sz="2400" dirty="0"/>
              <a:t>Такой подход называют </a:t>
            </a:r>
            <a:r>
              <a:rPr lang="ru-RU" sz="2400" b="1" dirty="0"/>
              <a:t>универсальным хешированием.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6615204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82881" y="1467998"/>
                <a:ext cx="9223906" cy="2819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3600" dirty="0"/>
                  <a:t>Хеш-функция выбирается </a:t>
                </a:r>
                <a:endParaRPr lang="en-US" sz="3600" dirty="0"/>
              </a:p>
              <a:p>
                <a:pPr lvl="1" algn="just"/>
                <a:r>
                  <a:rPr lang="ru-RU" sz="2400" dirty="0"/>
                  <a:t>случайным образом из некоторого сгенерированного  специальным образом </a:t>
                </a:r>
                <a:r>
                  <a:rPr lang="ru-RU" sz="2400" b="1" dirty="0"/>
                  <a:t>универсального множества хеш-функций</a:t>
                </a:r>
                <a:r>
                  <a:rPr lang="ru-RU" sz="2400" dirty="0"/>
                  <a:t>, которое гарантирует, что при случайном выборе хеш-функции из него вероятность коллизии для двух различных элементов</a:t>
                </a:r>
                <a:r>
                  <a:rPr lang="en-US" sz="2400" dirty="0"/>
                  <a:t>  </a:t>
                </a:r>
                <a:r>
                  <a:rPr lang="en-US" sz="3200" dirty="0"/>
                  <a:t>&lt;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oMath>
                </a14:m>
                <a:endParaRPr lang="ru-RU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881" y="1467998"/>
                <a:ext cx="9223906" cy="2819041"/>
              </a:xfrm>
              <a:prstGeom prst="rect">
                <a:avLst/>
              </a:prstGeom>
              <a:blipFill>
                <a:blip r:embed="rId2"/>
                <a:stretch>
                  <a:fillRect l="-2049" t="-3463" r="-991" b="-281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5686630-3560-490D-AC39-2477E6BB424A}"/>
              </a:ext>
            </a:extLst>
          </p:cNvPr>
          <p:cNvCxnSpPr/>
          <p:nvPr/>
        </p:nvCxnSpPr>
        <p:spPr>
          <a:xfrm>
            <a:off x="2249497" y="2237201"/>
            <a:ext cx="0" cy="204983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8575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 txBox="1"/>
              <p:nvPr/>
            </p:nvSpPr>
            <p:spPr>
              <a:xfrm>
                <a:off x="2371851" y="1746707"/>
                <a:ext cx="6155714" cy="8062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ru-BY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func>
                            <m:funcPr>
                              <m:ctrlP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BY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ru-BY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BY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ru-BY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func>
                    </m:oMath>
                  </m:oMathPara>
                </a14:m>
                <a:endParaRPr lang="ru-BY" sz="2800" b="1" dirty="0"/>
              </a:p>
            </p:txBody>
          </p:sp>
        </mc:Choice>
        <mc:Fallback xmlns="">
          <p:sp>
            <p:nvSpPr>
              <p:cNvPr id="5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851" y="1746707"/>
                <a:ext cx="6155714" cy="8062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76545" y="2655615"/>
                <a:ext cx="7944421" cy="28623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BY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– </a:t>
                </a:r>
                <a:r>
                  <a:rPr lang="ru-RU" sz="2000" dirty="0"/>
                  <a:t>ключ</a:t>
                </a:r>
                <a:r>
                  <a:rPr lang="en-US" sz="2000" dirty="0"/>
                  <a:t>;</a:t>
                </a:r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ru-BY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размер таблицы</a:t>
                </a:r>
                <a:r>
                  <a:rPr lang="en-US" sz="2000" dirty="0"/>
                  <a:t> (</a:t>
                </a:r>
                <a:r>
                  <a:rPr lang="ru-RU" sz="2000" dirty="0"/>
                  <a:t>произвольное число, не обязательно простое</a:t>
                </a:r>
                <a:r>
                  <a:rPr lang="en-US" sz="2000" dirty="0"/>
                  <a:t>);</a:t>
                </a:r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ru-BY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ru-RU" sz="2000" dirty="0"/>
                  <a:t>–</a:t>
                </a:r>
                <a:r>
                  <a:rPr lang="en-US" sz="2000" i="1" dirty="0"/>
                  <a:t> </a:t>
                </a:r>
                <a:r>
                  <a:rPr lang="ru-RU" sz="2000" dirty="0"/>
                  <a:t>выбрать достаточно большое простое число, такое, что все ключи лежат в диапазоне  от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000" i="1" dirty="0"/>
                  <a:t> </a:t>
                </a:r>
                <a:r>
                  <a:rPr lang="ru-RU" sz="2000" dirty="0"/>
                  <a:t>до</a:t>
                </a:r>
                <a:r>
                  <a:rPr lang="ru-RU" sz="2000" i="1" dirty="0"/>
                  <a:t> </a:t>
                </a:r>
                <a14:m>
                  <m:oMath xmlns:m="http://schemas.openxmlformats.org/officeDocument/2006/math">
                    <m:r>
                      <a:rPr lang="ru-BY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BY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ru-BY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ru-BY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u-BY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BY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i="1" dirty="0"/>
                  <a:t>;</a:t>
                </a:r>
              </a:p>
              <a:p>
                <a:endParaRPr lang="ru-RU" sz="2000" i="1" dirty="0"/>
              </a:p>
              <a:p>
                <a14:m>
                  <m:oMath xmlns:m="http://schemas.openxmlformats.org/officeDocument/2006/math">
                    <m:r>
                      <a:rPr lang="ru-BY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ru-RU" sz="2000" dirty="0"/>
                  <a:t>–</a:t>
                </a:r>
                <a:r>
                  <a:rPr lang="en-US" sz="2000" i="1" dirty="0"/>
                  <a:t>  </a:t>
                </a:r>
                <a:r>
                  <a:rPr lang="ru-RU" sz="2000" dirty="0"/>
                  <a:t>выбирается из множества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ru-BY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BY" sz="2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BY" sz="2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−1}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ru-RU" sz="2000" dirty="0"/>
                  <a:t>–</a:t>
                </a:r>
                <a:r>
                  <a:rPr lang="en-US" sz="2000" i="1" dirty="0"/>
                  <a:t>  </a:t>
                </a:r>
                <a:r>
                  <a:rPr lang="ru-RU" sz="2000" dirty="0"/>
                  <a:t>выбирается из множества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{0,1,…,</m:t>
                    </m:r>
                    <m:r>
                      <a:rPr lang="ru-BY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BY" sz="2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BY" sz="20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−1}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45" y="2655615"/>
                <a:ext cx="7944421" cy="2862322"/>
              </a:xfrm>
              <a:prstGeom prst="rect">
                <a:avLst/>
              </a:prstGeom>
              <a:blipFill>
                <a:blip r:embed="rId3"/>
                <a:stretch>
                  <a:fillRect l="-767" t="-1279" b="-29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237784" y="4981182"/>
                <a:ext cx="29542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·(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−1) </m:t>
                    </m:r>
                  </m:oMath>
                </a14:m>
                <a:r>
                  <a:rPr lang="ru-RU" sz="1400" dirty="0"/>
                  <a:t>способ выбрать хеш-функцию из семейства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784" y="4981182"/>
                <a:ext cx="2954215" cy="523220"/>
              </a:xfrm>
              <a:prstGeom prst="rect">
                <a:avLst/>
              </a:prstGeom>
              <a:blipFill>
                <a:blip r:embed="rId4"/>
                <a:stretch>
                  <a:fillRect l="-619" t="-2326" r="-412" b="-1162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75180" y="5864680"/>
                <a:ext cx="4720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добавление элемента – </a:t>
                </a:r>
                <a:r>
                  <a:rPr lang="ru-RU" dirty="0" err="1"/>
                  <a:t>усреднённо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180" y="5864680"/>
                <a:ext cx="4720820" cy="369332"/>
              </a:xfrm>
              <a:prstGeom prst="rect">
                <a:avLst/>
              </a:prstGeom>
              <a:blipFill>
                <a:blip r:embed="rId5"/>
                <a:stretch>
                  <a:fillRect l="-1163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67818" y="6336658"/>
                <a:ext cx="5111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поиск элемента – </a:t>
                </a:r>
                <a:r>
                  <a:rPr lang="ru-RU" dirty="0" err="1"/>
                  <a:t>математичекое</a:t>
                </a:r>
                <a:r>
                  <a:rPr lang="ru-RU" dirty="0"/>
                  <a:t> ожидание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818" y="6336658"/>
                <a:ext cx="5111892" cy="369332"/>
              </a:xfrm>
              <a:prstGeom prst="rect">
                <a:avLst/>
              </a:prstGeom>
              <a:blipFill>
                <a:blip r:embed="rId6"/>
                <a:stretch>
                  <a:fillRect l="-954" t="-8197" r="-119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63674" y="6090318"/>
            <a:ext cx="95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Оценки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3674" y="335508"/>
            <a:ext cx="116896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В </a:t>
            </a:r>
            <a:r>
              <a:rPr lang="ru-RU" sz="2400" b="1" dirty="0"/>
              <a:t>1977</a:t>
            </a:r>
            <a:r>
              <a:rPr lang="ru-RU" sz="2400" dirty="0"/>
              <a:t> году </a:t>
            </a:r>
            <a:r>
              <a:rPr lang="ru-RU" sz="2400" dirty="0" err="1"/>
              <a:t>Дж.Л</a:t>
            </a:r>
            <a:r>
              <a:rPr lang="ru-RU" sz="2400" dirty="0"/>
              <a:t>. </a:t>
            </a:r>
            <a:r>
              <a:rPr lang="ru-RU" sz="2400" b="1" dirty="0"/>
              <a:t>Картером</a:t>
            </a:r>
            <a:r>
              <a:rPr lang="ru-RU" sz="2400" dirty="0"/>
              <a:t> (J.L. </a:t>
            </a:r>
            <a:r>
              <a:rPr lang="ru-RU" sz="2400" dirty="0" err="1"/>
              <a:t>Carter</a:t>
            </a:r>
            <a:r>
              <a:rPr lang="ru-RU" sz="2400" dirty="0"/>
              <a:t>) и М.Н. </a:t>
            </a:r>
            <a:r>
              <a:rPr lang="ru-RU" sz="2400" b="1" dirty="0" err="1"/>
              <a:t>Вегманом</a:t>
            </a:r>
            <a:r>
              <a:rPr lang="ru-RU" sz="2400" dirty="0"/>
              <a:t> (M.N. </a:t>
            </a:r>
            <a:r>
              <a:rPr lang="ru-RU" sz="2400" dirty="0" err="1"/>
              <a:t>Wegman</a:t>
            </a:r>
            <a:r>
              <a:rPr lang="ru-RU" sz="2400" dirty="0"/>
              <a:t>)  </a:t>
            </a:r>
          </a:p>
          <a:p>
            <a:pPr algn="just"/>
            <a:r>
              <a:rPr lang="ru-RU" sz="2400" dirty="0"/>
              <a:t>предложен один</a:t>
            </a:r>
            <a:r>
              <a:rPr lang="en-US" sz="2400" dirty="0"/>
              <a:t> </a:t>
            </a:r>
            <a:r>
              <a:rPr lang="ru-RU" sz="2400" dirty="0"/>
              <a:t>из способ </a:t>
            </a:r>
            <a:r>
              <a:rPr lang="ru-RU" sz="2400" b="1" dirty="0"/>
              <a:t>построения универсального семейства хеш-функций для целочисленных ключей</a:t>
            </a:r>
            <a:r>
              <a:rPr lang="ru-RU" sz="2400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9237784" y="3849756"/>
                <a:ext cx="280033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/>
                  <a:t>постулат Бертрана гласит, что существует достаточно близкое к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400" dirty="0"/>
                  <a:t>простое число: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ru-RU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400" i="1" dirty="0">
                        <a:latin typeface="Cambria Math" panose="02040503050406030204" pitchFamily="18" charset="0"/>
                      </a:rPr>
                      <m:t> &lt; 2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784" y="3849756"/>
                <a:ext cx="2800336" cy="738664"/>
              </a:xfrm>
              <a:prstGeom prst="rect">
                <a:avLst/>
              </a:prstGeom>
              <a:blipFill>
                <a:blip r:embed="rId7"/>
                <a:stretch>
                  <a:fillRect l="-652" t="-1653" b="-743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6326FCE-5CFD-4711-9A82-E70FE35D8C47}"/>
              </a:ext>
            </a:extLst>
          </p:cNvPr>
          <p:cNvCxnSpPr/>
          <p:nvPr/>
        </p:nvCxnSpPr>
        <p:spPr>
          <a:xfrm>
            <a:off x="1338186" y="5706836"/>
            <a:ext cx="0" cy="10990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5C2E158-4BE6-4B6F-9E5E-F89454C2EC20}"/>
              </a:ext>
            </a:extLst>
          </p:cNvPr>
          <p:cNvCxnSpPr/>
          <p:nvPr/>
        </p:nvCxnSpPr>
        <p:spPr>
          <a:xfrm>
            <a:off x="0" y="5662246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AFCE8B5-7898-4CDB-A768-FBCAB365F132}"/>
              </a:ext>
            </a:extLst>
          </p:cNvPr>
          <p:cNvCxnSpPr>
            <a:cxnSpLocks/>
          </p:cNvCxnSpPr>
          <p:nvPr/>
        </p:nvCxnSpPr>
        <p:spPr>
          <a:xfrm>
            <a:off x="9141155" y="3701240"/>
            <a:ext cx="0" cy="19610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96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10" grpId="0"/>
      <p:bldP spid="11" grpId="0"/>
      <p:bldP spid="12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649503" y="1575659"/>
            <a:ext cx="74633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/>
              <a:t>Совершенное хеширование </a:t>
            </a:r>
            <a:endParaRPr lang="en-US" sz="3200" b="1" dirty="0"/>
          </a:p>
          <a:p>
            <a:pPr algn="ctr"/>
            <a:r>
              <a:rPr lang="ru-RU" sz="3200" dirty="0"/>
              <a:t>(англ. </a:t>
            </a:r>
            <a:r>
              <a:rPr lang="ru-RU" sz="3200" i="1" dirty="0" err="1"/>
              <a:t>perfect</a:t>
            </a:r>
            <a:r>
              <a:rPr lang="ru-RU" sz="3200" i="1" dirty="0"/>
              <a:t> </a:t>
            </a:r>
            <a:r>
              <a:rPr lang="ru-RU" sz="3200" i="1" dirty="0" err="1"/>
              <a:t>hashing</a:t>
            </a:r>
            <a:r>
              <a:rPr lang="ru-RU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3809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243316" y="275208"/>
                <a:ext cx="11293310" cy="5893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000"/>
                  </a:spcAft>
                </a:pPr>
                <a:r>
                  <a:rPr lang="ru-RU" sz="3200" dirty="0"/>
                  <a:t>Пусть </a:t>
                </a:r>
                <a14:m>
                  <m:oMath xmlns:m="http://schemas.openxmlformats.org/officeDocument/2006/math"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ru-RU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— фактическое множество ключей в хеш-таблице, и у этого множества размер </a:t>
                </a:r>
                <a14:m>
                  <m:oMath xmlns:m="http://schemas.openxmlformats.org/officeDocument/2006/math"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ru-RU" sz="3200" dirty="0"/>
                  <a:t>, где </a:t>
                </a:r>
                <a14:m>
                  <m:oMath xmlns:m="http://schemas.openxmlformats.org/officeDocument/2006/math">
                    <m:r>
                      <a:rPr lang="ru-RU" sz="32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3200" b="1" i="1" dirty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ru-RU" sz="3200" dirty="0"/>
                  <a:t>. </a:t>
                </a:r>
              </a:p>
              <a:p>
                <a:pPr algn="just">
                  <a:spcAft>
                    <a:spcPts val="1000"/>
                  </a:spcAft>
                </a:pPr>
                <a:endParaRPr lang="ru-RU" sz="3200" dirty="0"/>
              </a:p>
              <a:p>
                <a:pPr algn="just">
                  <a:spcAft>
                    <a:spcPts val="1000"/>
                  </a:spcAft>
                </a:pPr>
                <a:r>
                  <a:rPr lang="ru-RU" sz="3200" dirty="0"/>
                  <a:t>Тогда существует </a:t>
                </a:r>
                <a:r>
                  <a:rPr lang="ru-RU" sz="3200" b="1" dirty="0">
                    <a:latin typeface="Consolas" panose="020B0609020204030204" pitchFamily="49" charset="0"/>
                  </a:rPr>
                  <a:t>хеш-функция</a:t>
                </a:r>
                <a:r>
                  <a:rPr lang="ru-RU" sz="3200" dirty="0"/>
                  <a:t>, которая не даёт коллизий: если элементов меньше, чем слотов, то их всегда можно отобразить без коллизий. Это хорошая хеш-функция, её называют </a:t>
                </a:r>
                <a:r>
                  <a:rPr lang="ru-RU" sz="3200" b="1" dirty="0"/>
                  <a:t>совершенной</a:t>
                </a:r>
                <a:r>
                  <a:rPr lang="ru-RU" sz="3200" dirty="0"/>
                  <a:t>. Эта функция всегда есть и зависит от набора ключей. </a:t>
                </a:r>
                <a:endParaRPr lang="en-US" sz="3200" dirty="0"/>
              </a:p>
              <a:p>
                <a:pPr lvl="2" algn="just">
                  <a:spcAft>
                    <a:spcPts val="1000"/>
                  </a:spcAft>
                </a:pPr>
                <a:r>
                  <a:rPr lang="ru-RU" sz="2400" dirty="0"/>
                  <a:t>Даже если предположить, что набор ключей статический и известен заранее (т.е. все ключи сразу поступили, размещены в таблице и новые ключи туда более не будут более добавлены), есть трудность в том, как эффективно задать эту хеш-функцию. 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16" y="275208"/>
                <a:ext cx="11293310" cy="5893921"/>
              </a:xfrm>
              <a:prstGeom prst="rect">
                <a:avLst/>
              </a:prstGeom>
              <a:blipFill>
                <a:blip r:embed="rId2"/>
                <a:stretch>
                  <a:fillRect l="-1404" t="-1241" r="-1350" b="-134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41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55197" y="932251"/>
            <a:ext cx="11293310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ru-RU" sz="3200" dirty="0"/>
              <a:t>Таким образом,  задача заключается в построении </a:t>
            </a:r>
            <a:r>
              <a:rPr lang="ru-RU" sz="3200" b="1" dirty="0"/>
              <a:t>хеш-функции</a:t>
            </a:r>
            <a:r>
              <a:rPr lang="ru-RU" sz="3200" dirty="0"/>
              <a:t>, которая является:</a:t>
            </a:r>
          </a:p>
          <a:p>
            <a:pPr marL="1371600" lvl="2" indent="-457200" algn="just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ru-RU" sz="3200" b="1" dirty="0"/>
              <a:t>простой</a:t>
            </a:r>
            <a:r>
              <a:rPr lang="ru-RU" sz="3200" dirty="0"/>
              <a:t>, т.е. достаточно константного объёма памяти, чтобы её хранить; </a:t>
            </a:r>
          </a:p>
          <a:p>
            <a:pPr marL="1371600" lvl="2" indent="-457200" algn="just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ru-RU" sz="3200" b="1" dirty="0"/>
              <a:t>быстрой</a:t>
            </a:r>
            <a:r>
              <a:rPr lang="ru-RU" sz="3200" dirty="0"/>
              <a:t>, т.е. требуется константное время на вычисление; </a:t>
            </a:r>
          </a:p>
          <a:p>
            <a:pPr marL="1371600" lvl="2" indent="-457200" algn="just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ru-RU" sz="3200" b="1" dirty="0"/>
              <a:t>совершенной,</a:t>
            </a:r>
            <a:r>
              <a:rPr lang="ru-RU" sz="3200" dirty="0"/>
              <a:t> т.е. коллизии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109220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B4BD6-324C-48DF-A8F1-C4A22AF81255}"/>
              </a:ext>
            </a:extLst>
          </p:cNvPr>
          <p:cNvSpPr txBox="1"/>
          <p:nvPr/>
        </p:nvSpPr>
        <p:spPr>
          <a:xfrm>
            <a:off x="2196631" y="2160129"/>
            <a:ext cx="7798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Совершенное двухуровневое хеширование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5901325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97E2165-7AE7-4FA6-867B-5DE418C48B43}"/>
              </a:ext>
            </a:extLst>
          </p:cNvPr>
          <p:cNvGrpSpPr/>
          <p:nvPr/>
        </p:nvGrpSpPr>
        <p:grpSpPr>
          <a:xfrm>
            <a:off x="175156" y="131632"/>
            <a:ext cx="5524968" cy="2400657"/>
            <a:chOff x="141065" y="126634"/>
            <a:chExt cx="5524968" cy="24006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141065" y="126634"/>
                  <a:ext cx="5524968" cy="2400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b="1" dirty="0">
                      <a:solidFill>
                        <a:srgbClr val="C00000"/>
                      </a:solidFill>
                    </a:rPr>
                    <a:t>Уровень 1</a:t>
                  </a:r>
                  <a:endParaRPr lang="en-US" b="1" dirty="0">
                    <a:solidFill>
                      <a:srgbClr val="C00000"/>
                    </a:solidFill>
                  </a:endParaRPr>
                </a:p>
                <a:p>
                  <a:pPr lvl="1"/>
                  <a:r>
                    <a:rPr lang="ru-RU" sz="1200" dirty="0"/>
                    <a:t>хеширование цепочками в </a:t>
                  </a:r>
                  <a14:m>
                    <m:oMath xmlns:m="http://schemas.openxmlformats.org/officeDocument/2006/math">
                      <m:r>
                        <a:rPr lang="ru-RU" sz="1200" b="0" i="1" dirty="0" smtClean="0">
                          <a:latin typeface="Cambria Math" panose="02040503050406030204" pitchFamily="18" charset="0"/>
                        </a:rPr>
                        <m:t>М</m:t>
                      </m:r>
                      <m:r>
                        <a:rPr lang="ru-RU" sz="12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ru-RU" sz="1200" dirty="0"/>
                    <a:t>ячеек, возможны коллизии</a:t>
                  </a:r>
                  <a:endParaRPr lang="ru-RU" dirty="0"/>
                </a:p>
                <a:p>
                  <a:r>
                    <a:rPr lang="ru-RU" b="1" dirty="0"/>
                    <a:t>выполнять</a:t>
                  </a:r>
                </a:p>
                <a:p>
                  <a:pPr marL="549275" indent="-285750">
                    <a:buFont typeface="Wingdings" panose="05000000000000000000" pitchFamily="2" charset="2"/>
                    <a:buChar char="ü"/>
                  </a:pPr>
                  <a:r>
                    <a:rPr lang="ru-RU" dirty="0"/>
                    <a:t>выбрать хеш-функцию для таблицы порядка</a:t>
                  </a:r>
                  <a14:m>
                    <m:oMath xmlns:m="http://schemas.openxmlformats.org/officeDocument/2006/math">
                      <m:r>
                        <a:rPr lang="ru-RU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endParaRPr lang="en-US" dirty="0"/>
                </a:p>
                <a:p>
                  <a:pPr marL="720725" lvl="1"/>
                  <a:r>
                    <a:rPr lang="ru-RU" sz="1200" dirty="0"/>
                    <a:t>         (функция берётся из универсального множества хеш-функций)</a:t>
                  </a:r>
                  <a:r>
                    <a:rPr lang="en-US" sz="1200" dirty="0"/>
                    <a:t>;</a:t>
                  </a:r>
                </a:p>
                <a:p>
                  <a:pPr marL="549275" indent="-285750">
                    <a:buFont typeface="Wingdings" panose="05000000000000000000" pitchFamily="2" charset="2"/>
                    <a:buChar char="ü"/>
                  </a:pPr>
                  <a:endParaRPr lang="en-US" dirty="0"/>
                </a:p>
                <a:p>
                  <a:pPr marL="549275" indent="-285750">
                    <a:buFont typeface="Wingdings" panose="05000000000000000000" pitchFamily="2" charset="2"/>
                    <a:buChar char="ü"/>
                  </a:pPr>
                  <a:r>
                    <a:rPr lang="ru-RU" dirty="0"/>
                    <a:t>вычислить</a:t>
                  </a:r>
                </a:p>
                <a:p>
                  <a:endParaRPr lang="en-US" b="1" dirty="0"/>
                </a:p>
                <a:p>
                  <a:r>
                    <a:rPr lang="ru-RU" b="1" dirty="0"/>
                    <a:t>пока  </a:t>
                  </a:r>
                  <a14:m>
                    <m:oMath xmlns:m="http://schemas.openxmlformats.org/officeDocument/2006/math"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&gt;3·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065" y="126634"/>
                  <a:ext cx="5524968" cy="2400657"/>
                </a:xfrm>
                <a:prstGeom prst="rect">
                  <a:avLst/>
                </a:prstGeom>
                <a:blipFill>
                  <a:blip r:embed="rId2"/>
                  <a:stretch>
                    <a:fillRect l="-993" t="-1527" b="-3308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Объект 6"/>
                <p:cNvSpPr txBox="1"/>
                <p:nvPr/>
              </p:nvSpPr>
              <p:spPr>
                <a:xfrm>
                  <a:off x="1976730" y="1573633"/>
                  <a:ext cx="3504420" cy="5339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ru-RU" sz="14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1400" b="0" i="0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  <m:r>
                        <a:rPr lang="en-US" sz="1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sz="1400" dirty="0"/>
                    <a:t> </a:t>
                  </a:r>
                  <a:r>
                    <a:rPr lang="ru-RU" sz="1400" dirty="0"/>
                    <a:t>где</a:t>
                  </a:r>
                  <a:r>
                    <a:rPr lang="en-US" sz="14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400" dirty="0"/>
                    <a:t> - </a:t>
                  </a:r>
                  <a:r>
                    <a:rPr lang="ru-RU" sz="1400" dirty="0"/>
                    <a:t>число ключей в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ru-RU" sz="1400" dirty="0"/>
                    <a:t>ой корзине</a:t>
                  </a:r>
                  <a:endParaRPr lang="ru-BY" sz="1400" dirty="0"/>
                </a:p>
              </p:txBody>
            </p:sp>
          </mc:Choice>
          <mc:Fallback xmlns="">
            <p:sp>
              <p:nvSpPr>
                <p:cNvPr id="7" name="Объект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6730" y="1573633"/>
                  <a:ext cx="3504420" cy="533920"/>
                </a:xfrm>
                <a:prstGeom prst="rect">
                  <a:avLst/>
                </a:prstGeom>
                <a:blipFill>
                  <a:blip r:embed="rId3"/>
                  <a:stretch>
                    <a:fillRect t="-55682" b="-52273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-45127" y="2636946"/>
                <a:ext cx="5560368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solidFill>
                      <a:srgbClr val="C00000"/>
                    </a:solidFill>
                  </a:rPr>
                  <a:t>Уровень 2</a:t>
                </a:r>
                <a:r>
                  <a:rPr lang="ru-RU" dirty="0">
                    <a:solidFill>
                      <a:srgbClr val="C00000"/>
                    </a:solidFill>
                  </a:rPr>
                  <a:t> 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ru-RU" sz="1200" dirty="0"/>
                  <a:t>для каждой цепочки  строится небольшая вторичная хеш-таблица, чтобы гарантировать отсутствие коллизий на этом уровне</a:t>
                </a:r>
                <a:endParaRPr lang="en-US" dirty="0"/>
              </a:p>
              <a:p>
                <a:r>
                  <a:rPr lang="ru-RU" b="1" dirty="0"/>
                  <a:t>выполнять</a:t>
                </a:r>
              </a:p>
              <a:p>
                <a:pPr lvl="1"/>
                <a:r>
                  <a:rPr lang="ru-RU" dirty="0"/>
                  <a:t>выбрать хеш-функцию для таблицы порядка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aseline="30000" dirty="0"/>
              </a:p>
              <a:p>
                <a:pPr lvl="1"/>
                <a:r>
                  <a:rPr lang="en-US" sz="1200" dirty="0"/>
                  <a:t> </a:t>
                </a:r>
                <a:r>
                  <a:rPr lang="ru-RU" sz="1200" dirty="0"/>
                  <a:t>(из универсального множества хеш-функций)</a:t>
                </a:r>
                <a:r>
                  <a:rPr lang="en-US" sz="1200" dirty="0"/>
                  <a:t>;</a:t>
                </a:r>
              </a:p>
              <a:p>
                <a:r>
                  <a:rPr lang="ru-RU" b="1" dirty="0"/>
                  <a:t>пока  </a:t>
                </a:r>
                <a:r>
                  <a:rPr lang="ru-RU" dirty="0"/>
                  <a:t>(есть коллизии</a:t>
                </a:r>
                <a:r>
                  <a:rPr lang="en-US" dirty="0"/>
                  <a:t>)</a:t>
                </a:r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127" y="2636946"/>
                <a:ext cx="5560368" cy="1754326"/>
              </a:xfrm>
              <a:prstGeom prst="rect">
                <a:avLst/>
              </a:prstGeom>
              <a:blipFill>
                <a:blip r:embed="rId4"/>
                <a:stretch>
                  <a:fillRect l="-987" t="-2091" b="-48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8"/>
              <p:cNvSpPr txBox="1"/>
              <p:nvPr/>
            </p:nvSpPr>
            <p:spPr>
              <a:xfrm>
                <a:off x="3699366" y="1925171"/>
                <a:ext cx="1777069" cy="46771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BY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BY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BY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≤3⋅</m:t>
                      </m:r>
                      <m:r>
                        <a:rPr lang="ru-BY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BY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f>
                        <m:fPr>
                          <m:ctrlP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BY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BY" sz="1600" dirty="0"/>
              </a:p>
            </p:txBody>
          </p:sp>
        </mc:Choice>
        <mc:Fallback xmlns="">
          <p:sp>
            <p:nvSpPr>
              <p:cNvPr id="9" name="Объект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366" y="1925171"/>
                <a:ext cx="1777069" cy="467710"/>
              </a:xfrm>
              <a:prstGeom prst="rect">
                <a:avLst/>
              </a:prstGeom>
              <a:blipFill>
                <a:blip r:embed="rId5"/>
                <a:stretch>
                  <a:fillRect b="-779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Объект 9"/>
              <p:cNvSpPr txBox="1"/>
              <p:nvPr/>
            </p:nvSpPr>
            <p:spPr>
              <a:xfrm>
                <a:off x="46086" y="4569850"/>
                <a:ext cx="4902986" cy="74021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BY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ru-BY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хеш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ru-BY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функция для таблицы</m:t>
                      </m:r>
                      <m:r>
                        <m:rPr>
                          <m:nor/>
                        </m:rPr>
                        <a:rPr lang="ru-RU" sz="1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BY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порядка </m:t>
                      </m:r>
                      <m:sSup>
                        <m:sSup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ru-BY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на 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m:rPr>
                          <m:nor/>
                        </m:rPr>
                        <a:rPr lang="ru-BY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элементах не даёт коллизий</m:t>
                      </m:r>
                      <m:r>
                        <a:rPr lang="ru-BY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f>
                        <m:f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BY" sz="1400" dirty="0"/>
              </a:p>
            </p:txBody>
          </p:sp>
        </mc:Choice>
        <mc:Fallback xmlns="">
          <p:sp>
            <p:nvSpPr>
              <p:cNvPr id="10" name="Объект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6" y="4569850"/>
                <a:ext cx="4902986" cy="7402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9422" y="5518420"/>
                <a:ext cx="5560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u="sng" dirty="0"/>
                  <a:t>В худшем случае поиск </a:t>
                </a:r>
                <a:r>
                  <a:rPr lang="ru-RU" dirty="0"/>
                  <a:t>элемента выполняется за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422" y="5518420"/>
                <a:ext cx="5560368" cy="369332"/>
              </a:xfrm>
              <a:prstGeom prst="rect">
                <a:avLst/>
              </a:prstGeom>
              <a:blipFill>
                <a:blip r:embed="rId7"/>
                <a:stretch>
                  <a:fillRect l="-876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>
            <a:cxnSpLocks/>
          </p:cNvCxnSpPr>
          <p:nvPr/>
        </p:nvCxnSpPr>
        <p:spPr>
          <a:xfrm flipH="1">
            <a:off x="5412064" y="48215"/>
            <a:ext cx="35979" cy="67615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75654" y="1670254"/>
                <a:ext cx="2778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𝟑𝟕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654" y="1670254"/>
                <a:ext cx="2778886" cy="369332"/>
              </a:xfrm>
              <a:prstGeom prst="rect">
                <a:avLst/>
              </a:prstGeom>
              <a:blipFill>
                <a:blip r:embed="rId8"/>
                <a:stretch>
                  <a:fillRect l="-658" r="-1316" b="-147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27400"/>
              </p:ext>
            </p:extLst>
          </p:nvPr>
        </p:nvGraphicFramePr>
        <p:xfrm>
          <a:off x="5728052" y="82888"/>
          <a:ext cx="3646043" cy="393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28720" imgH="291960" progId="Equation.DSMT4">
                  <p:embed/>
                </p:oleObj>
              </mc:Choice>
              <mc:Fallback>
                <p:oleObj name="Equation" r:id="rId9" imgW="26287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28052" y="82888"/>
                        <a:ext cx="3646043" cy="3930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865253" y="421845"/>
                <a:ext cx="630516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200" dirty="0"/>
                  <a:t> – </a:t>
                </a:r>
                <a:r>
                  <a:rPr lang="ru-RU" sz="1200" dirty="0"/>
                  <a:t>ключ</a:t>
                </a:r>
                <a:r>
                  <a:rPr lang="en-US" sz="1200" dirty="0"/>
                  <a:t>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sz="1200" b="1" i="1" dirty="0" smtClean="0">
                        <a:latin typeface="Cambria Math" panose="02040503050406030204" pitchFamily="18" charset="0"/>
                      </a:rPr>
                      <m:t>М</m:t>
                    </m:r>
                  </m:oMath>
                </a14:m>
                <a:r>
                  <a:rPr lang="ru-RU" sz="1200" dirty="0"/>
                  <a:t> – размер таблицы</a:t>
                </a:r>
                <a:r>
                  <a:rPr lang="en-US" sz="1200" dirty="0"/>
                  <a:t> (</a:t>
                </a:r>
                <a:r>
                  <a:rPr lang="ru-RU" sz="1200" dirty="0"/>
                  <a:t>произвольное число, не обязательно простое</a:t>
                </a:r>
                <a:r>
                  <a:rPr lang="en-US" sz="1200" dirty="0"/>
                  <a:t>);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1200" i="1" dirty="0"/>
                  <a:t> -  </a:t>
                </a:r>
                <a:r>
                  <a:rPr lang="ru-RU" sz="1200" dirty="0"/>
                  <a:t>достаточно большое простое число, такое, что все ключи лежат в диапазоне  от</a:t>
                </a:r>
                <a:endParaRPr lang="en-US" sz="1200" dirty="0"/>
              </a:p>
              <a:p>
                <a:pPr lvl="1"/>
                <a:r>
                  <a:rPr lang="en-US" sz="1200" dirty="0"/>
                  <a:t>       </a:t>
                </a:r>
                <a14:m>
                  <m:oMath xmlns:m="http://schemas.openxmlformats.org/officeDocument/2006/math">
                    <m:r>
                      <a:rPr lang="ru-RU" sz="12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1200" i="1" dirty="0"/>
                  <a:t> </a:t>
                </a:r>
                <a:r>
                  <a:rPr lang="en-US" sz="1200" i="1" dirty="0"/>
                  <a:t> </a:t>
                </a:r>
                <a:r>
                  <a:rPr lang="ru-RU" sz="1200" dirty="0"/>
                  <a:t>до</a:t>
                </a:r>
                <a:r>
                  <a:rPr lang="ru-RU" sz="1200" i="1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200" i="1" dirty="0"/>
                  <a:t> (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i="1" dirty="0"/>
                  <a:t>);</a:t>
                </a:r>
                <a:endParaRPr lang="ru-RU" sz="12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i="1" dirty="0"/>
                  <a:t> -  </a:t>
                </a:r>
                <a:r>
                  <a:rPr lang="ru-RU" sz="1200" dirty="0"/>
                  <a:t>выбирается из множества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200" i="1" dirty="0"/>
                  <a:t> -  </a:t>
                </a:r>
                <a:r>
                  <a:rPr lang="ru-RU" sz="1200" dirty="0"/>
                  <a:t>выбирается из множества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{0,1,…,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253" y="421845"/>
                <a:ext cx="6305167" cy="1200329"/>
              </a:xfrm>
              <a:prstGeom prst="rect">
                <a:avLst/>
              </a:prstGeom>
              <a:blipFill>
                <a:blip r:embed="rId11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Объект 15"/>
              <p:cNvSpPr txBox="1"/>
              <p:nvPr/>
            </p:nvSpPr>
            <p:spPr>
              <a:xfrm>
                <a:off x="9184229" y="2549821"/>
                <a:ext cx="2874097" cy="663499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1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BY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BY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BY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BY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BY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ru-BY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func>
                            <m:funcPr>
                              <m:ctrlP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BY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</m:e>
                          </m:func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</m:d>
                      <m:func>
                        <m:func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BY" sz="1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sSub>
                            <m:sSubPr>
                              <m:ctrlPr>
                                <a:rPr lang="ru-BY" sz="1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ru-BY" sz="1400" dirty="0"/>
              </a:p>
            </p:txBody>
          </p:sp>
        </mc:Choice>
        <mc:Fallback xmlns="">
          <p:sp>
            <p:nvSpPr>
              <p:cNvPr id="16" name="Объект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229" y="2549821"/>
                <a:ext cx="2874097" cy="6634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71488"/>
              </p:ext>
            </p:extLst>
          </p:nvPr>
        </p:nvGraphicFramePr>
        <p:xfrm>
          <a:off x="5692762" y="3230051"/>
          <a:ext cx="1000332" cy="247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574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60</a:t>
                      </a:r>
                      <a:r>
                        <a:rPr lang="ru-RU" sz="1200" b="1" dirty="0"/>
                        <a:t>,</a:t>
                      </a:r>
                      <a:r>
                        <a:rPr lang="en-US" sz="1200" b="1" dirty="0"/>
                        <a:t>75</a:t>
                      </a:r>
                      <a:endParaRPr lang="ru-RU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/>
                        <a:t>37,40,22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r>
                        <a:rPr lang="ru-RU" sz="1000" dirty="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487018" y="6093954"/>
                <a:ext cx="2345322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ru-RU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ru-RU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ru-RU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140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15&lt;3·9</m:t>
                      </m:r>
                      <m:r>
                        <a:rPr lang="ru-RU" sz="1400" i="1" dirty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sz="1400" dirty="0"/>
              </a:p>
              <a:p>
                <a:r>
                  <a:rPr lang="ru-RU" sz="1400" dirty="0"/>
                  <a:t>переход ко 2-у уровню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018" y="6093954"/>
                <a:ext cx="2345322" cy="738664"/>
              </a:xfrm>
              <a:prstGeom prst="rect">
                <a:avLst/>
              </a:prstGeom>
              <a:blipFill>
                <a:blip r:embed="rId13"/>
                <a:stretch>
                  <a:fillRect l="-779" b="-743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Таблица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281272"/>
                  </p:ext>
                </p:extLst>
              </p:nvPr>
            </p:nvGraphicFramePr>
            <p:xfrm>
              <a:off x="7835239" y="3372127"/>
              <a:ext cx="4313718" cy="23928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14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1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1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794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025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2032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098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3798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25651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220554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231405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372301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</a:tblGrid>
                  <a:tr h="350678"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baseline="0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1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810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2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baseline="0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=10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=18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3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4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200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5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baseline="0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6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2200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7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baseline="0" dirty="0">
                              <a:solidFill>
                                <a:schemeClr val="tx1"/>
                              </a:solidFill>
                            </a:rPr>
                            <a:t>m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=23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=88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ru-RU" sz="800" dirty="0"/>
                            <a:t>8</a:t>
                          </a: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Таблица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281272"/>
                  </p:ext>
                </p:extLst>
              </p:nvPr>
            </p:nvGraphicFramePr>
            <p:xfrm>
              <a:off x="7835239" y="3372127"/>
              <a:ext cx="4313718" cy="23928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14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31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1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794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025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2032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098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3798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25651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220554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231405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372301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</a:tblGrid>
                  <a:tr h="350678"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4186" t="-1724" r="-682558" b="-58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87931" t="-1724" r="-637931" b="-58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1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810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2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4186" t="-167857" r="-682558" b="-4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=10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=18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87931" t="-167857" r="-637931" b="-4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655769" t="-167857" r="-611538" b="-43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3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4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2200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5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4186" t="-433333" r="-682558" b="-2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=0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87931" t="-433333" r="-637931" b="-2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6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2200">
                    <a:tc>
                      <a:txBody>
                        <a:bodyPr/>
                        <a:lstStyle/>
                        <a:p>
                          <a:r>
                            <a:rPr lang="en-US" sz="800" dirty="0"/>
                            <a:t>7</a:t>
                          </a:r>
                          <a:endParaRPr lang="ru-RU" sz="8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4186" t="-590385" r="-682558" b="-7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=23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US" sz="800" b="0" baseline="-25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r>
                            <a:rPr lang="en-US" sz="800" b="0" dirty="0">
                              <a:solidFill>
                                <a:schemeClr val="tx1"/>
                              </a:solidFill>
                            </a:rPr>
                            <a:t>=88</a:t>
                          </a:r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487931" t="-590385" r="-637931" b="-7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801818" t="-590385" r="-390909" b="-7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60656" t="-590385" r="-4918" b="-71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15802">
                    <a:tc>
                      <a:txBody>
                        <a:bodyPr/>
                        <a:lstStyle/>
                        <a:p>
                          <a:r>
                            <a:rPr lang="ru-RU" sz="800" dirty="0"/>
                            <a:t>8</a:t>
                          </a:r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sz="600" dirty="0"/>
                        </a:p>
                      </a:txBody>
                      <a:tcPr marT="37785" marB="37785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Объект 22"/>
              <p:cNvSpPr txBox="1"/>
              <p:nvPr/>
            </p:nvSpPr>
            <p:spPr>
              <a:xfrm>
                <a:off x="5475655" y="2483467"/>
                <a:ext cx="2742908" cy="686698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3,42</m:t>
                          </m:r>
                        </m:sub>
                      </m:sSub>
                      <m:d>
                        <m:d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1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3⋅</m:t>
                              </m:r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+42</m:t>
                              </m:r>
                            </m:e>
                          </m:d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func>
                            <m:funcPr>
                              <m:ctrlP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BY" sz="1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ru-BY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</m:e>
                          </m:func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101</m:t>
                          </m:r>
                        </m:e>
                      </m:d>
                      <m:func>
                        <m:funcPr>
                          <m:ctrlP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BY" sz="1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ru-BY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ru-BY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ru-BY" sz="1400" dirty="0"/>
              </a:p>
            </p:txBody>
          </p:sp>
        </mc:Choice>
        <mc:Fallback xmlns="">
          <p:sp>
            <p:nvSpPr>
              <p:cNvPr id="23" name="Объект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655" y="2483467"/>
                <a:ext cx="2742908" cy="6866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468300" y="2093826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Уровень 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4229" y="2092680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Уровень 2.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9422" y="6061616"/>
                <a:ext cx="55771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u="sng" dirty="0"/>
                  <a:t>Математическое ожидание построения таблицы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422" y="6061616"/>
                <a:ext cx="5577104" cy="369332"/>
              </a:xfrm>
              <a:prstGeom prst="rect">
                <a:avLst/>
              </a:prstGeom>
              <a:blipFill>
                <a:blip r:embed="rId16"/>
                <a:stretch>
                  <a:fillRect l="-874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CA534E2-B369-47A5-BE80-5B002B9DA611}"/>
              </a:ext>
            </a:extLst>
          </p:cNvPr>
          <p:cNvCxnSpPr>
            <a:cxnSpLocks/>
          </p:cNvCxnSpPr>
          <p:nvPr/>
        </p:nvCxnSpPr>
        <p:spPr>
          <a:xfrm>
            <a:off x="0" y="2462012"/>
            <a:ext cx="5391807" cy="4291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7F67BE66-8482-4274-A265-D7F4D9F2EB6C}"/>
              </a:ext>
            </a:extLst>
          </p:cNvPr>
          <p:cNvCxnSpPr>
            <a:cxnSpLocks/>
          </p:cNvCxnSpPr>
          <p:nvPr/>
        </p:nvCxnSpPr>
        <p:spPr>
          <a:xfrm>
            <a:off x="7771311" y="3230051"/>
            <a:ext cx="0" cy="362794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735ACD40-B1B4-49D6-BE37-A1304039B0B5}"/>
              </a:ext>
            </a:extLst>
          </p:cNvPr>
          <p:cNvCxnSpPr/>
          <p:nvPr/>
        </p:nvCxnSpPr>
        <p:spPr>
          <a:xfrm>
            <a:off x="0" y="5483926"/>
            <a:ext cx="541206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71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4" grpId="0"/>
      <p:bldP spid="12" grpId="0"/>
      <p:bldP spid="14" grpId="0"/>
      <p:bldP spid="16" grpId="0" animBg="1"/>
      <p:bldP spid="18" grpId="0"/>
      <p:bldP spid="23" grpId="0" animBg="1"/>
      <p:bldP spid="24" grpId="0"/>
      <p:bldP spid="27" grpId="0"/>
      <p:bldP spid="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508904" y="2019378"/>
            <a:ext cx="32369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 </a:t>
            </a:r>
            <a:r>
              <a:rPr lang="ru-RU" sz="2800" b="1" dirty="0"/>
              <a:t>Хеш-таблицы в </a:t>
            </a:r>
            <a:r>
              <a:rPr lang="en-US" sz="2800" b="1" dirty="0"/>
              <a:t>C++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17465645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12429" y="558533"/>
            <a:ext cx="111230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Долгое время в языке </a:t>
            </a:r>
            <a:r>
              <a:rPr lang="ru-RU" sz="2400" b="1" dirty="0"/>
              <a:t>C++ </a:t>
            </a:r>
            <a:r>
              <a:rPr lang="ru-RU" sz="2400" dirty="0"/>
              <a:t>не было стандартных реализаций структур данных на основе хеш-таблиц. 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Контейнеры </a:t>
            </a:r>
            <a:r>
              <a:rPr lang="ru-RU" sz="2400" b="1" dirty="0" err="1">
                <a:latin typeface="Consolas" panose="020B0609020204030204" pitchFamily="49" charset="0"/>
              </a:rPr>
              <a:t>std</a:t>
            </a:r>
            <a:r>
              <a:rPr lang="ru-RU" sz="2400" b="1" dirty="0">
                <a:latin typeface="Consolas" panose="020B0609020204030204" pitchFamily="49" charset="0"/>
              </a:rPr>
              <a:t>::</a:t>
            </a:r>
            <a:r>
              <a:rPr lang="ru-RU" sz="2400" b="1" dirty="0" err="1">
                <a:latin typeface="Consolas" panose="020B0609020204030204" pitchFamily="49" charset="0"/>
              </a:rPr>
              <a:t>set</a:t>
            </a:r>
            <a:r>
              <a:rPr lang="ru-RU" sz="2400" b="1" dirty="0">
                <a:latin typeface="Consolas" panose="020B0609020204030204" pitchFamily="49" charset="0"/>
              </a:rPr>
              <a:t> </a:t>
            </a:r>
            <a:r>
              <a:rPr lang="ru-RU" sz="2400" dirty="0"/>
              <a:t>и </a:t>
            </a:r>
            <a:r>
              <a:rPr lang="ru-RU" sz="2400" b="1" dirty="0" err="1">
                <a:latin typeface="Consolas" panose="020B0609020204030204" pitchFamily="49" charset="0"/>
              </a:rPr>
              <a:t>std</a:t>
            </a:r>
            <a:r>
              <a:rPr lang="ru-RU" sz="2400" b="1" dirty="0">
                <a:latin typeface="Consolas" panose="020B0609020204030204" pitchFamily="49" charset="0"/>
              </a:rPr>
              <a:t>::</a:t>
            </a:r>
            <a:r>
              <a:rPr lang="ru-RU" sz="2400" b="1" dirty="0" err="1">
                <a:latin typeface="Consolas" panose="020B0609020204030204" pitchFamily="49" charset="0"/>
              </a:rPr>
              <a:t>map</a:t>
            </a:r>
            <a:r>
              <a:rPr lang="ru-RU" sz="2400" b="1" dirty="0">
                <a:latin typeface="Consolas" panose="020B0609020204030204" pitchFamily="49" charset="0"/>
              </a:rPr>
              <a:t> </a:t>
            </a:r>
            <a:r>
              <a:rPr lang="ru-RU" sz="2400" dirty="0"/>
              <a:t>из </a:t>
            </a:r>
            <a:r>
              <a:rPr lang="ru-RU" sz="2400" b="1" dirty="0"/>
              <a:t>STL</a:t>
            </a:r>
            <a:r>
              <a:rPr lang="ru-RU" sz="2400" dirty="0"/>
              <a:t> строятся на основе сбалансированных бинарных поисковых деревьев (во всех популярных реализациях применяются красно-чёрные деревья). 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Хеш-таблицы существовали в виде нестандартных расширений (например </a:t>
            </a:r>
            <a:r>
              <a:rPr lang="ru-RU" sz="2400" dirty="0" err="1">
                <a:latin typeface="Consolas" panose="020B0609020204030204" pitchFamily="49" charset="0"/>
              </a:rPr>
              <a:t>stdext</a:t>
            </a:r>
            <a:r>
              <a:rPr lang="ru-RU" sz="2400" dirty="0">
                <a:latin typeface="Consolas" panose="020B0609020204030204" pitchFamily="49" charset="0"/>
              </a:rPr>
              <a:t>::</a:t>
            </a:r>
            <a:r>
              <a:rPr lang="ru-RU" sz="2400" dirty="0" err="1">
                <a:latin typeface="Consolas" panose="020B0609020204030204" pitchFamily="49" charset="0"/>
              </a:rPr>
              <a:t>hash_set</a:t>
            </a:r>
            <a:r>
              <a:rPr lang="ru-RU" sz="2400" dirty="0">
                <a:latin typeface="Consolas" panose="020B0609020204030204" pitchFamily="49" charset="0"/>
              </a:rPr>
              <a:t> </a:t>
            </a:r>
            <a:r>
              <a:rPr lang="ru-RU" sz="2400" dirty="0"/>
              <a:t>в Visual Studio) или внешних библиотек (например </a:t>
            </a:r>
            <a:r>
              <a:rPr lang="ru-RU" sz="2400" dirty="0" err="1">
                <a:latin typeface="Consolas" panose="020B0609020204030204" pitchFamily="49" charset="0"/>
              </a:rPr>
              <a:t>boost</a:t>
            </a:r>
            <a:r>
              <a:rPr lang="ru-RU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754697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9677" y="357011"/>
            <a:ext cx="1144662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Наконец, </a:t>
            </a:r>
            <a:r>
              <a:rPr lang="ru-RU" sz="2400" b="1" dirty="0"/>
              <a:t>в стандарте C++11 в STL официально были добавлены хеш-таблицы</a:t>
            </a:r>
            <a:r>
              <a:rPr lang="ru-RU" sz="2400" dirty="0"/>
              <a:t>. </a:t>
            </a:r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ru-RU" sz="2400" dirty="0"/>
              <a:t>Стандарт предусматривает четыре контейнера на основе хеш-таблиц, которые отличаются от своих аналогов на основе деревьев наличием префикса </a:t>
            </a:r>
            <a:r>
              <a:rPr lang="ru-RU" sz="2400" b="1" dirty="0" err="1">
                <a:solidFill>
                  <a:srgbClr val="C00000"/>
                </a:solidFill>
              </a:rPr>
              <a:t>unordered</a:t>
            </a:r>
            <a:r>
              <a:rPr lang="ru-RU" sz="2400" dirty="0"/>
              <a:t>_ в названии. </a:t>
            </a:r>
          </a:p>
          <a:p>
            <a:pPr marL="1081088" lvl="1" algn="just"/>
            <a:r>
              <a:rPr lang="ru-RU" sz="2400" b="1" dirty="0" err="1">
                <a:solidFill>
                  <a:srgbClr val="C00000"/>
                </a:solidFill>
              </a:rPr>
              <a:t>std</a:t>
            </a:r>
            <a:r>
              <a:rPr lang="ru-RU" sz="2400" b="1" dirty="0">
                <a:solidFill>
                  <a:srgbClr val="C00000"/>
                </a:solidFill>
              </a:rPr>
              <a:t>::</a:t>
            </a:r>
            <a:r>
              <a:rPr lang="ru-RU" sz="2400" b="1" dirty="0" err="1">
                <a:solidFill>
                  <a:srgbClr val="C00000"/>
                </a:solidFill>
              </a:rPr>
              <a:t>unordered_set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dirty="0"/>
              <a:t>представляет собой динамическое множество</a:t>
            </a:r>
            <a:r>
              <a:rPr lang="en-US" sz="2400" dirty="0"/>
              <a:t>;</a:t>
            </a:r>
            <a:endParaRPr lang="ru-RU" sz="2400" dirty="0"/>
          </a:p>
          <a:p>
            <a:pPr marL="1081088" lvl="1" algn="just"/>
            <a:r>
              <a:rPr lang="ru-RU" sz="2400" b="1" dirty="0" err="1">
                <a:solidFill>
                  <a:srgbClr val="C00000"/>
                </a:solidFill>
              </a:rPr>
              <a:t>std</a:t>
            </a:r>
            <a:r>
              <a:rPr lang="ru-RU" sz="2400" b="1" dirty="0">
                <a:solidFill>
                  <a:srgbClr val="C00000"/>
                </a:solidFill>
              </a:rPr>
              <a:t>::</a:t>
            </a:r>
            <a:r>
              <a:rPr lang="ru-RU" sz="2400" b="1" dirty="0" err="1">
                <a:solidFill>
                  <a:srgbClr val="C00000"/>
                </a:solidFill>
              </a:rPr>
              <a:t>unordered_map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dirty="0"/>
              <a:t>— ассоциативный массив</a:t>
            </a:r>
            <a:r>
              <a:rPr lang="en-US" sz="2400" dirty="0"/>
              <a:t>.</a:t>
            </a:r>
          </a:p>
          <a:p>
            <a:pPr marL="1081088" lvl="1" algn="just"/>
            <a:endParaRPr lang="en-US" sz="2400" dirty="0"/>
          </a:p>
          <a:p>
            <a:pPr marL="1081088" lvl="1" algn="just"/>
            <a:r>
              <a:rPr lang="en-US" sz="2400" dirty="0"/>
              <a:t>C</a:t>
            </a:r>
            <a:r>
              <a:rPr lang="ru-RU" sz="2400" dirty="0" err="1"/>
              <a:t>уществует</a:t>
            </a:r>
            <a:r>
              <a:rPr lang="ru-RU" sz="2400" dirty="0"/>
              <a:t> также два </a:t>
            </a:r>
            <a:r>
              <a:rPr lang="ru-RU" sz="2400" b="1" dirty="0" err="1">
                <a:solidFill>
                  <a:srgbClr val="C00000"/>
                </a:solidFill>
              </a:rPr>
              <a:t>multi</a:t>
            </a:r>
            <a:r>
              <a:rPr lang="ru-RU" sz="2400" b="1" dirty="0">
                <a:solidFill>
                  <a:srgbClr val="C00000"/>
                </a:solidFill>
              </a:rPr>
              <a:t>-контейнера</a:t>
            </a:r>
            <a:r>
              <a:rPr lang="ru-RU" sz="2400" dirty="0"/>
              <a:t>, которые допускают хранение одинаковых ключей.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19677" y="4536995"/>
            <a:ext cx="113483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Стандарт требует, чтобы в построении этих структур данных авторы компиляторов использовали </a:t>
            </a:r>
            <a:r>
              <a:rPr lang="ru-RU" sz="2400" b="1" dirty="0"/>
              <a:t>разрешение коллизий методом цепочек</a:t>
            </a:r>
            <a:r>
              <a:rPr lang="ru-RU" sz="2400" dirty="0"/>
              <a:t>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19677" y="5476995"/>
            <a:ext cx="111978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Метод открытой адресации не был стандартизирован из-за внутренних трудностей при удалении элементов. Однако детали реализации хеш-таблиц стандартом не регламентируются.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166344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662557" y="1761893"/>
            <a:ext cx="1125820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качестве </a:t>
            </a:r>
            <a:r>
              <a:rPr lang="ru-RU" sz="2400" dirty="0" err="1"/>
              <a:t>хеш</a:t>
            </a:r>
            <a:r>
              <a:rPr lang="ru-RU" sz="2400" dirty="0"/>
              <a:t>-значения в C++ используется число типа </a:t>
            </a:r>
            <a:r>
              <a:rPr lang="ru-RU" sz="2400" b="1" dirty="0" err="1">
                <a:latin typeface="Consolas" panose="020B0609020204030204" pitchFamily="49" charset="0"/>
              </a:rPr>
              <a:t>size_t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pPr algn="just"/>
            <a:r>
              <a:rPr lang="ru-RU" sz="2400" dirty="0"/>
              <a:t>Все </a:t>
            </a:r>
            <a:r>
              <a:rPr lang="ru-RU" sz="2400" dirty="0" err="1"/>
              <a:t>хеш</a:t>
            </a:r>
            <a:r>
              <a:rPr lang="ru-RU" sz="2400" dirty="0"/>
              <a:t>-контейнеры предоставляют метод </a:t>
            </a:r>
            <a:r>
              <a:rPr lang="ru-RU" sz="2400" b="1" dirty="0" err="1">
                <a:latin typeface="Consolas" panose="020B0609020204030204" pitchFamily="49" charset="0"/>
              </a:rPr>
              <a:t>rehash</a:t>
            </a:r>
            <a:r>
              <a:rPr lang="ru-RU" sz="2400" b="1" dirty="0">
                <a:latin typeface="Consolas" panose="020B0609020204030204" pitchFamily="49" charset="0"/>
              </a:rPr>
              <a:t>()</a:t>
            </a:r>
            <a:r>
              <a:rPr lang="ru-RU" sz="2400" b="1" dirty="0"/>
              <a:t>, </a:t>
            </a:r>
            <a:r>
              <a:rPr lang="ru-RU" sz="2400" dirty="0"/>
              <a:t>который позволяет установить размер хеш-таблицы (число корзин </a:t>
            </a:r>
            <a:r>
              <a:rPr lang="ru-RU" sz="2400" b="1" dirty="0">
                <a:latin typeface="Consolas" panose="020B0609020204030204" pitchFamily="49" charset="0"/>
              </a:rPr>
              <a:t>M</a:t>
            </a:r>
            <a:r>
              <a:rPr lang="ru-RU" sz="2400" dirty="0"/>
              <a:t>). </a:t>
            </a:r>
          </a:p>
          <a:p>
            <a:endParaRPr lang="ru-RU" sz="2400" dirty="0"/>
          </a:p>
          <a:p>
            <a:pPr algn="just"/>
            <a:r>
              <a:rPr lang="ru-RU" sz="2400" dirty="0"/>
              <a:t>Метод под названием </a:t>
            </a:r>
            <a:r>
              <a:rPr lang="ru-RU" sz="2400" b="1" dirty="0" err="1">
                <a:latin typeface="Consolas" panose="020B0609020204030204" pitchFamily="49" charset="0"/>
              </a:rPr>
              <a:t>load_factor</a:t>
            </a:r>
            <a:r>
              <a:rPr lang="ru-RU" sz="2400" b="1" dirty="0">
                <a:latin typeface="Consolas" panose="020B0609020204030204" pitchFamily="49" charset="0"/>
              </a:rPr>
              <a:t>() </a:t>
            </a:r>
            <a:r>
              <a:rPr lang="ru-RU" sz="2400" dirty="0"/>
              <a:t>возвращает текущий коэффициент заполнения.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22788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422865" y="893065"/>
            <a:ext cx="110245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Критически важным показателем для хеш-таблицы является коэффициент заполнения— отношение числа ключей, которые хранятся в хеш-таблице, к размеру хеш-таблицы: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 txBox="1"/>
              <p:nvPr/>
            </p:nvSpPr>
            <p:spPr>
              <a:xfrm>
                <a:off x="5372112" y="1851936"/>
                <a:ext cx="1191968" cy="7946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BY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BY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BY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BY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ru-BY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ru-BY" sz="2400" dirty="0"/>
              </a:p>
            </p:txBody>
          </p:sp>
        </mc:Choice>
        <mc:Fallback xmlns="">
          <p:sp>
            <p:nvSpPr>
              <p:cNvPr id="7" name="Объект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12" y="1851936"/>
                <a:ext cx="1191968" cy="7946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147371" y="250268"/>
            <a:ext cx="5897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Коэффициент заполнения</a:t>
            </a:r>
            <a:r>
              <a:rPr lang="ru-RU" sz="2400" dirty="0"/>
              <a:t> </a:t>
            </a:r>
            <a:r>
              <a:rPr lang="ru-RU" dirty="0"/>
              <a:t>(англ. </a:t>
            </a:r>
            <a:r>
              <a:rPr lang="ru-RU" sz="2400" dirty="0" err="1"/>
              <a:t>load</a:t>
            </a:r>
            <a:r>
              <a:rPr lang="ru-RU" sz="2400" dirty="0"/>
              <a:t> </a:t>
            </a:r>
            <a:r>
              <a:rPr lang="ru-RU" sz="2400" dirty="0" err="1"/>
              <a:t>factor</a:t>
            </a:r>
            <a:r>
              <a:rPr lang="ru-RU" sz="2400" dirty="0"/>
              <a:t> </a:t>
            </a:r>
            <a:r>
              <a:rPr lang="ru-RU" dirty="0"/>
              <a:t>) 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4506" y="2543610"/>
            <a:ext cx="114071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sz="2000" dirty="0"/>
              <a:t>Однако коэффициент заполнения не показывает различия между заполненностью отдельных корзин.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57405" y="3184141"/>
            <a:ext cx="112771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sz="2000" dirty="0"/>
              <a:t>Низкий коэффициент заполнения не является абсолютным благом. Если коэффициент близок к нулю, это говорит о том, что большая часть таблицы не используется и память тратится впустую.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27404" y="4143012"/>
            <a:ext cx="11631389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Для оптимального использования хеш-таблицы желательно, чтобы её размер был примерно пропорционален числу ключей, которые нужно хранить. </a:t>
            </a:r>
          </a:p>
          <a:p>
            <a:endParaRPr lang="ru-RU" b="1" dirty="0"/>
          </a:p>
          <a:p>
            <a:pPr marL="538163"/>
            <a:r>
              <a:rPr lang="ru-RU" sz="2000" dirty="0"/>
              <a:t>На практике редко случается, что число ключей фиксировано и можно заранее выставить хорошее значение параметра M. Если ставить его заведомо больше, то много памяти будет потрачено зря (особенно если нужно организовать много хеш-таблиц с небольшим числом ключей в каждой).</a:t>
            </a:r>
          </a:p>
        </p:txBody>
      </p:sp>
    </p:spTree>
    <p:extLst>
      <p:ext uri="{BB962C8B-B14F-4D97-AF65-F5344CB8AC3E}">
        <p14:creationId xmlns:p14="http://schemas.microsoft.com/office/powerpoint/2010/main" val="218758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56484" y="387987"/>
            <a:ext cx="11200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/>
              <a:t>Рассмотрим более подробно реализацию в компиляторе GCC (</a:t>
            </a:r>
            <a:r>
              <a:rPr lang="en-US" dirty="0"/>
              <a:t>GNU Compiler Collection</a:t>
            </a:r>
            <a:r>
              <a:rPr lang="ru-RU" dirty="0"/>
              <a:t>)</a:t>
            </a:r>
            <a:r>
              <a:rPr lang="ru-RU" sz="2400" b="1" dirty="0"/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67303" y="1162089"/>
            <a:ext cx="985739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Пусть ключи добавляются в </a:t>
            </a:r>
            <a:r>
              <a:rPr lang="ru-RU" sz="2400" b="1" dirty="0" err="1">
                <a:latin typeface="Consolas" panose="020B0609020204030204" pitchFamily="49" charset="0"/>
              </a:rPr>
              <a:t>std</a:t>
            </a:r>
            <a:r>
              <a:rPr lang="ru-RU" sz="2400" b="1" dirty="0">
                <a:latin typeface="Consolas" panose="020B0609020204030204" pitchFamily="49" charset="0"/>
              </a:rPr>
              <a:t>::</a:t>
            </a:r>
            <a:r>
              <a:rPr lang="ru-RU" sz="2400" b="1" dirty="0" err="1">
                <a:latin typeface="Consolas" panose="020B0609020204030204" pitchFamily="49" charset="0"/>
              </a:rPr>
              <a:t>unordered_set</a:t>
            </a:r>
            <a:r>
              <a:rPr lang="ru-RU" sz="2400" b="1" dirty="0">
                <a:latin typeface="Consolas" panose="020B0609020204030204" pitchFamily="49" charset="0"/>
              </a:rPr>
              <a:t> </a:t>
            </a:r>
            <a:r>
              <a:rPr lang="ru-RU" sz="2400" dirty="0"/>
              <a:t>по одному. 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Когда коэффициент заполнения достигает значения </a:t>
            </a:r>
            <a:r>
              <a:rPr lang="ru-RU" sz="2400" b="1" dirty="0"/>
              <a:t>1</a:t>
            </a:r>
            <a:r>
              <a:rPr lang="ru-RU" sz="2400" dirty="0"/>
              <a:t>, происходит перестроение хеш-таблицы: </a:t>
            </a:r>
          </a:p>
          <a:p>
            <a:pPr marL="539750" algn="just"/>
            <a:r>
              <a:rPr lang="ru-RU" sz="2400" dirty="0"/>
              <a:t>в качестве нового числа корзин берётся </a:t>
            </a:r>
            <a:r>
              <a:rPr lang="ru-RU" sz="2400" u="sng" dirty="0"/>
              <a:t>первое простое число из заранее составленного списка, не меньшее удвоенного старого числа корзин</a:t>
            </a:r>
            <a:r>
              <a:rPr lang="ru-RU" sz="2400" dirty="0"/>
              <a:t> (</a:t>
            </a:r>
            <a:r>
              <a:rPr lang="ru-RU" sz="2400" b="1" dirty="0"/>
              <a:t>таким образом, размер таблицы как минимум удваивается и является простым числом</a:t>
            </a:r>
            <a:r>
              <a:rPr lang="ru-RU" sz="2400" dirty="0"/>
              <a:t>). 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Длины отдельных цепочек никак не анализируются (появление одной длинной цепочки не повлечёт за собой операцию перестроения). </a:t>
            </a:r>
          </a:p>
        </p:txBody>
      </p:sp>
    </p:spTree>
    <p:extLst>
      <p:ext uri="{BB962C8B-B14F-4D97-AF65-F5344CB8AC3E}">
        <p14:creationId xmlns:p14="http://schemas.microsoft.com/office/powerpoint/2010/main" val="115971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57211" y="2335901"/>
            <a:ext cx="38534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 </a:t>
            </a:r>
            <a:r>
              <a:rPr lang="ru-RU" sz="3200" b="1" dirty="0"/>
              <a:t>Хеш-таблицы в </a:t>
            </a:r>
            <a:r>
              <a:rPr lang="en-US" sz="3200" b="1" dirty="0"/>
              <a:t>JAVA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7726324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587432" y="239378"/>
                <a:ext cx="11017135" cy="63709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Коллекции </a:t>
                </a:r>
                <a:r>
                  <a:rPr lang="ru-RU" sz="2400" b="1" dirty="0" err="1">
                    <a:latin typeface="Consolas" panose="020B0609020204030204" pitchFamily="49" charset="0"/>
                  </a:rPr>
                  <a:t>HashSet</a:t>
                </a:r>
                <a:r>
                  <a:rPr lang="ru-RU" sz="2400" dirty="0"/>
                  <a:t> и </a:t>
                </a:r>
                <a:r>
                  <a:rPr lang="ru-RU" sz="2400" b="1" dirty="0" err="1">
                    <a:latin typeface="Consolas" panose="020B0609020204030204" pitchFamily="49" charset="0"/>
                  </a:rPr>
                  <a:t>HashMap</a:t>
                </a:r>
                <a:r>
                  <a:rPr lang="ru-RU" sz="2400" dirty="0"/>
                  <a:t> реализуются как хеш-таблицы, для разрешения коллизий используется </a:t>
                </a:r>
                <a:r>
                  <a:rPr lang="ru-RU" sz="2400" b="1" dirty="0"/>
                  <a:t>метод цепочек</a:t>
                </a:r>
                <a:r>
                  <a:rPr lang="ru-RU" sz="2400" b="1" dirty="0">
                    <a:solidFill>
                      <a:srgbClr val="7030A0"/>
                    </a:solidFill>
                  </a:rPr>
                  <a:t>. </a:t>
                </a:r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dirty="0"/>
              </a:p>
              <a:p>
                <a:r>
                  <a:rPr lang="ru-RU" sz="2400" dirty="0"/>
                  <a:t>Для хеширования целых чисел применяется функция следующего вида: </a:t>
                </a:r>
                <a:endParaRPr lang="en-US" sz="2400" dirty="0"/>
              </a:p>
              <a:p>
                <a:pPr marL="2062163" indent="-184150"/>
                <a:r>
                  <a:rPr lang="en-US" dirty="0" err="1">
                    <a:solidFill>
                      <a:srgbClr val="8000FF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int</a:t>
                </a:r>
                <a:r>
                  <a:rPr lang="en-US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hash</a:t>
                </a:r>
                <a:r>
                  <a:rPr lang="en-US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en-US" dirty="0" err="1">
                    <a:solidFill>
                      <a:srgbClr val="8000FF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int</a:t>
                </a:r>
                <a:r>
                  <a:rPr lang="en-US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h</a:t>
                </a:r>
                <a:r>
                  <a:rPr lang="en-US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</a:t>
                </a:r>
                <a:r>
                  <a:rPr lang="en-US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en-US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{</a:t>
                </a:r>
                <a:r>
                  <a:rPr lang="en-US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</a:p>
              <a:p>
                <a:pPr marL="2062163" indent="-184150"/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h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^=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h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&gt;&gt;&gt;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dirty="0">
                    <a:solidFill>
                      <a:srgbClr val="FF8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20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^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h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&gt;&gt;&gt;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dirty="0">
                    <a:solidFill>
                      <a:srgbClr val="FF8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12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);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</a:p>
              <a:p>
                <a:pPr marL="2062163" indent="-184150"/>
                <a:r>
                  <a:rPr lang="pt-BR" b="1" dirty="0">
                    <a:solidFill>
                      <a:srgbClr val="0000FF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return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h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^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h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&gt;&gt;&gt;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dirty="0">
                    <a:solidFill>
                      <a:srgbClr val="FF8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7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^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(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h 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&gt;&gt;&gt;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  <a:r>
                  <a:rPr lang="pt-BR" dirty="0">
                    <a:solidFill>
                      <a:srgbClr val="FF8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4</a:t>
                </a:r>
                <a:r>
                  <a:rPr lang="pt-BR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);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 </a:t>
                </a:r>
              </a:p>
              <a:p>
                <a:pPr marL="2062163" indent="-184150"/>
                <a:r>
                  <a:rPr lang="ru-RU" b="1" dirty="0">
                    <a:solidFill>
                      <a:srgbClr val="00008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rPr>
                  <a:t>}</a:t>
                </a:r>
                <a:endParaRPr lang="ru-RU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</a:endParaRPr>
              </a:p>
              <a:p>
                <a:pPr marL="2519363" lvl="1" indent="-990600" algn="just"/>
                <a:r>
                  <a:rPr lang="ru-RU" dirty="0"/>
                  <a:t>            операция </a:t>
                </a:r>
                <a:r>
                  <a:rPr lang="ru-RU" b="1" dirty="0"/>
                  <a:t>&gt;&gt;&gt;</a:t>
                </a:r>
                <a:r>
                  <a:rPr lang="ru-RU" dirty="0"/>
                  <a:t> — беззнаковый сдвиг вправо: биты смещаются вправо, число слева  </a:t>
                </a:r>
              </a:p>
              <a:p>
                <a:pPr marL="4805363" lvl="6" indent="-990600" algn="just"/>
                <a:r>
                  <a:rPr lang="ru-RU" dirty="0"/>
                  <a:t>дополняется нулями</a:t>
                </a:r>
                <a:r>
                  <a:rPr lang="en-US" dirty="0"/>
                  <a:t>;</a:t>
                </a:r>
                <a:r>
                  <a:rPr lang="ru-RU" dirty="0"/>
                  <a:t> </a:t>
                </a:r>
                <a:endParaRPr lang="en-US" dirty="0"/>
              </a:p>
              <a:p>
                <a:pPr marL="1528763" lvl="1" indent="541338" algn="just"/>
                <a:r>
                  <a:rPr lang="ru-RU" dirty="0"/>
                  <a:t>    операция </a:t>
                </a:r>
                <a:r>
                  <a:rPr lang="ru-RU" b="1" dirty="0"/>
                  <a:t>^</a:t>
                </a:r>
                <a:r>
                  <a:rPr lang="ru-RU" dirty="0"/>
                  <a:t> — поразрядное сложение по модулю 2, исключающее «или»</a:t>
                </a:r>
                <a:r>
                  <a:rPr lang="en-US" dirty="0"/>
                  <a:t>;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ru-RU" sz="2400" dirty="0"/>
                  <a:t>Затем в классе коллекции результат функции </a:t>
                </a:r>
                <a:r>
                  <a:rPr lang="ru-RU" sz="2400" dirty="0" err="1"/>
                  <a:t>hash</a:t>
                </a:r>
                <a:r>
                  <a:rPr lang="ru-RU" sz="2400" dirty="0"/>
                  <a:t> берётся по модулю числа корзин, по которым раскладываются элементы. </a:t>
                </a:r>
                <a:endParaRPr lang="en-US" sz="2400" dirty="0"/>
              </a:p>
              <a:p>
                <a:pPr algn="just"/>
                <a:endParaRPr lang="en-US" dirty="0">
                  <a:solidFill>
                    <a:srgbClr val="7030A0"/>
                  </a:solidFill>
                </a:endParaRPr>
              </a:p>
              <a:p>
                <a:pPr algn="just"/>
                <a:r>
                  <a:rPr lang="ru-RU" sz="2400" b="1" dirty="0"/>
                  <a:t>Число корзин</a:t>
                </a:r>
                <a:r>
                  <a:rPr lang="ru-RU" sz="2400" dirty="0"/>
                  <a:t>, оно же число различных значений хеш-функции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400" dirty="0"/>
                  <a:t>, в Java </a:t>
                </a:r>
                <a:r>
                  <a:rPr lang="ru-RU" sz="2400" b="1" dirty="0"/>
                  <a:t>всегда выбирается как некоторая степень числа 2:</a:t>
                </a:r>
              </a:p>
              <a:p>
                <a:pPr lvl="1" algn="just"/>
                <a:r>
                  <a:rPr lang="ru-RU" sz="2000" dirty="0"/>
                  <a:t>чтобы деление на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sz="2000" dirty="0"/>
                  <a:t> можно было заменить операцией битового сдвига вправо, так как современные процессоры выполняют инструкцию деления целых чисел существенно медленнее, чем битовые операции</a:t>
                </a:r>
                <a:r>
                  <a:rPr lang="en-US" sz="2000" dirty="0"/>
                  <a:t>;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32" y="239378"/>
                <a:ext cx="11017135" cy="6370975"/>
              </a:xfrm>
              <a:prstGeom prst="rect">
                <a:avLst/>
              </a:prstGeom>
              <a:blipFill>
                <a:blip r:embed="rId2"/>
                <a:stretch>
                  <a:fillRect l="-830" t="-766" r="-830" b="-76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11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87432" y="206340"/>
            <a:ext cx="1127632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версии </a:t>
            </a:r>
            <a:r>
              <a:rPr lang="ru-RU" sz="2400" b="1" dirty="0">
                <a:latin typeface="Consolas" panose="020B0609020204030204" pitchFamily="49" charset="0"/>
              </a:rPr>
              <a:t>Java 8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ru-RU" sz="2400" dirty="0"/>
              <a:t>разработчики озаботились вопросом </a:t>
            </a:r>
            <a:r>
              <a:rPr lang="ru-RU" sz="2400" b="1" dirty="0"/>
              <a:t>устойчивости коллекций</a:t>
            </a:r>
            <a:r>
              <a:rPr lang="ru-RU" sz="2400" dirty="0">
                <a:solidFill>
                  <a:srgbClr val="7030A0"/>
                </a:solidFill>
              </a:rPr>
              <a:t>, </a:t>
            </a:r>
            <a:r>
              <a:rPr lang="ru-RU" sz="2400" dirty="0"/>
              <a:t>использующих хеширование, </a:t>
            </a:r>
            <a:r>
              <a:rPr lang="ru-RU" sz="2400" b="1" dirty="0"/>
              <a:t>к коллизиям</a:t>
            </a:r>
            <a:r>
              <a:rPr lang="ru-RU" sz="2400" dirty="0"/>
              <a:t>.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</a:p>
          <a:p>
            <a:endParaRPr lang="ru-RU" sz="2400" dirty="0"/>
          </a:p>
          <a:p>
            <a:r>
              <a:rPr lang="ru-RU" sz="2400" dirty="0"/>
              <a:t>В исходном коде библиотеки </a:t>
            </a:r>
            <a:r>
              <a:rPr lang="ru-RU" sz="2400" dirty="0" err="1"/>
              <a:t>Java</a:t>
            </a:r>
            <a:r>
              <a:rPr lang="ru-RU" sz="2400" dirty="0"/>
              <a:t> можно найти константу: </a:t>
            </a:r>
          </a:p>
          <a:p>
            <a:endParaRPr lang="en-US" sz="2400" dirty="0"/>
          </a:p>
          <a:p>
            <a:pPr algn="ctr"/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istatic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TREEIFY_THRESHOLD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8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ru-RU" sz="24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algn="ctr"/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endParaRPr lang="en-US" sz="2400" dirty="0"/>
          </a:p>
          <a:p>
            <a:pPr algn="just"/>
            <a:r>
              <a:rPr lang="ru-RU" sz="2400" dirty="0"/>
              <a:t>В случае, если новый ключ попадает в корзину, в которой уже лежат как минимум восемь других ключей, библиотека </a:t>
            </a:r>
            <a:r>
              <a:rPr lang="ru-RU" sz="2400" b="1" dirty="0"/>
              <a:t>преобразует связный список </a:t>
            </a:r>
            <a:r>
              <a:rPr lang="ru-RU" sz="2400" dirty="0"/>
              <a:t>для данной корзины в </a:t>
            </a:r>
            <a:r>
              <a:rPr lang="ru-RU" sz="2400" b="1" dirty="0"/>
              <a:t>бинарное сбалансированное поисковое дерево</a:t>
            </a:r>
            <a:r>
              <a:rPr lang="ru-RU" sz="2400" dirty="0"/>
              <a:t>. </a:t>
            </a:r>
          </a:p>
          <a:p>
            <a:pPr algn="just"/>
            <a:endParaRPr lang="ru-RU" sz="2400" dirty="0"/>
          </a:p>
          <a:p>
            <a:pPr algn="ctr"/>
            <a:r>
              <a:rPr lang="ru-RU" sz="2400" u="sng" dirty="0"/>
              <a:t>Получается гибридная структура: </a:t>
            </a:r>
            <a:endParaRPr lang="en-US" sz="2400" u="sng" dirty="0"/>
          </a:p>
          <a:p>
            <a:pPr algn="ctr"/>
            <a:endParaRPr lang="ru-RU" sz="2400" b="1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400" dirty="0"/>
              <a:t>корзины для тех хеш-значений, где </a:t>
            </a:r>
            <a:r>
              <a:rPr lang="ru-RU" sz="2400" b="1" dirty="0"/>
              <a:t>ключей мало</a:t>
            </a:r>
            <a:r>
              <a:rPr lang="ru-RU" sz="2400" dirty="0"/>
              <a:t>, хранятся </a:t>
            </a:r>
            <a:r>
              <a:rPr lang="ru-RU" sz="2400" b="1" dirty="0"/>
              <a:t>списками</a:t>
            </a:r>
            <a:r>
              <a:rPr lang="en-US" sz="2400" dirty="0"/>
              <a:t>;</a:t>
            </a:r>
            <a:r>
              <a:rPr lang="ru-RU" sz="2400" dirty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400" dirty="0"/>
              <a:t>корзины, где </a:t>
            </a:r>
            <a:r>
              <a:rPr lang="ru-RU" sz="2400" b="1" dirty="0"/>
              <a:t>ключей</a:t>
            </a:r>
            <a:r>
              <a:rPr lang="ru-RU" sz="2400" dirty="0">
                <a:solidFill>
                  <a:srgbClr val="00B050"/>
                </a:solidFill>
              </a:rPr>
              <a:t> </a:t>
            </a:r>
            <a:r>
              <a:rPr lang="ru-RU" sz="2400" dirty="0"/>
              <a:t>накопилось </a:t>
            </a:r>
            <a:r>
              <a:rPr lang="ru-RU" sz="2400" b="1" dirty="0"/>
              <a:t>много</a:t>
            </a:r>
            <a:r>
              <a:rPr lang="ru-RU" sz="2400" dirty="0"/>
              <a:t>, хранятся в виде </a:t>
            </a:r>
            <a:r>
              <a:rPr lang="ru-RU" sz="2400" b="1" dirty="0"/>
              <a:t>деревьев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798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60869" y="2726173"/>
            <a:ext cx="44702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 </a:t>
            </a:r>
            <a:r>
              <a:rPr lang="ru-RU" sz="3200" b="1" dirty="0"/>
              <a:t>Хеш-таблицы в </a:t>
            </a:r>
            <a:r>
              <a:rPr lang="en-US" sz="3200" b="1" dirty="0"/>
              <a:t>PYTHON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4395057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1604" y="449103"/>
            <a:ext cx="1145525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Встроенный</a:t>
            </a:r>
            <a:r>
              <a:rPr lang="ru-RU" dirty="0"/>
              <a:t> </a:t>
            </a:r>
            <a:r>
              <a:rPr lang="ru-RU" sz="2400" dirty="0"/>
              <a:t>тип </a:t>
            </a:r>
            <a:r>
              <a:rPr lang="ru-RU" sz="2400" b="1" dirty="0" err="1"/>
              <a:t>dict</a:t>
            </a:r>
            <a:r>
              <a:rPr lang="ru-RU" sz="2400" b="1" dirty="0"/>
              <a:t> </a:t>
            </a:r>
            <a:r>
              <a:rPr lang="ru-RU" sz="2400" dirty="0"/>
              <a:t>— ассоциативный массив, словарь —широко используется в языке.</a:t>
            </a:r>
            <a:endParaRPr lang="en-US" sz="2400" dirty="0"/>
          </a:p>
          <a:p>
            <a:r>
              <a:rPr lang="ru-RU" sz="2400" dirty="0"/>
              <a:t> </a:t>
            </a:r>
            <a:endParaRPr lang="en-US" sz="2400" dirty="0"/>
          </a:p>
          <a:p>
            <a:r>
              <a:rPr lang="ru-RU" sz="2400" dirty="0"/>
              <a:t>Он реализован в виде хеш-таблицы, где коллизии разрешаются </a:t>
            </a:r>
            <a:r>
              <a:rPr lang="ru-RU" sz="2400" b="1" dirty="0"/>
              <a:t>методом открытой адресации.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1604" y="4110611"/>
            <a:ext cx="107275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/>
              <a:t>Интерпреттором</a:t>
            </a:r>
            <a:r>
              <a:rPr lang="ru-RU" sz="2400" dirty="0"/>
              <a:t> </a:t>
            </a:r>
            <a:r>
              <a:rPr lang="ru-RU" sz="2400" dirty="0" err="1"/>
              <a:t>CPython</a:t>
            </a:r>
            <a:r>
              <a:rPr lang="ru-RU" sz="2400" dirty="0"/>
              <a:t> поддерживается опция командной строки -R, которая активирует на старте случайный выбор начального значения (англ. </a:t>
            </a:r>
            <a:r>
              <a:rPr lang="ru-RU" sz="2400" dirty="0" err="1"/>
              <a:t>seed</a:t>
            </a:r>
            <a:r>
              <a:rPr lang="ru-RU" sz="2400" dirty="0"/>
              <a:t>), которое затем используется для вычисления </a:t>
            </a:r>
            <a:r>
              <a:rPr lang="ru-RU" sz="2400" dirty="0" err="1"/>
              <a:t>хеш</a:t>
            </a:r>
            <a:r>
              <a:rPr lang="ru-RU" sz="2400" dirty="0"/>
              <a:t>-значений от строк и массивов байт.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16012" y="2464523"/>
            <a:ext cx="98132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Разработчики предпочли метод открытой адресации методу цепочек ввиду того, что он позволяет значительно сэкономить память на хранении указателей, которые используются в хеш-таблицах с цепочками. </a:t>
            </a:r>
          </a:p>
        </p:txBody>
      </p:sp>
    </p:spTree>
    <p:extLst>
      <p:ext uri="{BB962C8B-B14F-4D97-AF65-F5344CB8AC3E}">
        <p14:creationId xmlns:p14="http://schemas.microsoft.com/office/powerpoint/2010/main" val="72479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F9B0-57F9-5598-F784-76CA5C2D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A2B00A-18E9-BDB3-7107-345E5657C815}"/>
              </a:ext>
            </a:extLst>
          </p:cNvPr>
          <p:cNvSpPr/>
          <p:nvPr/>
        </p:nvSpPr>
        <p:spPr>
          <a:xfrm>
            <a:off x="2596869" y="2530864"/>
            <a:ext cx="69982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 </a:t>
            </a:r>
            <a:r>
              <a:rPr lang="ru-RU" sz="3200" b="1" dirty="0"/>
              <a:t>Полиномиальное хеширование строк</a:t>
            </a:r>
          </a:p>
        </p:txBody>
      </p:sp>
    </p:spTree>
    <p:extLst>
      <p:ext uri="{BB962C8B-B14F-4D97-AF65-F5344CB8AC3E}">
        <p14:creationId xmlns:p14="http://schemas.microsoft.com/office/powerpoint/2010/main" val="2000636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9EC1EB-9C91-40DA-8E4E-2B1DEA2BE558}"/>
              </a:ext>
            </a:extLst>
          </p:cNvPr>
          <p:cNvSpPr txBox="1"/>
          <p:nvPr/>
        </p:nvSpPr>
        <p:spPr>
          <a:xfrm>
            <a:off x="545028" y="843945"/>
            <a:ext cx="9284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Предположим, что на вход поступает строка: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9FF913-A005-4B39-9878-2858D04966F6}"/>
                  </a:ext>
                </a:extLst>
              </p:cNvPr>
              <p:cNvSpPr txBox="1"/>
              <p:nvPr/>
            </p:nvSpPr>
            <p:spPr>
              <a:xfrm>
                <a:off x="4237238" y="1567840"/>
                <a:ext cx="312614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BY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9FF913-A005-4B39-9878-2858D0496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238" y="1567840"/>
                <a:ext cx="3126146" cy="369332"/>
              </a:xfrm>
              <a:prstGeom prst="rect">
                <a:avLst/>
              </a:prstGeom>
              <a:blipFill>
                <a:blip r:embed="rId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724505-F0DB-4B1E-BD31-F4534C9CE213}"/>
                  </a:ext>
                </a:extLst>
              </p:cNvPr>
              <p:cNvSpPr txBox="1"/>
              <p:nvPr/>
            </p:nvSpPr>
            <p:spPr>
              <a:xfrm>
                <a:off x="3491514" y="4543252"/>
                <a:ext cx="43252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ru-RU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u-RU" sz="2400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ru-RU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 dirty="0">
                              <a:latin typeface="Cambria Math" panose="02040503050406030204" pitchFamily="18" charset="0"/>
                            </a:rPr>
                            <m:t>1,2,3,4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724505-F0DB-4B1E-BD31-F4534C9CE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514" y="4543252"/>
                <a:ext cx="432522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D842B6B-1269-9252-97EE-E868383A3A08}"/>
              </a:ext>
            </a:extLst>
          </p:cNvPr>
          <p:cNvGrpSpPr/>
          <p:nvPr/>
        </p:nvGrpSpPr>
        <p:grpSpPr>
          <a:xfrm>
            <a:off x="545028" y="2199402"/>
            <a:ext cx="8655729" cy="1569660"/>
            <a:chOff x="545028" y="2199402"/>
            <a:chExt cx="8655729" cy="1569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55153C7-74A3-4A69-8261-B47DF87E5154}"/>
                    </a:ext>
                  </a:extLst>
                </p:cNvPr>
                <p:cNvSpPr txBox="1"/>
                <p:nvPr/>
              </p:nvSpPr>
              <p:spPr>
                <a:xfrm>
                  <a:off x="545028" y="2199402"/>
                  <a:ext cx="8655729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Можно считать, что элементы строки</a:t>
                  </a: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целые числа от 1 до </a:t>
                  </a:r>
                  <a14:m>
                    <m:oMath xmlns:m="http://schemas.openxmlformats.org/officeDocument/2006/math">
                      <m:r>
                        <a:rPr lang="en-US" sz="24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где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</m:d>
                    </m:oMath>
                  </a14:m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– </a:t>
                  </a:r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размер алфавита:</a:t>
                  </a:r>
                </a:p>
                <a:p>
                  <a:pPr lvl="2"/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для этого каждый символ  строки 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заменяем его порядковым номером в алфавите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4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4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’</m:t>
                      </m:r>
                      <m:r>
                        <a:rPr lang="en-US" sz="24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4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’+1</m:t>
                      </m:r>
                    </m:oMath>
                  </a14:m>
                  <a:r>
                    <a:rPr lang="ru-RU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endPara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55153C7-74A3-4A69-8261-B47DF87E5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028" y="2199402"/>
                  <a:ext cx="8655729" cy="1569660"/>
                </a:xfrm>
                <a:prstGeom prst="rect">
                  <a:avLst/>
                </a:prstGeom>
                <a:blipFill>
                  <a:blip r:embed="rId4"/>
                  <a:stretch>
                    <a:fillRect l="-1056" t="-3113" r="-211" b="-8171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75B382C3-ABC2-87FB-713D-BFB2DB47E2ED}"/>
                </a:ext>
              </a:extLst>
            </p:cNvPr>
            <p:cNvCxnSpPr>
              <a:cxnSpLocks/>
            </p:cNvCxnSpPr>
            <p:nvPr/>
          </p:nvCxnSpPr>
          <p:spPr>
            <a:xfrm>
              <a:off x="1429305" y="3100526"/>
              <a:ext cx="0" cy="5859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88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6DA9A78-1572-46C8-92BC-2070A4968EF2}"/>
              </a:ext>
            </a:extLst>
          </p:cNvPr>
          <p:cNvCxnSpPr>
            <a:cxnSpLocks/>
          </p:cNvCxnSpPr>
          <p:nvPr/>
        </p:nvCxnSpPr>
        <p:spPr>
          <a:xfrm>
            <a:off x="5917181" y="192577"/>
            <a:ext cx="0" cy="15569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34E524-DE27-4AE6-AB08-645439107E6A}"/>
                  </a:ext>
                </a:extLst>
              </p:cNvPr>
              <p:cNvSpPr txBox="1"/>
              <p:nvPr/>
            </p:nvSpPr>
            <p:spPr>
              <a:xfrm>
                <a:off x="49135" y="1154139"/>
                <a:ext cx="5739232" cy="314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d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ru-R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ru-R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ru-BY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34E524-DE27-4AE6-AB08-645439107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5" y="1154139"/>
                <a:ext cx="5739232" cy="314445"/>
              </a:xfrm>
              <a:prstGeom prst="rect">
                <a:avLst/>
              </a:prstGeom>
              <a:blipFill>
                <a:blip r:embed="rId2"/>
                <a:stretch>
                  <a:fillRect l="-1486" r="-1062" b="-2307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C453A69-11C2-4B6C-84AB-3BE05E9EF02E}"/>
              </a:ext>
            </a:extLst>
          </p:cNvPr>
          <p:cNvCxnSpPr>
            <a:cxnSpLocks/>
          </p:cNvCxnSpPr>
          <p:nvPr/>
        </p:nvCxnSpPr>
        <p:spPr>
          <a:xfrm>
            <a:off x="15344" y="1749538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A65560-3914-4325-AFD6-7FDB46D18266}"/>
              </a:ext>
            </a:extLst>
          </p:cNvPr>
          <p:cNvSpPr txBox="1"/>
          <p:nvPr/>
        </p:nvSpPr>
        <p:spPr>
          <a:xfrm>
            <a:off x="1207761" y="262823"/>
            <a:ext cx="4580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Прямой</a:t>
            </a:r>
            <a:r>
              <a:rPr lang="ru-RU" sz="2400" dirty="0"/>
              <a:t> </a:t>
            </a:r>
            <a:r>
              <a:rPr lang="ru-RU" sz="2400" b="1" dirty="0"/>
              <a:t>полиномиальный </a:t>
            </a:r>
            <a:r>
              <a:rPr lang="ru-RU" sz="2400" b="1" dirty="0" err="1"/>
              <a:t>хеш</a:t>
            </a:r>
            <a:r>
              <a:rPr lang="ru-RU" sz="2400" b="1" dirty="0"/>
              <a:t> </a:t>
            </a:r>
            <a:endParaRPr lang="ru-RU" sz="2400" dirty="0"/>
          </a:p>
          <a:p>
            <a:r>
              <a:rPr lang="ru-RU" sz="2400" dirty="0"/>
              <a:t> (хеширование </a:t>
            </a:r>
            <a:r>
              <a:rPr lang="ru-RU" sz="2400" b="1" dirty="0"/>
              <a:t>слева направо</a:t>
            </a:r>
            <a:r>
              <a:rPr lang="ru-RU" sz="2400" dirty="0"/>
              <a:t>) </a:t>
            </a:r>
            <a:endParaRPr lang="ru-BY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A56A41-B612-4B5D-AD8F-F73EC5EE1BB9}"/>
              </a:ext>
            </a:extLst>
          </p:cNvPr>
          <p:cNvSpPr txBox="1"/>
          <p:nvPr/>
        </p:nvSpPr>
        <p:spPr>
          <a:xfrm>
            <a:off x="6618589" y="249556"/>
            <a:ext cx="4862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Обратный</a:t>
            </a:r>
            <a:r>
              <a:rPr lang="ru-RU" sz="2400" dirty="0"/>
              <a:t> </a:t>
            </a:r>
            <a:r>
              <a:rPr lang="ru-RU" sz="2400" b="1" dirty="0"/>
              <a:t>полиномиальный </a:t>
            </a:r>
            <a:r>
              <a:rPr lang="ru-RU" sz="2400" b="1" dirty="0" err="1"/>
              <a:t>хеш</a:t>
            </a:r>
            <a:r>
              <a:rPr lang="ru-RU" sz="2400" b="1" dirty="0"/>
              <a:t> </a:t>
            </a:r>
            <a:endParaRPr lang="ru-RU" sz="2400" dirty="0"/>
          </a:p>
          <a:p>
            <a:r>
              <a:rPr lang="ru-RU" sz="2400" dirty="0"/>
              <a:t> (хеширование </a:t>
            </a:r>
            <a:r>
              <a:rPr lang="ru-RU" sz="2400" b="1" dirty="0"/>
              <a:t>справа налево</a:t>
            </a:r>
            <a:r>
              <a:rPr lang="ru-RU" sz="2400" dirty="0"/>
              <a:t>) </a:t>
            </a:r>
            <a:endParaRPr lang="ru-B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1CA424-E27D-4746-898F-CB3E6EB54827}"/>
                  </a:ext>
                </a:extLst>
              </p:cNvPr>
              <p:cNvSpPr txBox="1"/>
              <p:nvPr/>
            </p:nvSpPr>
            <p:spPr>
              <a:xfrm>
                <a:off x="351514" y="2026537"/>
                <a:ext cx="11709829" cy="1332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000" b="0" i="1" u="sng" smtClean="0">
                          <a:latin typeface="Cambria Math" panose="02040503050406030204" pitchFamily="18" charset="0"/>
                        </a:rPr>
                        <m:t>Р</m:t>
                      </m:r>
                      <m:r>
                        <a:rPr lang="ru-RU" sz="2000" i="1" u="sng">
                          <a:latin typeface="Cambria Math" panose="02040503050406030204" pitchFamily="18" charset="0"/>
                        </a:rPr>
                        <m:t>екомендуют выбирать</m:t>
                      </m:r>
                      <m:r>
                        <a:rPr lang="ru-RU" sz="2000" b="0" i="1" u="sng" smtClean="0">
                          <a:latin typeface="Cambria Math" panose="02040503050406030204" pitchFamily="18" charset="0"/>
                        </a:rPr>
                        <m:t> следующие константы:</m:t>
                      </m:r>
                    </m:oMath>
                  </m:oMathPara>
                </a14:m>
                <a:endParaRPr lang="ru-RU" sz="2000" b="0" i="1" u="sng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натуральное число, 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чуть больше размера алфавита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</m:d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000" b="0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достаточно большое 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целое 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число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, например, </m:t>
                      </m:r>
                      <m:sSup>
                        <m:sSupPr>
                          <m:ctrlPr>
                            <a:rPr lang="ru-R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  <m:sup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b="0" i="0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ru-RU" sz="2000" dirty="0"/>
                  <a:t> и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ru-RU" sz="2000" dirty="0"/>
                  <a:t> должны быть взаимно просты, например, если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то</m:t>
                    </m:r>
                    <m:r>
                      <a:rPr lang="ru-R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нечётное число. 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1CA424-E27D-4746-898F-CB3E6EB54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14" y="2026537"/>
                <a:ext cx="11709829" cy="1332929"/>
              </a:xfrm>
              <a:prstGeom prst="rect">
                <a:avLst/>
              </a:prstGeom>
              <a:blipFill>
                <a:blip r:embed="rId3"/>
                <a:stretch>
                  <a:fillRect b="-639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1C3CB1-3CF2-4907-AB70-88D346DE3225}"/>
                  </a:ext>
                </a:extLst>
              </p:cNvPr>
              <p:cNvSpPr txBox="1"/>
              <p:nvPr/>
            </p:nvSpPr>
            <p:spPr>
              <a:xfrm>
                <a:off x="6294275" y="1112855"/>
                <a:ext cx="6244652" cy="314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BY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ru-RU" b="1" i="1" smtClean="0">
                                <a:latin typeface="Cambria Math" panose="02040503050406030204" pitchFamily="18" charset="0"/>
                              </a:rPr>
                              <m:t>обр.</m:t>
                            </m:r>
                          </m:sub>
                        </m:sSub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d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ru-RU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BY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ru-R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BY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p>
                        <m:r>
                          <a:rPr lang="ru-RU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/>
                  <a:t> </a:t>
                </a:r>
                <a:endParaRPr lang="ru-BY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1C3CB1-3CF2-4907-AB70-88D346DE3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275" y="1112855"/>
                <a:ext cx="6244652" cy="314445"/>
              </a:xfrm>
              <a:prstGeom prst="rect">
                <a:avLst/>
              </a:prstGeom>
              <a:blipFill>
                <a:blip r:embed="rId4"/>
                <a:stretch>
                  <a:fillRect l="-1465" t="-1961" b="-274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529716-4E3F-452E-8543-C840C697F145}"/>
                  </a:ext>
                </a:extLst>
              </p:cNvPr>
              <p:cNvSpPr txBox="1"/>
              <p:nvPr/>
            </p:nvSpPr>
            <p:spPr>
              <a:xfrm>
                <a:off x="114494" y="4169141"/>
                <a:ext cx="5981505" cy="72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ru-R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пр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ru-RU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ru-RU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 dirty="0">
                                  <a:latin typeface="Cambria Math" panose="02040503050406030204" pitchFamily="18" charset="0"/>
                                </a:rPr>
                                <m:t>1,2,3,4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e>
                          </m:d>
                        </m:e>
                      </m:d>
                      <m:r>
                        <a:rPr lang="ru-RU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</a:rPr>
                      <m:t>+2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24 321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529716-4E3F-452E-8543-C840C697F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94" y="4169141"/>
                <a:ext cx="5981505" cy="726737"/>
              </a:xfrm>
              <a:prstGeom prst="rect">
                <a:avLst/>
              </a:prstGeom>
              <a:blipFill>
                <a:blip r:embed="rId5"/>
                <a:stretch>
                  <a:fillRect l="-102" b="-126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26FE25-317C-48A3-A5C7-D37EB9DF26FA}"/>
                  </a:ext>
                </a:extLst>
              </p:cNvPr>
              <p:cNvSpPr txBox="1"/>
              <p:nvPr/>
            </p:nvSpPr>
            <p:spPr>
              <a:xfrm>
                <a:off x="6095999" y="4230086"/>
                <a:ext cx="5981507" cy="726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ru-RU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обр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i="1" dirty="0">
                                <a:latin typeface="Cambria Math" panose="02040503050406030204" pitchFamily="18" charset="0"/>
                              </a:rPr>
                              <m:t>1,2,3,4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,2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endParaRPr lang="ru-RU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</a:rPr>
                      <m:t>+2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</a:rPr>
                      <m:t>+4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ru-RU" i="1" dirty="0">
                        <a:latin typeface="Cambria Math" panose="02040503050406030204" pitchFamily="18" charset="0"/>
                      </a:rPr>
                      <m:t>+2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12 342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26FE25-317C-48A3-A5C7-D37EB9DF2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230086"/>
                <a:ext cx="5981507" cy="726737"/>
              </a:xfrm>
              <a:prstGeom prst="rect">
                <a:avLst/>
              </a:prstGeom>
              <a:blipFill>
                <a:blip r:embed="rId6"/>
                <a:stretch>
                  <a:fillRect t="-3361" b="-126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8668058-004D-4676-8C8C-857383AF116D}"/>
                  </a:ext>
                </a:extLst>
              </p:cNvPr>
              <p:cNvSpPr txBox="1"/>
              <p:nvPr/>
            </p:nvSpPr>
            <p:spPr>
              <a:xfrm>
                <a:off x="743583" y="3472766"/>
                <a:ext cx="1010383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dirty="0"/>
                  <a:t>Предположим, что алфавит небольшой,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ru-RU" sz="2000" dirty="0"/>
                  <a:t>.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r>
                  <a:rPr lang="ru-RU" sz="2000" dirty="0"/>
                  <a:t>Пусть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  000 007.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8668058-004D-4676-8C8C-857383AF1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83" y="3472766"/>
                <a:ext cx="10103839" cy="707886"/>
              </a:xfrm>
              <a:prstGeom prst="rect">
                <a:avLst/>
              </a:prstGeom>
              <a:blipFill>
                <a:blip r:embed="rId7"/>
                <a:stretch>
                  <a:fillRect l="-664" t="-5172" b="-1465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FB2B025F-EA56-401E-AC3D-712989CC62D2}"/>
              </a:ext>
            </a:extLst>
          </p:cNvPr>
          <p:cNvCxnSpPr>
            <a:cxnSpLocks/>
          </p:cNvCxnSpPr>
          <p:nvPr/>
        </p:nvCxnSpPr>
        <p:spPr>
          <a:xfrm>
            <a:off x="6027604" y="4169141"/>
            <a:ext cx="0" cy="8643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BD69C4A-737E-41A4-ABFB-F2DFC5974594}"/>
              </a:ext>
            </a:extLst>
          </p:cNvPr>
          <p:cNvCxnSpPr>
            <a:cxnSpLocks/>
          </p:cNvCxnSpPr>
          <p:nvPr/>
        </p:nvCxnSpPr>
        <p:spPr>
          <a:xfrm>
            <a:off x="0" y="192577"/>
            <a:ext cx="122073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E7F874D-47B9-4D90-8CF6-FFD7AC04B2AE}"/>
              </a:ext>
            </a:extLst>
          </p:cNvPr>
          <p:cNvCxnSpPr>
            <a:cxnSpLocks/>
          </p:cNvCxnSpPr>
          <p:nvPr/>
        </p:nvCxnSpPr>
        <p:spPr>
          <a:xfrm>
            <a:off x="-11920" y="418065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5D831F0-CE67-452C-98F8-5A47CC4AF788}"/>
              </a:ext>
            </a:extLst>
          </p:cNvPr>
          <p:cNvCxnSpPr>
            <a:cxnSpLocks/>
          </p:cNvCxnSpPr>
          <p:nvPr/>
        </p:nvCxnSpPr>
        <p:spPr>
          <a:xfrm>
            <a:off x="-26285" y="506468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3103E7-3235-4D9D-8779-4638D577BCBB}"/>
              </a:ext>
            </a:extLst>
          </p:cNvPr>
          <p:cNvSpPr txBox="1"/>
          <p:nvPr/>
        </p:nvSpPr>
        <p:spPr>
          <a:xfrm>
            <a:off x="0" y="5460269"/>
            <a:ext cx="11910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Две одинаковые строки будут иметь обязательно один </a:t>
            </a:r>
            <a:r>
              <a:rPr lang="ru-RU" sz="2000" dirty="0" err="1"/>
              <a:t>хеш</a:t>
            </a:r>
            <a:r>
              <a:rPr lang="ru-RU" sz="2000" dirty="0"/>
              <a:t>, а вероятность коллизий крайне мала. 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4604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9" grpId="0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E45D86-F8FC-4FAF-B533-A2DC2B28C4C9}"/>
                  </a:ext>
                </a:extLst>
              </p:cNvPr>
              <p:cNvSpPr txBox="1"/>
              <p:nvPr/>
            </p:nvSpPr>
            <p:spPr>
              <a:xfrm>
                <a:off x="460403" y="1685568"/>
                <a:ext cx="11147612" cy="2106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3200" dirty="0"/>
                  <a:t>Вычислить значения функций</a:t>
                </a:r>
              </a:p>
              <a:p>
                <a:pPr algn="ctr"/>
                <a:r>
                  <a:rPr lang="ru-RU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ru-RU" sz="3200" b="1" i="1" smtClean="0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ru-RU" sz="3200" b="1" i="1" smtClean="0">
                            <a:latin typeface="Cambria Math" panose="02040503050406030204" pitchFamily="18" charset="0"/>
                          </a:rPr>
                          <m:t>обр</m:t>
                        </m:r>
                        <m:r>
                          <a:rPr lang="ru-RU" sz="3200" b="1" i="1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3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3200" dirty="0"/>
              </a:p>
              <a:p>
                <a:pPr algn="ctr"/>
                <a:r>
                  <a:rPr lang="ru-RU" sz="3200" dirty="0"/>
                  <a:t>можно за линейное от длины строки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время </a:t>
                </a:r>
                <a:endParaRPr lang="en-US" sz="32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ru-R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E45D86-F8FC-4FAF-B533-A2DC2B28C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03" y="1685568"/>
                <a:ext cx="11147612" cy="2106218"/>
              </a:xfrm>
              <a:prstGeom prst="rect">
                <a:avLst/>
              </a:prstGeom>
              <a:blipFill>
                <a:blip r:embed="rId2"/>
                <a:stretch>
                  <a:fillRect t="-3768" b="-898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8838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C6D519D-7E8E-45CC-A0D5-846F2BC24532}"/>
              </a:ext>
            </a:extLst>
          </p:cNvPr>
          <p:cNvGrpSpPr/>
          <p:nvPr/>
        </p:nvGrpSpPr>
        <p:grpSpPr>
          <a:xfrm>
            <a:off x="101370" y="128164"/>
            <a:ext cx="8774235" cy="839798"/>
            <a:chOff x="95289" y="128164"/>
            <a:chExt cx="9038048" cy="8397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26DE1D-DE1D-46A7-B653-11387EA0E958}"/>
                    </a:ext>
                  </a:extLst>
                </p:cNvPr>
                <p:cNvSpPr txBox="1"/>
                <p:nvPr/>
              </p:nvSpPr>
              <p:spPr>
                <a:xfrm>
                  <a:off x="2492521" y="618571"/>
                  <a:ext cx="6640816" cy="3493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BY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ru-RU" sz="2000" b="1" i="1" smtClean="0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=(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ru-RU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ru-RU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u-RU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ru-BY" sz="2000" b="1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26DE1D-DE1D-46A7-B653-11387EA0E9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521" y="618571"/>
                  <a:ext cx="6640816" cy="349391"/>
                </a:xfrm>
                <a:prstGeom prst="rect">
                  <a:avLst/>
                </a:prstGeom>
                <a:blipFill>
                  <a:blip r:embed="rId2"/>
                  <a:stretch>
                    <a:fillRect b="-22414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0AD9B6-125F-4E4B-B2BE-9B2545EDA175}"/>
                </a:ext>
              </a:extLst>
            </p:cNvPr>
            <p:cNvSpPr txBox="1"/>
            <p:nvPr/>
          </p:nvSpPr>
          <p:spPr>
            <a:xfrm>
              <a:off x="95289" y="128164"/>
              <a:ext cx="809481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ru-RU" sz="2000" dirty="0"/>
                <a:t>1) </a:t>
              </a:r>
              <a:r>
                <a:rPr lang="ru-RU" sz="2000" b="1" u="sng" dirty="0"/>
                <a:t>Прямое полиномиальное хеширование</a:t>
              </a:r>
              <a:r>
                <a:rPr lang="ru-RU" sz="2000" u="sng" dirty="0"/>
                <a:t>:</a:t>
              </a:r>
              <a:endParaRPr lang="ru-BY" sz="2000" u="sng" dirty="0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99E361E-AC40-4791-9D46-DA1C75ACE951}"/>
              </a:ext>
            </a:extLst>
          </p:cNvPr>
          <p:cNvGrpSpPr/>
          <p:nvPr/>
        </p:nvGrpSpPr>
        <p:grpSpPr>
          <a:xfrm>
            <a:off x="722693" y="2981476"/>
            <a:ext cx="9184788" cy="1065749"/>
            <a:chOff x="595246" y="3129056"/>
            <a:chExt cx="9480177" cy="10657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EDAAC-EE9C-4C2A-B757-6FEBD6D6B106}"/>
                    </a:ext>
                  </a:extLst>
                </p:cNvPr>
                <p:cNvSpPr txBox="1"/>
                <p:nvPr/>
              </p:nvSpPr>
              <p:spPr>
                <a:xfrm>
                  <a:off x="595246" y="3129056"/>
                  <a:ext cx="9480177" cy="735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000" dirty="0"/>
                    <a:t>Обозначим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ru-RU" sz="2000" b="1" i="1" smtClean="0">
                              <a:latin typeface="Cambria Math" panose="02040503050406030204" pitchFamily="18" charset="0"/>
                            </a:rPr>
                            <m:t>пр.</m:t>
                          </m:r>
                        </m:sub>
                      </m:sSub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ru-RU" sz="2000" b="1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</m:oMath>
                  </a14:m>
                  <a:r>
                    <a:rPr lang="ru-RU" sz="2000" dirty="0"/>
                    <a:t> - </a:t>
                  </a:r>
                  <a:r>
                    <a:rPr lang="ru-RU" sz="2000" dirty="0" err="1"/>
                    <a:t>хеш</a:t>
                  </a:r>
                  <a:r>
                    <a:rPr lang="ru-RU" sz="2000" dirty="0"/>
                    <a:t> для  префикса</a:t>
                  </a:r>
                  <a:r>
                    <a:rPr lang="en-US" sz="2000" dirty="0"/>
                    <a:t> </a:t>
                  </a:r>
                  <a:r>
                    <a:rPr lang="ru-RU" sz="2000" dirty="0"/>
                    <a:t>строки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ru-RU" sz="2000" b="0" dirty="0"/>
                    <a:t>:</a:t>
                  </a:r>
                </a:p>
                <a:p>
                  <a:endParaRPr lang="ru-RU" sz="20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EDAAC-EE9C-4C2A-B757-6FEBD6D6B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246" y="3129056"/>
                  <a:ext cx="9480177" cy="735394"/>
                </a:xfrm>
                <a:prstGeom prst="rect">
                  <a:avLst/>
                </a:prstGeom>
                <a:blipFill>
                  <a:blip r:embed="rId3"/>
                  <a:stretch>
                    <a:fillRect l="-730" t="-3306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2A28B54-90DA-4A93-8D7A-0B980C922E58}"/>
                    </a:ext>
                  </a:extLst>
                </p:cNvPr>
                <p:cNvSpPr txBox="1"/>
                <p:nvPr/>
              </p:nvSpPr>
              <p:spPr>
                <a:xfrm>
                  <a:off x="2234449" y="3544012"/>
                  <a:ext cx="6132634" cy="4067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ru-BY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ru-RU" sz="1800" b="1" i="1" smtClean="0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ru-RU" sz="1800" b="1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ru-RU" sz="1800" b="1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ru-RU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ru-RU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a14:m>
                  <a:r>
                    <a:rPr lang="ru-RU" dirty="0"/>
                    <a:t>)</a:t>
                  </a:r>
                  <a:r>
                    <a:rPr lang="en-US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ru-RU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US" b="1" dirty="0"/>
                    <a:t> </a:t>
                  </a:r>
                  <a:endParaRPr lang="ru-BY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2A28B54-90DA-4A93-8D7A-0B980C922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4449" y="3544012"/>
                  <a:ext cx="6132634" cy="406778"/>
                </a:xfrm>
                <a:prstGeom prst="rect">
                  <a:avLst/>
                </a:prstGeom>
                <a:blipFill>
                  <a:blip r:embed="rId4"/>
                  <a:stretch>
                    <a:fillRect t="-2985" b="-1791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Левая фигурная скобка 10">
              <a:extLst>
                <a:ext uri="{FF2B5EF4-FFF2-40B4-BE49-F238E27FC236}">
                  <a16:creationId xmlns:a16="http://schemas.microsoft.com/office/drawing/2014/main" id="{A11843C1-B170-47B0-A02B-1DE5D2BF96CE}"/>
                </a:ext>
              </a:extLst>
            </p:cNvPr>
            <p:cNvSpPr/>
            <p:nvPr/>
          </p:nvSpPr>
          <p:spPr>
            <a:xfrm rot="16200000">
              <a:off x="5207847" y="2378617"/>
              <a:ext cx="254977" cy="337739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D3B21E-0967-4FFE-7BB3-0455EBFF12AF}"/>
              </a:ext>
            </a:extLst>
          </p:cNvPr>
          <p:cNvGrpSpPr/>
          <p:nvPr/>
        </p:nvGrpSpPr>
        <p:grpSpPr>
          <a:xfrm>
            <a:off x="968442" y="1066645"/>
            <a:ext cx="11057544" cy="1743811"/>
            <a:chOff x="1021708" y="810365"/>
            <a:chExt cx="11057544" cy="1743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00CC538-CD31-4B71-84EE-6ADDF2E27D09}"/>
                    </a:ext>
                  </a:extLst>
                </p:cNvPr>
                <p:cNvSpPr txBox="1"/>
                <p:nvPr/>
              </p:nvSpPr>
              <p:spPr>
                <a:xfrm>
                  <a:off x="1021708" y="810365"/>
                  <a:ext cx="11057544" cy="1743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800"/>
                    </a:spcAft>
                  </a:pPr>
                  <a:r>
                    <a:rPr lang="ru-RU" sz="2000" dirty="0"/>
                    <a:t>Выполним сначала за время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ru-R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ru-RU" sz="2000" dirty="0"/>
                    <a:t> предподсчёт нужных степеней. </a:t>
                  </a:r>
                </a:p>
                <a:p>
                  <a:r>
                    <a:rPr lang="ru-RU" sz="2000" dirty="0"/>
                    <a:t>Обозначим 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ru-R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ru-R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a14:m>
                  <a:endParaRPr lang="en-US" sz="2000" b="1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тогда</m:t>
                        </m:r>
                        <m:r>
                          <a:rPr lang="ru-RU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ru-RU" sz="2000" b="0" i="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lvl="3"/>
                  <a14:m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2000" b="0" i="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lvl="3"/>
                  <a14:m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ru-R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</m:oMath>
                  </a14:m>
                  <a:r>
                    <a:rPr lang="en-US" sz="2000" dirty="0"/>
                    <a:t>,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0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ru-RU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00CC538-CD31-4B71-84EE-6ADDF2E27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708" y="810365"/>
                  <a:ext cx="11057544" cy="1743811"/>
                </a:xfrm>
                <a:prstGeom prst="rect">
                  <a:avLst/>
                </a:prstGeom>
                <a:blipFill>
                  <a:blip r:embed="rId5"/>
                  <a:stretch>
                    <a:fillRect l="-606" t="-2098" b="-5245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231846FE-E4D4-42EF-9C27-197E1689144A}"/>
                </a:ext>
              </a:extLst>
            </p:cNvPr>
            <p:cNvCxnSpPr>
              <a:cxnSpLocks/>
            </p:cNvCxnSpPr>
            <p:nvPr/>
          </p:nvCxnSpPr>
          <p:spPr>
            <a:xfrm>
              <a:off x="2415161" y="1942811"/>
              <a:ext cx="0" cy="6113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A41569E-2B22-467E-9124-DC9F8E4A9F88}"/>
              </a:ext>
            </a:extLst>
          </p:cNvPr>
          <p:cNvGrpSpPr/>
          <p:nvPr/>
        </p:nvGrpSpPr>
        <p:grpSpPr>
          <a:xfrm>
            <a:off x="722692" y="4121883"/>
            <a:ext cx="8944642" cy="1034730"/>
            <a:chOff x="722692" y="4121883"/>
            <a:chExt cx="8944642" cy="1034730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7C8110D7-9CAA-4337-8546-16AA693723D6}"/>
                </a:ext>
              </a:extLst>
            </p:cNvPr>
            <p:cNvGrpSpPr/>
            <p:nvPr/>
          </p:nvGrpSpPr>
          <p:grpSpPr>
            <a:xfrm>
              <a:off x="722692" y="4121883"/>
              <a:ext cx="8944642" cy="1034730"/>
              <a:chOff x="595249" y="5008599"/>
              <a:chExt cx="8944642" cy="103473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9033BB-C77E-44C4-BAE5-2DF32580EB9B}"/>
                  </a:ext>
                </a:extLst>
              </p:cNvPr>
              <p:cNvSpPr txBox="1"/>
              <p:nvPr/>
            </p:nvSpPr>
            <p:spPr>
              <a:xfrm>
                <a:off x="595249" y="5008599"/>
                <a:ext cx="10468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dirty="0"/>
                  <a:t>Тогда</a:t>
                </a:r>
                <a:endParaRPr lang="ru-BY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5414C2A8-7B81-4E76-AAC1-AE11EEC12F9B}"/>
                      </a:ext>
                    </a:extLst>
                  </p:cNvPr>
                  <p:cNvSpPr txBox="1"/>
                  <p:nvPr/>
                </p:nvSpPr>
                <p:spPr>
                  <a:xfrm>
                    <a:off x="1642088" y="5350639"/>
                    <a:ext cx="7897803" cy="69269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lIns="0" tIns="0" rIns="0" bIns="0" rtlCol="0">
                    <a:spAutoFit/>
                  </a:bodyPr>
                  <a:lstStyle/>
                  <a:p>
                    <a:pPr lvl="1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пр</m:t>
                            </m:r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oMath>
                    </a14:m>
                    <a:r>
                      <a:rPr lang="en-US" sz="2000" b="1" dirty="0"/>
                      <a:t> </a:t>
                    </a:r>
                    <a:r>
                      <a:rPr lang="en-US" sz="2000" dirty="0"/>
                      <a:t>=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ru-BY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endParaRPr lang="ru-BY" sz="2000" b="1" dirty="0"/>
                  </a:p>
                  <a:p>
                    <a:pPr lvl="1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ru-RU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пр</m:t>
                                </m:r>
                                <m:r>
                                  <a:rPr lang="ru-RU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ru-RU" sz="2000" b="1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ru-BY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oMath>
                    </a14:m>
                    <a:r>
                      <a:rPr lang="en-US" sz="2000" b="1" dirty="0">
                        <a:ea typeface="Cambria Math" panose="02040503050406030204" pitchFamily="18" charset="0"/>
                      </a:rPr>
                      <a:t> </a:t>
                    </a:r>
                    <a:r>
                      <a:rPr lang="ru-RU" sz="2000" b="1" dirty="0">
                        <a:ea typeface="Cambria Math" panose="02040503050406030204" pitchFamily="18" charset="0"/>
                      </a:rPr>
                      <a:t>    </a:t>
                    </a:r>
                    <a14:m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oMath>
                    </a14:m>
                    <a:endParaRPr lang="en-US" sz="2000" b="1" dirty="0"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5414C2A8-7B81-4E76-AAC1-AE11EEC12F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42088" y="5350639"/>
                    <a:ext cx="7897803" cy="69269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0619" b="-1061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BY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4CF4F91E-4A2F-46B6-A375-8E63DEE291C4}"/>
                </a:ext>
              </a:extLst>
            </p:cNvPr>
            <p:cNvCxnSpPr>
              <a:cxnSpLocks/>
            </p:cNvCxnSpPr>
            <p:nvPr/>
          </p:nvCxnSpPr>
          <p:spPr>
            <a:xfrm>
              <a:off x="2169459" y="4504585"/>
              <a:ext cx="0" cy="6113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2DAD1C-D344-46CF-A704-9A3F7843101D}"/>
                  </a:ext>
                </a:extLst>
              </p:cNvPr>
              <p:cNvSpPr txBox="1"/>
              <p:nvPr/>
            </p:nvSpPr>
            <p:spPr>
              <a:xfrm>
                <a:off x="281354" y="5423176"/>
                <a:ext cx="1132449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000" dirty="0"/>
                  <a:t>Так как значение </a:t>
                </a:r>
                <a:r>
                  <a:rPr lang="ru-RU" sz="2000" dirty="0" err="1"/>
                  <a:t>хеша</a:t>
                </a:r>
                <a:r>
                  <a:rPr lang="ru-RU" sz="2000" dirty="0"/>
                  <a:t> каждого следующего префикса выражается через значение </a:t>
                </a:r>
                <a:r>
                  <a:rPr lang="ru-RU" sz="2000" dirty="0" err="1"/>
                  <a:t>хеша</a:t>
                </a:r>
                <a:r>
                  <a:rPr lang="ru-RU" sz="2000" dirty="0"/>
                  <a:t> предыдущего префикса, то  линейным проходом по всей строке за время</a:t>
                </a:r>
                <a14:m>
                  <m:oMath xmlns:m="http://schemas.openxmlformats.org/officeDocument/2006/math"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можно вычислить </a:t>
                </a:r>
                <a:r>
                  <a:rPr lang="ru-RU" sz="2000" dirty="0" err="1"/>
                  <a:t>хеши</a:t>
                </a:r>
                <a:r>
                  <a:rPr lang="ru-RU" sz="2000" dirty="0"/>
                  <a:t> для всех префиксов строки.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ru-BY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2DAD1C-D344-46CF-A704-9A3F78431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4" y="5423176"/>
                <a:ext cx="11324492" cy="1015663"/>
              </a:xfrm>
              <a:prstGeom prst="rect">
                <a:avLst/>
              </a:prstGeom>
              <a:blipFill>
                <a:blip r:embed="rId8"/>
                <a:stretch>
                  <a:fillRect l="-538" t="-3614" r="-592" b="-1024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8613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8136F6A-AD7B-4D6C-B9B9-EBBC8C51C475}"/>
              </a:ext>
            </a:extLst>
          </p:cNvPr>
          <p:cNvGrpSpPr/>
          <p:nvPr/>
        </p:nvGrpSpPr>
        <p:grpSpPr>
          <a:xfrm>
            <a:off x="639211" y="281259"/>
            <a:ext cx="9424437" cy="1116717"/>
            <a:chOff x="639211" y="281260"/>
            <a:chExt cx="9424437" cy="100677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444189-72E6-4443-B514-4DFEB5D98D67}"/>
                </a:ext>
              </a:extLst>
            </p:cNvPr>
            <p:cNvSpPr txBox="1"/>
            <p:nvPr/>
          </p:nvSpPr>
          <p:spPr>
            <a:xfrm>
              <a:off x="639211" y="281260"/>
              <a:ext cx="8094812" cy="3607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000" dirty="0"/>
                <a:t>2) </a:t>
              </a:r>
              <a:r>
                <a:rPr lang="ru-RU" sz="2000" b="1" u="sng" dirty="0"/>
                <a:t>Обратное полиномиальное хеширование</a:t>
              </a:r>
              <a:r>
                <a:rPr lang="ru-RU" sz="2000" u="sng" dirty="0"/>
                <a:t>:</a:t>
              </a:r>
              <a:endParaRPr lang="ru-BY" sz="2000" u="sn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5D44A9C-BFB7-47AD-AACA-61A0F42A119C}"/>
                    </a:ext>
                  </a:extLst>
                </p:cNvPr>
                <p:cNvSpPr txBox="1"/>
                <p:nvPr/>
              </p:nvSpPr>
              <p:spPr>
                <a:xfrm>
                  <a:off x="2526254" y="938643"/>
                  <a:ext cx="7537394" cy="3493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ru-BY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ru-RU" sz="2000" b="1" i="1" smtClean="0">
                                  <a:latin typeface="Cambria Math" panose="02040503050406030204" pitchFamily="18" charset="0"/>
                                </a:rPr>
                                <m:t>обр.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  <m:r>
                            <a:rPr lang="ru-RU" sz="2000" b="1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ru-RU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</m:oMath>
                  </a14:m>
                  <a:r>
                    <a:rPr lang="en-US" sz="2000" b="1" dirty="0"/>
                    <a:t> </a:t>
                  </a:r>
                  <a:endParaRPr lang="ru-BY" sz="2000" b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5D44A9C-BFB7-47AD-AACA-61A0F42A1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6254" y="938643"/>
                  <a:ext cx="7537394" cy="349391"/>
                </a:xfrm>
                <a:prstGeom prst="rect">
                  <a:avLst/>
                </a:prstGeom>
                <a:blipFill>
                  <a:blip r:embed="rId2"/>
                  <a:stretch>
                    <a:fillRect l="-1213" b="-15873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29A526E4-73C6-4DF1-BB96-D1CC4672D953}"/>
              </a:ext>
            </a:extLst>
          </p:cNvPr>
          <p:cNvGrpSpPr/>
          <p:nvPr/>
        </p:nvGrpSpPr>
        <p:grpSpPr>
          <a:xfrm>
            <a:off x="2239729" y="2255589"/>
            <a:ext cx="5833362" cy="1094280"/>
            <a:chOff x="2503498" y="5587874"/>
            <a:chExt cx="5833362" cy="10942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B2C4AEA-54D4-4E66-8B1C-86303F34AA01}"/>
                    </a:ext>
                  </a:extLst>
                </p:cNvPr>
                <p:cNvSpPr txBox="1"/>
                <p:nvPr/>
              </p:nvSpPr>
              <p:spPr>
                <a:xfrm>
                  <a:off x="2503498" y="5587874"/>
                  <a:ext cx="5833362" cy="10004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1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ru-RU" sz="2000" b="1" i="1" smtClean="0">
                              <a:latin typeface="Cambria Math" panose="02040503050406030204" pitchFamily="18" charset="0"/>
                            </a:rPr>
                            <m:t>обр.</m:t>
                          </m:r>
                        </m:sub>
                      </m:sSub>
                    </m:oMath>
                  </a14:m>
                  <a:r>
                    <a:rPr lang="en-US" sz="2000" b="1" dirty="0"/>
                    <a:t> </a:t>
                  </a:r>
                  <a:r>
                    <a:rPr lang="en-US" sz="2000" dirty="0"/>
                    <a:t>= </a:t>
                  </a:r>
                  <a:r>
                    <a:rPr lang="en-US" sz="2000" b="1" dirty="0"/>
                    <a:t>0</a:t>
                  </a:r>
                  <a:endParaRPr lang="ru-RU" sz="2000" b="1" dirty="0"/>
                </a:p>
                <a:p>
                  <a:pPr lvl="1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ru-BY" sz="2000" b="1" dirty="0"/>
                </a:p>
                <a:p>
                  <a:pPr lvl="2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обр.</m:t>
                            </m:r>
                          </m:sub>
                        </m:sSub>
                        <m:r>
                          <a:rPr lang="ru-RU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обр.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  <m:sSub>
                              <m:sSubPr>
                                <m:ctrlPr>
                                  <a:rPr lang="ru-BY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ru-RU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000" b="1" i="1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B2C4AEA-54D4-4E66-8B1C-86303F34A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3498" y="5587874"/>
                  <a:ext cx="5833362" cy="1000467"/>
                </a:xfrm>
                <a:prstGeom prst="rect">
                  <a:avLst/>
                </a:prstGeom>
                <a:blipFill>
                  <a:blip r:embed="rId3"/>
                  <a:stretch>
                    <a:fillRect t="-7317" b="-9146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5EA9F4FC-FA5D-4742-AFFA-ADDFABE49DF6}"/>
                </a:ext>
              </a:extLst>
            </p:cNvPr>
            <p:cNvCxnSpPr>
              <a:cxnSpLocks/>
            </p:cNvCxnSpPr>
            <p:nvPr/>
          </p:nvCxnSpPr>
          <p:spPr>
            <a:xfrm>
              <a:off x="2783541" y="5587874"/>
              <a:ext cx="0" cy="10942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A82DEC-68CE-4F54-8169-14FBBE10AE64}"/>
                  </a:ext>
                </a:extLst>
              </p:cNvPr>
              <p:cNvSpPr txBox="1"/>
              <p:nvPr/>
            </p:nvSpPr>
            <p:spPr>
              <a:xfrm>
                <a:off x="1876936" y="3669040"/>
                <a:ext cx="1671266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ru-RU" sz="1800" b="1" i="1">
                              <a:latin typeface="Cambria Math" panose="02040503050406030204" pitchFamily="18" charset="0"/>
                            </a:rPr>
                            <m:t>обр.</m:t>
                          </m:r>
                        </m:sub>
                      </m:sSub>
                      <m:r>
                        <a:rPr lang="ru-RU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sz="1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A82DEC-68CE-4F54-8169-14FBBE10A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936" y="3669040"/>
                <a:ext cx="1671266" cy="394210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4A1A40-7D6C-4B8A-9F52-DDA7219A5F98}"/>
                  </a:ext>
                </a:extLst>
              </p:cNvPr>
              <p:cNvSpPr txBox="1"/>
              <p:nvPr/>
            </p:nvSpPr>
            <p:spPr>
              <a:xfrm>
                <a:off x="1458796" y="4005875"/>
                <a:ext cx="5526466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=0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обр.</m:t>
                          </m:r>
                        </m:sub>
                      </m:sSub>
                      <m:r>
                        <a:rPr lang="ru-RU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(0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4A1A40-7D6C-4B8A-9F52-DDA7219A5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796" y="4005875"/>
                <a:ext cx="5526466" cy="394210"/>
              </a:xfrm>
              <a:prstGeom prst="rect">
                <a:avLst/>
              </a:prstGeom>
              <a:blipFill>
                <a:blip r:embed="rId5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F01B36-2228-4F23-9939-BA04781329D2}"/>
                  </a:ext>
                </a:extLst>
              </p:cNvPr>
              <p:cNvSpPr txBox="1"/>
              <p:nvPr/>
            </p:nvSpPr>
            <p:spPr>
              <a:xfrm>
                <a:off x="1467359" y="4351967"/>
                <a:ext cx="4458656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 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обр.</m:t>
                              </m:r>
                            </m:sub>
                          </m:sSub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ru-RU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F01B36-2228-4F23-9939-BA0478132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359" y="4351967"/>
                <a:ext cx="4458656" cy="394210"/>
              </a:xfrm>
              <a:prstGeom prst="rect">
                <a:avLst/>
              </a:prstGeom>
              <a:blipFill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F15471-7975-4DB0-915A-70850ACA6E8B}"/>
                  </a:ext>
                </a:extLst>
              </p:cNvPr>
              <p:cNvSpPr txBox="1"/>
              <p:nvPr/>
            </p:nvSpPr>
            <p:spPr>
              <a:xfrm>
                <a:off x="1467359" y="4721299"/>
                <a:ext cx="4717332" cy="399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обр.</m:t>
                              </m:r>
                            </m:sub>
                          </m:sSub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ru-RU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F15471-7975-4DB0-915A-70850ACA6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359" y="4721299"/>
                <a:ext cx="4717332" cy="399725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9096DD-4BE8-4048-A72A-4C48FD831B8A}"/>
                  </a:ext>
                </a:extLst>
              </p:cNvPr>
              <p:cNvSpPr txBox="1"/>
              <p:nvPr/>
            </p:nvSpPr>
            <p:spPr>
              <a:xfrm>
                <a:off x="1458796" y="5384189"/>
                <a:ext cx="5733312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обр.</m:t>
                              </m:r>
                            </m:sub>
                          </m:sSub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ru-RU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9096DD-4BE8-4048-A72A-4C48FD831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796" y="5384189"/>
                <a:ext cx="5733312" cy="399148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2B35F87-388C-4CCC-83CF-6BA86D601530}"/>
              </a:ext>
            </a:extLst>
          </p:cNvPr>
          <p:cNvSpPr txBox="1"/>
          <p:nvPr/>
        </p:nvSpPr>
        <p:spPr>
          <a:xfrm>
            <a:off x="1525507" y="505274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3310930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282D26-9B71-4ADF-9235-54C8047AB465}"/>
              </a:ext>
            </a:extLst>
          </p:cNvPr>
          <p:cNvSpPr txBox="1"/>
          <p:nvPr/>
        </p:nvSpPr>
        <p:spPr>
          <a:xfrm>
            <a:off x="895221" y="330460"/>
            <a:ext cx="10583009" cy="84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Так как </a:t>
            </a:r>
            <a:r>
              <a:rPr lang="ru-RU" sz="2400" dirty="0" err="1"/>
              <a:t>хеш</a:t>
            </a:r>
            <a:r>
              <a:rPr lang="ru-RU" sz="2400" dirty="0"/>
              <a:t> </a:t>
            </a:r>
            <a:r>
              <a:rPr lang="ru-RU" sz="2400" dirty="0">
                <a:sym typeface="Symbol" panose="05050102010706020507" pitchFamily="18" charset="2"/>
              </a:rPr>
              <a:t></a:t>
            </a:r>
            <a:r>
              <a:rPr lang="ru-RU" sz="2400" dirty="0"/>
              <a:t> это значение многочлена, то для многих строковых операций можно быстро пересчитывать </a:t>
            </a:r>
            <a:r>
              <a:rPr lang="ru-RU" sz="2400" dirty="0" err="1"/>
              <a:t>хеш</a:t>
            </a:r>
            <a:r>
              <a:rPr lang="ru-RU" sz="2400" dirty="0"/>
              <a:t> результата. </a:t>
            </a:r>
            <a:endParaRPr lang="ru-BY" sz="2400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D7D3E56-CD96-44A3-9E15-E1DE868B346E}"/>
              </a:ext>
            </a:extLst>
          </p:cNvPr>
          <p:cNvGrpSpPr/>
          <p:nvPr/>
        </p:nvGrpSpPr>
        <p:grpSpPr>
          <a:xfrm>
            <a:off x="895221" y="4077814"/>
            <a:ext cx="6640498" cy="807497"/>
            <a:chOff x="1104926" y="734497"/>
            <a:chExt cx="8478371" cy="807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1946436-C6F4-4677-B27B-AD3B382A700F}"/>
                    </a:ext>
                  </a:extLst>
                </p:cNvPr>
                <p:cNvSpPr txBox="1"/>
                <p:nvPr/>
              </p:nvSpPr>
              <p:spPr>
                <a:xfrm>
                  <a:off x="1104926" y="734497"/>
                  <a:ext cx="8478371" cy="34150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BY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Х</m:t>
                                </m:r>
                              </m:e>
                            </m:d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=(х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ru-BY" sz="20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1946436-C6F4-4677-B27B-AD3B382A7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926" y="734497"/>
                  <a:ext cx="8478371" cy="341504"/>
                </a:xfrm>
                <a:prstGeom prst="rect">
                  <a:avLst/>
                </a:prstGeom>
                <a:blipFill>
                  <a:blip r:embed="rId2"/>
                  <a:stretch>
                    <a:fillRect l="-92" b="-250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A03E068-9BD2-43FA-BB46-C0E87E1AC170}"/>
                    </a:ext>
                  </a:extLst>
                </p:cNvPr>
                <p:cNvSpPr txBox="1"/>
                <p:nvPr/>
              </p:nvSpPr>
              <p:spPr>
                <a:xfrm>
                  <a:off x="1209210" y="1200490"/>
                  <a:ext cx="7611035" cy="34150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BY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=(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ru-BY" sz="20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A03E068-9BD2-43FA-BB46-C0E87E1AC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9210" y="1200490"/>
                  <a:ext cx="7611035" cy="341504"/>
                </a:xfrm>
                <a:prstGeom prst="rect">
                  <a:avLst/>
                </a:prstGeom>
                <a:blipFill>
                  <a:blip r:embed="rId3"/>
                  <a:stretch>
                    <a:fillRect l="-920" r="-409" b="-250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B740D2-7D90-4061-B8F8-EF0FE2F380C7}"/>
                  </a:ext>
                </a:extLst>
              </p:cNvPr>
              <p:cNvSpPr txBox="1"/>
              <p:nvPr/>
            </p:nvSpPr>
            <p:spPr>
              <a:xfrm>
                <a:off x="976899" y="5038279"/>
                <a:ext cx="10921700" cy="341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=(х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ru-R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BY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B740D2-7D90-4061-B8F8-EF0FE2F38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99" y="5038279"/>
                <a:ext cx="10921700" cy="341504"/>
              </a:xfrm>
              <a:prstGeom prst="rect">
                <a:avLst/>
              </a:prstGeom>
              <a:blipFill>
                <a:blip r:embed="rId4"/>
                <a:stretch>
                  <a:fillRect l="-837" b="-2280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8BDF5C6-D85F-10AA-45A0-51ABAD1AA82C}"/>
              </a:ext>
            </a:extLst>
          </p:cNvPr>
          <p:cNvGrpSpPr/>
          <p:nvPr/>
        </p:nvGrpSpPr>
        <p:grpSpPr>
          <a:xfrm>
            <a:off x="895221" y="1858631"/>
            <a:ext cx="4005547" cy="1273135"/>
            <a:chOff x="-623154" y="345421"/>
            <a:chExt cx="4005547" cy="12731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995DE93-CC1C-4428-9C27-18DE3EBB372B}"/>
                </a:ext>
              </a:extLst>
            </p:cNvPr>
            <p:cNvSpPr txBox="1"/>
            <p:nvPr/>
          </p:nvSpPr>
          <p:spPr>
            <a:xfrm>
              <a:off x="-324215" y="345421"/>
              <a:ext cx="3706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/>
                <a:t>Конкатенация</a:t>
              </a:r>
              <a:r>
                <a:rPr lang="ru-RU" sz="2400" dirty="0"/>
                <a:t> двух строк </a:t>
              </a:r>
              <a:endParaRPr lang="en-US" sz="2400" b="0" i="1" dirty="0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CD91CA-AAF1-2236-F9B8-2F449469F759}"/>
                    </a:ext>
                  </a:extLst>
                </p:cNvPr>
                <p:cNvSpPr txBox="1"/>
                <p:nvPr/>
              </p:nvSpPr>
              <p:spPr>
                <a:xfrm>
                  <a:off x="-623154" y="835160"/>
                  <a:ext cx="312614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2400" i="1" smtClean="0">
                            <a:latin typeface="Cambria Math" panose="02040503050406030204" pitchFamily="18" charset="0"/>
                          </a:rPr>
                          <m:t>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</a:rPr>
                                  <m:t>х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</a:rPr>
                                  <m:t>х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…,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</a:rPr>
                                  <m:t>х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BY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DCD91CA-AAF1-2236-F9B8-2F449469F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3154" y="835160"/>
                  <a:ext cx="312614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DFBA1AC-34E6-D8AB-CC03-6542FD4EBEA9}"/>
                    </a:ext>
                  </a:extLst>
                </p:cNvPr>
                <p:cNvSpPr txBox="1"/>
                <p:nvPr/>
              </p:nvSpPr>
              <p:spPr>
                <a:xfrm>
                  <a:off x="-623154" y="1249224"/>
                  <a:ext cx="312614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…,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BY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DFBA1AC-34E6-D8AB-CC03-6542FD4EB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3154" y="1249224"/>
                  <a:ext cx="312614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2623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358FDB-229B-A48A-CE0B-9E182F4D47C9}"/>
                  </a:ext>
                </a:extLst>
              </p:cNvPr>
              <p:cNvSpPr txBox="1"/>
              <p:nvPr/>
            </p:nvSpPr>
            <p:spPr>
              <a:xfrm>
                <a:off x="5356887" y="1931437"/>
                <a:ext cx="664049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Конкатенация строк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Х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dirty="0"/>
                  <a:t>, это строка, которая получается в результате приписывания последовательности символов строки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dirty="0"/>
                  <a:t> после последовательности символов строки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Х</m:t>
                    </m:r>
                  </m:oMath>
                </a14:m>
                <a:r>
                  <a:rPr lang="ru-RU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Х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endParaRPr lang="ru-BY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358FDB-229B-A48A-CE0B-9E182F4D4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887" y="1931437"/>
                <a:ext cx="6640497" cy="1200329"/>
              </a:xfrm>
              <a:prstGeom prst="rect">
                <a:avLst/>
              </a:prstGeom>
              <a:blipFill>
                <a:blip r:embed="rId7"/>
                <a:stretch>
                  <a:fillRect l="-826" t="-3046" r="-735" b="-10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97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/>
      <p:bldP spid="10" grpI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DCBA54-1197-4887-8560-2930995684DA}"/>
                  </a:ext>
                </a:extLst>
              </p:cNvPr>
              <p:cNvSpPr txBox="1"/>
              <p:nvPr/>
            </p:nvSpPr>
            <p:spPr>
              <a:xfrm>
                <a:off x="802323" y="1230037"/>
                <a:ext cx="10381129" cy="341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=(х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ru-R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BY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DCBA54-1197-4887-8560-293099568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23" y="1230037"/>
                <a:ext cx="10381129" cy="341504"/>
              </a:xfrm>
              <a:prstGeom prst="rect">
                <a:avLst/>
              </a:prstGeom>
              <a:blipFill>
                <a:blip r:embed="rId2"/>
                <a:stretch>
                  <a:fillRect l="-881" r="-176" b="-2500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896BFF-1726-42F1-A1B1-13124B0636C0}"/>
                  </a:ext>
                </a:extLst>
              </p:cNvPr>
              <p:cNvSpPr txBox="1"/>
              <p:nvPr/>
            </p:nvSpPr>
            <p:spPr>
              <a:xfrm>
                <a:off x="2617721" y="4398815"/>
                <a:ext cx="5664890" cy="5171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Х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Х</m:t>
                        </m:r>
                      </m:e>
                    </m:d>
                  </m:oMath>
                </a14:m>
                <a:r>
                  <a:rPr lang="en-US" sz="24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ru-BY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896BFF-1726-42F1-A1B1-13124B063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721" y="4398815"/>
                <a:ext cx="5664890" cy="517129"/>
              </a:xfrm>
              <a:prstGeom prst="rect">
                <a:avLst/>
              </a:prstGeom>
              <a:blipFill>
                <a:blip r:embed="rId3"/>
                <a:stretch>
                  <a:fillRect t="-3488" b="-197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F4E44436-BC46-40EC-9C1B-368E291A3A7C}"/>
              </a:ext>
            </a:extLst>
          </p:cNvPr>
          <p:cNvGrpSpPr/>
          <p:nvPr/>
        </p:nvGrpSpPr>
        <p:grpSpPr>
          <a:xfrm>
            <a:off x="802323" y="2459185"/>
            <a:ext cx="11038788" cy="1189480"/>
            <a:chOff x="802323" y="1976653"/>
            <a:chExt cx="11038788" cy="11894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C2A8D25-2881-441D-B1EF-DC70AEA126BB}"/>
                    </a:ext>
                  </a:extLst>
                </p:cNvPr>
                <p:cNvSpPr txBox="1"/>
                <p:nvPr/>
              </p:nvSpPr>
              <p:spPr>
                <a:xfrm>
                  <a:off x="802323" y="1976653"/>
                  <a:ext cx="11038788" cy="3408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ru-BY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 </m:t>
                          </m:r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(х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-US" sz="2000" dirty="0"/>
                    <a:t>)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a14:m>
                  <a:endParaRPr lang="ru-BY" sz="20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C2A8D25-2881-441D-B1EF-DC70AEA12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323" y="1976653"/>
                  <a:ext cx="11038788" cy="340863"/>
                </a:xfrm>
                <a:prstGeom prst="rect">
                  <a:avLst/>
                </a:prstGeom>
                <a:blipFill>
                  <a:blip r:embed="rId4"/>
                  <a:stretch>
                    <a:fillRect l="-829" t="-21429" b="-375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Левая фигурная скобка 11">
              <a:extLst>
                <a:ext uri="{FF2B5EF4-FFF2-40B4-BE49-F238E27FC236}">
                  <a16:creationId xmlns:a16="http://schemas.microsoft.com/office/drawing/2014/main" id="{54FD4D1B-FCB2-46E4-B0FE-496527F26747}"/>
                </a:ext>
              </a:extLst>
            </p:cNvPr>
            <p:cNvSpPr/>
            <p:nvPr/>
          </p:nvSpPr>
          <p:spPr>
            <a:xfrm rot="16200000">
              <a:off x="3586194" y="1157917"/>
              <a:ext cx="443060" cy="265471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80C74FE-DD2C-4415-830D-20A74ECD1E46}"/>
                    </a:ext>
                  </a:extLst>
                </p:cNvPr>
                <p:cNvSpPr txBox="1"/>
                <p:nvPr/>
              </p:nvSpPr>
              <p:spPr>
                <a:xfrm>
                  <a:off x="2863906" y="2771923"/>
                  <a:ext cx="1310326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</m:d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80C74FE-DD2C-4415-830D-20A74ECD1E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3906" y="2771923"/>
                  <a:ext cx="1310326" cy="394210"/>
                </a:xfrm>
                <a:prstGeom prst="rect">
                  <a:avLst/>
                </a:prstGeom>
                <a:blipFill>
                  <a:blip r:embed="rId5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Левая фигурная скобка 18">
              <a:extLst>
                <a:ext uri="{FF2B5EF4-FFF2-40B4-BE49-F238E27FC236}">
                  <a16:creationId xmlns:a16="http://schemas.microsoft.com/office/drawing/2014/main" id="{02925652-7F0A-4CD8-B651-3B7DC777A456}"/>
                </a:ext>
              </a:extLst>
            </p:cNvPr>
            <p:cNvSpPr/>
            <p:nvPr/>
          </p:nvSpPr>
          <p:spPr>
            <a:xfrm rot="16200000">
              <a:off x="7574143" y="979721"/>
              <a:ext cx="443060" cy="297304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4D00448-8A7E-4B81-BA07-A2EEAF45DB17}"/>
                    </a:ext>
                  </a:extLst>
                </p:cNvPr>
                <p:cNvSpPr txBox="1"/>
                <p:nvPr/>
              </p:nvSpPr>
              <p:spPr>
                <a:xfrm>
                  <a:off x="6797804" y="2653033"/>
                  <a:ext cx="1310326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oMath>
                    </m:oMathPara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4D00448-8A7E-4B81-BA07-A2EEAF45D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7804" y="2653033"/>
                  <a:ext cx="1310326" cy="394210"/>
                </a:xfrm>
                <a:prstGeom prst="rect">
                  <a:avLst/>
                </a:prstGeom>
                <a:blipFill>
                  <a:blip r:embed="rId6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508206F-D8D5-4BA5-8F26-C96E97EEA779}"/>
              </a:ext>
            </a:extLst>
          </p:cNvPr>
          <p:cNvCxnSpPr/>
          <p:nvPr/>
        </p:nvCxnSpPr>
        <p:spPr>
          <a:xfrm>
            <a:off x="6321717" y="946982"/>
            <a:ext cx="0" cy="105507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60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FF8300-6A0B-4EF2-BAE8-61DCF2932374}"/>
                  </a:ext>
                </a:extLst>
              </p:cNvPr>
              <p:cNvSpPr txBox="1"/>
              <p:nvPr/>
            </p:nvSpPr>
            <p:spPr>
              <a:xfrm>
                <a:off x="611502" y="1178043"/>
                <a:ext cx="11025241" cy="1985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Хеш для подстроки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u-RU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endParaRPr lang="ru-RU" sz="2000" b="1" dirty="0"/>
              </a:p>
              <a:p>
                <a:pPr lvl="1"/>
                <a:endParaRPr lang="ru-RU" sz="20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ru-BY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пр.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ru-RU" sz="20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  <m:r>
                            <a:rPr lang="ru-RU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BY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ru-RU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ru-RU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p>
                        <m:sSup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ru-RU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sup>
                      </m:sSup>
                    </m:oMath>
                  </m:oMathPara>
                </a14:m>
                <a:endParaRPr lang="ru-RU" sz="2000" b="1" dirty="0">
                  <a:ea typeface="Cambria Math" panose="02040503050406030204" pitchFamily="18" charset="0"/>
                </a:endParaRPr>
              </a:p>
              <a:p>
                <a:endParaRPr lang="ru-RU" sz="2000" dirty="0"/>
              </a:p>
              <a:p>
                <a:endParaRPr lang="ru-RU" sz="2000" dirty="0"/>
              </a:p>
              <a:p>
                <a:r>
                  <a:rPr lang="ru-RU" sz="2000" dirty="0"/>
                  <a:t>как вычислить быстрее?</a:t>
                </a:r>
                <a:endParaRPr lang="ru-BY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FF8300-6A0B-4EF2-BAE8-61DCF2932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02" y="1178043"/>
                <a:ext cx="11025241" cy="1985287"/>
              </a:xfrm>
              <a:prstGeom prst="rect">
                <a:avLst/>
              </a:prstGeom>
              <a:blipFill>
                <a:blip r:embed="rId2"/>
                <a:stretch>
                  <a:fillRect l="-553" t="-1534" b="-460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A8D100-6584-438C-A66E-EF2B354C9CB8}"/>
                  </a:ext>
                </a:extLst>
              </p:cNvPr>
              <p:cNvSpPr txBox="1"/>
              <p:nvPr/>
            </p:nvSpPr>
            <p:spPr>
              <a:xfrm>
                <a:off x="373887" y="3644397"/>
                <a:ext cx="1125661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/>
                <a:r>
                  <a:rPr lang="ru-RU" dirty="0"/>
                  <a:t>Предположим,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значение полинома помещается в 64 бита. Это равносильно тому, что на компьютере можно выполнять все операции над 64-битными числами и не задумываться о том, чтобы брать остаток. </a:t>
                </a:r>
                <a:endParaRPr lang="en-US" dirty="0"/>
              </a:p>
              <a:p>
                <a:pPr lvl="1" algn="just"/>
                <a:r>
                  <a:rPr lang="ru-RU" dirty="0"/>
                  <a:t>Но в С++ для этого необходимо использовать не </a:t>
                </a:r>
                <a:r>
                  <a:rPr lang="ru-RU" dirty="0">
                    <a:latin typeface="Consolas" panose="020B0609020204030204" pitchFamily="49" charset="0"/>
                  </a:rPr>
                  <a:t>int64_t</a:t>
                </a:r>
                <a:r>
                  <a:rPr lang="ru-RU" dirty="0"/>
                  <a:t> (обычно, синоним </a:t>
                </a:r>
                <a:r>
                  <a:rPr lang="ru-RU" dirty="0" err="1">
                    <a:latin typeface="Consolas" panose="020B0609020204030204" pitchFamily="49" charset="0"/>
                  </a:rPr>
                  <a:t>long</a:t>
                </a:r>
                <a:r>
                  <a:rPr lang="ru-RU" dirty="0">
                    <a:latin typeface="Consolas" panose="020B0609020204030204" pitchFamily="49" charset="0"/>
                  </a:rPr>
                  <a:t> </a:t>
                </a:r>
                <a:r>
                  <a:rPr lang="ru-RU" dirty="0" err="1">
                    <a:latin typeface="Consolas" panose="020B0609020204030204" pitchFamily="49" charset="0"/>
                  </a:rPr>
                  <a:t>long</a:t>
                </a:r>
                <a:r>
                  <a:rPr lang="ru-RU" dirty="0"/>
                  <a:t>), а </a:t>
                </a:r>
                <a:r>
                  <a:rPr lang="ru-RU" dirty="0">
                    <a:latin typeface="Consolas" panose="020B0609020204030204" pitchFamily="49" charset="0"/>
                  </a:rPr>
                  <a:t>uint64_t</a:t>
                </a:r>
                <a:r>
                  <a:rPr lang="ru-RU" dirty="0"/>
                  <a:t> (</a:t>
                </a:r>
                <a:r>
                  <a:rPr lang="ru-RU" dirty="0" err="1">
                    <a:latin typeface="Consolas" panose="020B0609020204030204" pitchFamily="49" charset="0"/>
                  </a:rPr>
                  <a:t>unsigned</a:t>
                </a:r>
                <a:r>
                  <a:rPr lang="ru-RU" dirty="0">
                    <a:latin typeface="Consolas" panose="020B0609020204030204" pitchFamily="49" charset="0"/>
                  </a:rPr>
                  <a:t> </a:t>
                </a:r>
                <a:r>
                  <a:rPr lang="ru-RU" dirty="0" err="1">
                    <a:latin typeface="Consolas" panose="020B0609020204030204" pitchFamily="49" charset="0"/>
                  </a:rPr>
                  <a:t>long</a:t>
                </a:r>
                <a:r>
                  <a:rPr lang="ru-RU" dirty="0">
                    <a:latin typeface="Consolas" panose="020B0609020204030204" pitchFamily="49" charset="0"/>
                  </a:rPr>
                  <a:t> </a:t>
                </a:r>
                <a:r>
                  <a:rPr lang="ru-RU" dirty="0" err="1">
                    <a:latin typeface="Consolas" panose="020B0609020204030204" pitchFamily="49" charset="0"/>
                  </a:rPr>
                  <a:t>long</a:t>
                </a:r>
                <a:r>
                  <a:rPr lang="ru-RU" dirty="0"/>
                  <a:t>), потому что переполнение знаковых целочисленных типов в C++ — опасный пример неопределённого поведения.</a:t>
                </a:r>
                <a:endParaRPr lang="ru-BY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A8D100-6584-438C-A66E-EF2B354C9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87" y="3644397"/>
                <a:ext cx="11256614" cy="1754326"/>
              </a:xfrm>
              <a:prstGeom prst="rect">
                <a:avLst/>
              </a:prstGeom>
              <a:blipFill>
                <a:blip r:embed="rId3"/>
                <a:stretch>
                  <a:fillRect t="-2083" r="-433" b="-451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6224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A67382-7AA6-016C-1D2B-F6979CD9232D}"/>
              </a:ext>
            </a:extLst>
          </p:cNvPr>
          <p:cNvSpPr txBox="1"/>
          <p:nvPr/>
        </p:nvSpPr>
        <p:spPr>
          <a:xfrm>
            <a:off x="4845377" y="1463366"/>
            <a:ext cx="4986780" cy="82600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A1E42E-400C-432A-8213-1245C72750E1}"/>
                  </a:ext>
                </a:extLst>
              </p:cNvPr>
              <p:cNvSpPr txBox="1"/>
              <p:nvPr/>
            </p:nvSpPr>
            <p:spPr>
              <a:xfrm>
                <a:off x="466642" y="4313244"/>
                <a:ext cx="1085495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000" dirty="0"/>
                  <a:t>Из формулы следует, что для вычисления </a:t>
                </a:r>
                <a:r>
                  <a:rPr lang="ru-RU" sz="2000" dirty="0" err="1"/>
                  <a:t>хешей</a:t>
                </a:r>
                <a:r>
                  <a:rPr lang="ru-RU" sz="2000" dirty="0"/>
                  <a:t> любой подстроки, необходимо знать лишь </a:t>
                </a:r>
                <a:r>
                  <a:rPr lang="ru-RU" sz="2000" dirty="0" err="1"/>
                  <a:t>хеши</a:t>
                </a:r>
                <a:r>
                  <a:rPr lang="ru-RU" sz="2000" dirty="0"/>
                  <a:t>  всех префиксов этой строки. </a:t>
                </a:r>
              </a:p>
              <a:p>
                <a:pPr algn="just"/>
                <a:endParaRPr lang="en-US" sz="2000" dirty="0"/>
              </a:p>
              <a:p>
                <a:pPr algn="just"/>
                <a:r>
                  <a:rPr lang="ru-RU" sz="2000" dirty="0"/>
                  <a:t>Теперь, чтобы сравнить на равенство две любые подстроки строки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sz="2000" dirty="0"/>
                  <a:t>, можно сравнить соответствующие </a:t>
                </a:r>
                <a:r>
                  <a:rPr lang="ru-RU" sz="2000" dirty="0" err="1"/>
                  <a:t>хеши</a:t>
                </a:r>
                <a:r>
                  <a:rPr lang="ru-RU" sz="2000" dirty="0"/>
                  <a:t> этих подстрок. Так как предполагается, что значение полинома помещается в 64 бита, то считаем, что сравнение двух </a:t>
                </a:r>
                <a:r>
                  <a:rPr lang="ru-RU" sz="2000" dirty="0" err="1"/>
                  <a:t>хешей</a:t>
                </a:r>
                <a:r>
                  <a:rPr lang="ru-RU" sz="2000" dirty="0"/>
                  <a:t> будет выполнено 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sz="20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A1E42E-400C-432A-8213-1245C7275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42" y="4313244"/>
                <a:ext cx="10854950" cy="1938992"/>
              </a:xfrm>
              <a:prstGeom prst="rect">
                <a:avLst/>
              </a:prstGeom>
              <a:blipFill>
                <a:blip r:embed="rId2"/>
                <a:stretch>
                  <a:fillRect l="-618" t="-1887" r="-618" b="-471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BFAF573-5B08-4649-9617-EF7346E095F6}"/>
              </a:ext>
            </a:extLst>
          </p:cNvPr>
          <p:cNvGrpSpPr/>
          <p:nvPr/>
        </p:nvGrpSpPr>
        <p:grpSpPr>
          <a:xfrm>
            <a:off x="325240" y="1307489"/>
            <a:ext cx="11120978" cy="1574296"/>
            <a:chOff x="712434" y="1642"/>
            <a:chExt cx="11120978" cy="16571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1946436-C6F4-4677-B27B-AD3B382A700F}"/>
                    </a:ext>
                  </a:extLst>
                </p:cNvPr>
                <p:cNvSpPr txBox="1"/>
                <p:nvPr/>
              </p:nvSpPr>
              <p:spPr>
                <a:xfrm>
                  <a:off x="712434" y="414133"/>
                  <a:ext cx="11120978" cy="3726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BY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Х</m:t>
                                </m:r>
                              </m:e>
                            </m:d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=х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ru-RU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u-RU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ru-RU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  <m:sSub>
                          <m:sSubPr>
                            <m:ctrlPr>
                              <a:rPr lang="ru-BY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ru-BY" sz="20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1946436-C6F4-4677-B27B-AD3B382A7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34" y="414133"/>
                  <a:ext cx="11120978" cy="372629"/>
                </a:xfrm>
                <a:prstGeom prst="rect">
                  <a:avLst/>
                </a:prstGeom>
                <a:blipFill>
                  <a:blip r:embed="rId3"/>
                  <a:stretch>
                    <a:fillRect t="-1724" b="-2069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Левая фигурная скобка 12">
              <a:extLst>
                <a:ext uri="{FF2B5EF4-FFF2-40B4-BE49-F238E27FC236}">
                  <a16:creationId xmlns:a16="http://schemas.microsoft.com/office/drawing/2014/main" id="{AD57424C-531B-4B85-8F7E-B55291742F93}"/>
                </a:ext>
              </a:extLst>
            </p:cNvPr>
            <p:cNvSpPr/>
            <p:nvPr/>
          </p:nvSpPr>
          <p:spPr>
            <a:xfrm rot="16200000">
              <a:off x="5592040" y="-2968564"/>
              <a:ext cx="913882" cy="8340742"/>
            </a:xfrm>
            <a:prstGeom prst="leftBrace">
              <a:avLst>
                <a:gd name="adj1" fmla="val 8333"/>
                <a:gd name="adj2" fmla="val 49886"/>
              </a:avLst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BY" dirty="0"/>
            </a:p>
          </p:txBody>
        </p:sp>
        <p:sp>
          <p:nvSpPr>
            <p:cNvPr id="16" name="Правая фигурная скобка 15">
              <a:extLst>
                <a:ext uri="{FF2B5EF4-FFF2-40B4-BE49-F238E27FC236}">
                  <a16:creationId xmlns:a16="http://schemas.microsoft.com/office/drawing/2014/main" id="{70F897BB-D499-4F1F-A5DF-12E6E67E75F1}"/>
                </a:ext>
              </a:extLst>
            </p:cNvPr>
            <p:cNvSpPr/>
            <p:nvPr/>
          </p:nvSpPr>
          <p:spPr>
            <a:xfrm rot="16200000">
              <a:off x="3232041" y="-1351788"/>
              <a:ext cx="494811" cy="3201671"/>
            </a:xfrm>
            <a:prstGeom prst="rightBrac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6A6DE93-D80B-4B1C-B6CD-B71447406BD5}"/>
              </a:ext>
            </a:extLst>
          </p:cNvPr>
          <p:cNvGrpSpPr/>
          <p:nvPr/>
        </p:nvGrpSpPr>
        <p:grpSpPr>
          <a:xfrm>
            <a:off x="3420433" y="3031098"/>
            <a:ext cx="5184592" cy="1228116"/>
            <a:chOff x="3473398" y="2386319"/>
            <a:chExt cx="5184592" cy="1228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A3047A3-FD09-4EFD-B4CD-DD299AE418D2}"/>
                    </a:ext>
                  </a:extLst>
                </p:cNvPr>
                <p:cNvSpPr txBox="1"/>
                <p:nvPr/>
              </p:nvSpPr>
              <p:spPr>
                <a:xfrm>
                  <a:off x="3473398" y="2386319"/>
                  <a:ext cx="5184592" cy="4447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пр.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a14:m>
                  <a:r>
                    <a:rPr lang="en-US" sz="20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n-US" sz="20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пр.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пр.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endParaRPr lang="ru-BY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A3047A3-FD09-4EFD-B4CD-DD299AE41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398" y="2386319"/>
                  <a:ext cx="5184592" cy="444737"/>
                </a:xfrm>
                <a:prstGeom prst="rect">
                  <a:avLst/>
                </a:prstGeom>
                <a:blipFill>
                  <a:blip r:embed="rId6"/>
                  <a:stretch>
                    <a:fillRect b="-547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736C743-FB63-4CD1-8D21-1FFDDF0988E6}"/>
                    </a:ext>
                  </a:extLst>
                </p:cNvPr>
                <p:cNvSpPr txBox="1"/>
                <p:nvPr/>
              </p:nvSpPr>
              <p:spPr>
                <a:xfrm>
                  <a:off x="3573371" y="2949573"/>
                  <a:ext cx="3899546" cy="6648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пр.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a14:m>
                  <a:r>
                    <a:rPr lang="en-US" sz="24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</m:oMath>
                  </a14:m>
                  <a:endParaRPr lang="ru-BY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736C743-FB63-4CD1-8D21-1FFDDF0988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371" y="2949573"/>
                  <a:ext cx="3899546" cy="66486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78E19-01FB-5A4F-2513-6CD27E75F8C8}"/>
                  </a:ext>
                </a:extLst>
              </p:cNvPr>
              <p:cNvSpPr txBox="1"/>
              <p:nvPr/>
            </p:nvSpPr>
            <p:spPr>
              <a:xfrm>
                <a:off x="2753336" y="94134"/>
                <a:ext cx="5851689" cy="411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ru-BY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пр.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ru-RU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1800" b="1" i="1"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  <m:r>
                            <a:rPr lang="ru-R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BY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ru-RU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ru-R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p>
                        <m:sSupPr>
                          <m:ctrlP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ru-R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78E19-01FB-5A4F-2513-6CD27E75F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336" y="94134"/>
                <a:ext cx="5851689" cy="411010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B4B403-CC22-562F-A10E-62B88F7D4948}"/>
                  </a:ext>
                </a:extLst>
              </p:cNvPr>
              <p:cNvSpPr txBox="1"/>
              <p:nvPr/>
            </p:nvSpPr>
            <p:spPr>
              <a:xfrm>
                <a:off x="2753336" y="504315"/>
                <a:ext cx="5851689" cy="417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ru-BY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пр.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  <m:r>
                                <a:rPr lang="ru-RU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1800" b="1" i="1"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ru-R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BY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х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ru-RU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ru-RU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х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p>
                        <m:sSupPr>
                          <m:ctrlP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B4B403-CC22-562F-A10E-62B88F7D4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336" y="504315"/>
                <a:ext cx="5851689" cy="417935"/>
              </a:xfrm>
              <a:prstGeom prst="rect">
                <a:avLst/>
              </a:prstGeom>
              <a:blipFill>
                <a:blip r:embed="rId9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4B6D918-7B40-C3D7-4A29-D47065E96C12}"/>
              </a:ext>
            </a:extLst>
          </p:cNvPr>
          <p:cNvCxnSpPr/>
          <p:nvPr/>
        </p:nvCxnSpPr>
        <p:spPr>
          <a:xfrm>
            <a:off x="4355184" y="922250"/>
            <a:ext cx="575035" cy="45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4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079593-6689-435B-9CED-3B28D1F35260}"/>
                  </a:ext>
                </a:extLst>
              </p:cNvPr>
              <p:cNvSpPr txBox="1"/>
              <p:nvPr/>
            </p:nvSpPr>
            <p:spPr>
              <a:xfrm>
                <a:off x="2585867" y="815940"/>
                <a:ext cx="6410649" cy="674031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400" dirty="0"/>
                  <a:t>,</a:t>
                </a:r>
                <a:endParaRPr lang="ru-BY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079593-6689-435B-9CED-3B28D1F35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867" y="815940"/>
                <a:ext cx="6410649" cy="674031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D1DAF-9A58-4936-9A6E-F87D49A0E68C}"/>
                  </a:ext>
                </a:extLst>
              </p:cNvPr>
              <p:cNvSpPr txBox="1"/>
              <p:nvPr/>
            </p:nvSpPr>
            <p:spPr>
              <a:xfrm>
                <a:off x="172543" y="5843925"/>
                <a:ext cx="1161227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Если </a:t>
                </a:r>
                <a:r>
                  <a:rPr lang="ru-RU" sz="2400" dirty="0" err="1"/>
                  <a:t>предподсчитать</a:t>
                </a:r>
                <a:r>
                  <a:rPr lang="ru-RU" sz="2400" dirty="0"/>
                  <a:t> степени обратного элемента по выбранному модулю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400" dirty="0"/>
                  <a:t>, то сравнение на равенство двух подстрок можно выполнять за O(1).</a:t>
                </a:r>
                <a:endParaRPr lang="ru-BY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D1DAF-9A58-4936-9A6E-F87D49A0E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43" y="5843925"/>
                <a:ext cx="11612270" cy="830997"/>
              </a:xfrm>
              <a:prstGeom prst="rect">
                <a:avLst/>
              </a:prstGeom>
              <a:blipFill>
                <a:blip r:embed="rId3"/>
                <a:stretch>
                  <a:fillRect l="-787" t="-5882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4EE1ADE-608A-495D-A0A6-41C753B4B30F}"/>
              </a:ext>
            </a:extLst>
          </p:cNvPr>
          <p:cNvSpPr txBox="1"/>
          <p:nvPr/>
        </p:nvSpPr>
        <p:spPr>
          <a:xfrm>
            <a:off x="157981" y="211429"/>
            <a:ext cx="6132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Для реализации математической формулы </a:t>
            </a:r>
            <a:endParaRPr lang="ru-B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2D1356-FF35-49D2-B08D-46CB1D4DA19E}"/>
                  </a:ext>
                </a:extLst>
              </p:cNvPr>
              <p:cNvSpPr txBox="1"/>
              <p:nvPr/>
            </p:nvSpPr>
            <p:spPr>
              <a:xfrm>
                <a:off x="157981" y="1632817"/>
                <a:ext cx="9545399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/>
                  <a:t>необходимо найти обратный элемент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по модулю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2D1356-FF35-49D2-B08D-46CB1D4DA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81" y="1632817"/>
                <a:ext cx="9545399" cy="468205"/>
              </a:xfrm>
              <a:prstGeom prst="rect">
                <a:avLst/>
              </a:prstGeom>
              <a:blipFill>
                <a:blip r:embed="rId4"/>
                <a:stretch>
                  <a:fillRect l="-1022" t="-9091" b="-285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5954A3F-5D34-E047-422A-696E0CB93073}"/>
              </a:ext>
            </a:extLst>
          </p:cNvPr>
          <p:cNvGrpSpPr/>
          <p:nvPr/>
        </p:nvGrpSpPr>
        <p:grpSpPr>
          <a:xfrm>
            <a:off x="308014" y="2243868"/>
            <a:ext cx="11594121" cy="3588739"/>
            <a:chOff x="308014" y="2243868"/>
            <a:chExt cx="11594121" cy="35887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7568448-6F1C-4850-AA76-E421BCD27E04}"/>
                    </a:ext>
                  </a:extLst>
                </p:cNvPr>
                <p:cNvSpPr txBox="1"/>
                <p:nvPr/>
              </p:nvSpPr>
              <p:spPr>
                <a:xfrm>
                  <a:off x="308014" y="2243868"/>
                  <a:ext cx="11594121" cy="35887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 algn="just"/>
                  <a:r>
                    <a:rPr lang="ru-RU" sz="2400" dirty="0"/>
                    <a:t>Для того, чтобы найти обратный элемент для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по модулю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ru-RU" sz="2400" dirty="0"/>
                    <a:t>, нужно вычислить значение функции Эйлера </a:t>
                  </a:r>
                  <a14:m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  <a:r>
                    <a:rPr lang="ru-RU" sz="2400" dirty="0"/>
                    <a:t>(число взаимно простых с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ru-RU" sz="2400" dirty="0"/>
                    <a:t> чисел)  и возвести</a:t>
                  </a:r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ru-RU" sz="2400" dirty="0"/>
                    <a:t> в степень</a:t>
                  </a:r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ru-RU" sz="2400" b="0" dirty="0">
                      <a:ea typeface="Cambria Math" panose="02040503050406030204" pitchFamily="18" charset="0"/>
                    </a:rPr>
                    <a:t> </a:t>
                  </a:r>
                  <a:r>
                    <a:rPr lang="en-US" sz="2400" dirty="0"/>
                    <a:t> </a:t>
                  </a:r>
                  <a:r>
                    <a:rPr lang="ru-RU" sz="2400" dirty="0"/>
                    <a:t>(</a:t>
                  </a:r>
                  <a:r>
                    <a:rPr lang="en-US" sz="2400" dirty="0">
                      <a:hlinkClick r:id="rId5"/>
                    </a:rPr>
                    <a:t>https://ru.m.wikipedia.org/wiki/</a:t>
                  </a:r>
                  <a:r>
                    <a:rPr lang="ru-RU" sz="2400" dirty="0">
                      <a:hlinkClick r:id="rId5"/>
                    </a:rPr>
                    <a:t>Обратное_по_модулю_число</a:t>
                  </a:r>
                  <a:r>
                    <a:rPr lang="ru-RU" sz="2400" dirty="0"/>
                    <a:t>)</a:t>
                  </a:r>
                  <a:r>
                    <a:rPr lang="en-US" sz="2400" dirty="0"/>
                    <a:t>. </a:t>
                  </a:r>
                </a:p>
                <a:p>
                  <a:pPr lvl="1" algn="just"/>
                  <a:endParaRPr lang="ru-RU" sz="2400" dirty="0"/>
                </a:p>
                <a:p>
                  <a:pPr lvl="1" algn="just"/>
                  <a:r>
                    <a:rPr lang="ru-BY" sz="2400" dirty="0"/>
                    <a:t>В случае полиномиального х</a:t>
                  </a:r>
                  <a:r>
                    <a:rPr lang="ru-RU" sz="2400" dirty="0"/>
                    <a:t>е</a:t>
                  </a:r>
                  <a:r>
                    <a:rPr lang="ru-BY" sz="2400" dirty="0" err="1"/>
                    <a:t>ша</a:t>
                  </a:r>
                  <a:r>
                    <a:rPr lang="ru-BY" sz="2400" dirty="0"/>
                    <a:t> с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ru-BY" sz="2400" dirty="0"/>
                    <a:t>обратным числу </a:t>
                  </a:r>
                  <a14:m>
                    <m:oMath xmlns:m="http://schemas.openxmlformats.org/officeDocument/2006/math">
                      <m:r>
                        <a:rPr lang="en-US" sz="2400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sz="2400" dirty="0"/>
                    <a:t> </a:t>
                  </a:r>
                  <a:r>
                    <a:rPr lang="ru-BY" sz="2400" dirty="0"/>
                    <a:t>будет число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ru-BY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sSup>
                            <m:sSupPr>
                              <m:ctrlPr>
                                <a:rPr lang="ru-BY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US" sz="2400" b="0" dirty="0"/>
                </a:p>
                <a:p>
                  <a:pPr lvl="1" algn="just"/>
                  <a:r>
                    <a:rPr lang="ru-RU" sz="2400" dirty="0"/>
                    <a:t>Вычислить величину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ru-BY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BY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ru-BY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63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ru-BY" sz="2400" dirty="0"/>
                    <a:t>  можно бинарным возведением в степен</a:t>
                  </a:r>
                  <a:r>
                    <a:rPr lang="ru-RU" sz="2400" dirty="0"/>
                    <a:t>ь:</a:t>
                  </a:r>
                </a:p>
                <a:p>
                  <a:pPr lvl="8"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ru-BY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ru-BY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/2</m:t>
                                        </m:r>
                                      </m:sup>
                                    </m:s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−чётное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ru-R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ru-BY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type m:val="skw"/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−нечётное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ru-BY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7568448-6F1C-4850-AA76-E421BCD27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14" y="2243868"/>
                  <a:ext cx="11594121" cy="3588739"/>
                </a:xfrm>
                <a:prstGeom prst="rect">
                  <a:avLst/>
                </a:prstGeom>
                <a:blipFill>
                  <a:blip r:embed="rId6"/>
                  <a:stretch>
                    <a:fillRect t="-1358" r="-842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B5DFA352-7213-5EB4-5F4B-C234523946A8}"/>
                </a:ext>
              </a:extLst>
            </p:cNvPr>
            <p:cNvCxnSpPr/>
            <p:nvPr/>
          </p:nvCxnSpPr>
          <p:spPr>
            <a:xfrm>
              <a:off x="757084" y="2320413"/>
              <a:ext cx="0" cy="344696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62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C6FFBE-C1A4-DCEF-E6A0-CCC07A19DF6C}"/>
              </a:ext>
            </a:extLst>
          </p:cNvPr>
          <p:cNvSpPr/>
          <p:nvPr/>
        </p:nvSpPr>
        <p:spPr>
          <a:xfrm>
            <a:off x="1050264" y="5376935"/>
            <a:ext cx="8634508" cy="6604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168D3E-DC0B-061F-EC0E-720C6BC21818}"/>
              </a:ext>
            </a:extLst>
          </p:cNvPr>
          <p:cNvSpPr/>
          <p:nvPr/>
        </p:nvSpPr>
        <p:spPr>
          <a:xfrm>
            <a:off x="1050264" y="4420568"/>
            <a:ext cx="8236211" cy="6604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DE96C9-7C7F-DBF2-BFB0-05A19976A944}"/>
              </a:ext>
            </a:extLst>
          </p:cNvPr>
          <p:cNvSpPr/>
          <p:nvPr/>
        </p:nvSpPr>
        <p:spPr>
          <a:xfrm>
            <a:off x="1050259" y="2982759"/>
            <a:ext cx="8236211" cy="6604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B1B53A-DF63-4BCF-891D-A6B108FA8C90}"/>
                  </a:ext>
                </a:extLst>
              </p:cNvPr>
              <p:cNvSpPr txBox="1"/>
              <p:nvPr/>
            </p:nvSpPr>
            <p:spPr>
              <a:xfrm>
                <a:off x="2149374" y="1481065"/>
                <a:ext cx="8739056" cy="444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0: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0: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/>
                  <a:t>)</a:t>
                </a:r>
                <a:endParaRPr lang="ru-BY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B1B53A-DF63-4BCF-891D-A6B108FA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374" y="1481065"/>
                <a:ext cx="8739056" cy="444737"/>
              </a:xfrm>
              <a:prstGeom prst="rect">
                <a:avLst/>
              </a:prstGeom>
              <a:blipFill>
                <a:blip r:embed="rId2"/>
                <a:stretch>
                  <a:fillRect t="-4110" b="-1780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CFEF2EE-FF8B-C733-AB7B-5FE739AD4CB1}"/>
              </a:ext>
            </a:extLst>
          </p:cNvPr>
          <p:cNvSpPr txBox="1"/>
          <p:nvPr/>
        </p:nvSpPr>
        <p:spPr>
          <a:xfrm>
            <a:off x="1050265" y="2052773"/>
            <a:ext cx="574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Действительно, по определению прямого хеширования </a:t>
            </a:r>
            <a:endParaRPr lang="ru-BY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127018C-A235-4BE3-3BAE-526F35DB6559}"/>
              </a:ext>
            </a:extLst>
          </p:cNvPr>
          <p:cNvGrpSpPr/>
          <p:nvPr/>
        </p:nvGrpSpPr>
        <p:grpSpPr>
          <a:xfrm>
            <a:off x="607515" y="127801"/>
            <a:ext cx="11462122" cy="1749795"/>
            <a:chOff x="459207" y="-299119"/>
            <a:chExt cx="11462122" cy="17543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10FFA2-EB4E-4803-B16F-1C6218F7E9EF}"/>
                    </a:ext>
                  </a:extLst>
                </p:cNvPr>
                <p:cNvSpPr txBox="1"/>
                <p:nvPr/>
              </p:nvSpPr>
              <p:spPr>
                <a:xfrm>
                  <a:off x="5179322" y="488524"/>
                  <a:ext cx="3231636" cy="4276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BY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10FFA2-EB4E-4803-B16F-1C6218F7E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9322" y="488524"/>
                  <a:ext cx="3231636" cy="427618"/>
                </a:xfrm>
                <a:prstGeom prst="rect">
                  <a:avLst/>
                </a:prstGeom>
                <a:blipFill>
                  <a:blip r:embed="rId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86F436-24FB-4506-A018-1AA4CBB4477F}"/>
                    </a:ext>
                  </a:extLst>
                </p:cNvPr>
                <p:cNvSpPr txBox="1"/>
                <p:nvPr/>
              </p:nvSpPr>
              <p:spPr>
                <a:xfrm>
                  <a:off x="459207" y="-299119"/>
                  <a:ext cx="11462122" cy="17543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ru-RU" b="1" dirty="0"/>
                    <a:t>Так как деление достаточно сложная операция, то для сравнения подстрок на равенство на практике используют формулу без деления (приведение к одной степени). </a:t>
                  </a:r>
                </a:p>
                <a:p>
                  <a:pPr algn="just"/>
                  <a:endParaRPr lang="ru-RU" dirty="0"/>
                </a:p>
                <a:p>
                  <a:pPr algn="just"/>
                  <a:r>
                    <a:rPr lang="ru-RU" dirty="0"/>
                    <a:t>Предположим, что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dirty="0"/>
                    <a:t>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тогда для того, чтобы </m:t>
                      </m:r>
                    </m:oMath>
                  </a14:m>
                  <a:endParaRPr lang="ru-RU" dirty="0"/>
                </a:p>
                <a:p>
                  <a:pPr algn="just"/>
                  <a:endParaRPr lang="ru-RU" dirty="0"/>
                </a:p>
                <a:p>
                  <a:pPr algn="just"/>
                  <a:r>
                    <a:rPr lang="ru-RU" dirty="0"/>
                    <a:t>надо, чтобы </a:t>
                  </a:r>
                  <a:endParaRPr lang="ru-BY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86F436-24FB-4506-A018-1AA4CBB44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07" y="-299119"/>
                  <a:ext cx="11462122" cy="1754326"/>
                </a:xfrm>
                <a:prstGeom prst="rect">
                  <a:avLst/>
                </a:prstGeom>
                <a:blipFill>
                  <a:blip r:embed="rId4"/>
                  <a:stretch>
                    <a:fillRect l="-479" t="-2091" r="-426" b="-4878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898D9DFE-2A55-46CC-E0FC-5AD536921CD3}"/>
              </a:ext>
            </a:extLst>
          </p:cNvPr>
          <p:cNvGrpSpPr/>
          <p:nvPr/>
        </p:nvGrpSpPr>
        <p:grpSpPr>
          <a:xfrm>
            <a:off x="1600431" y="2557333"/>
            <a:ext cx="5871834" cy="448129"/>
            <a:chOff x="607515" y="2714633"/>
            <a:chExt cx="5871834" cy="4481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E17D83D-273F-0819-D906-DA2144446F91}"/>
                    </a:ext>
                  </a:extLst>
                </p:cNvPr>
                <p:cNvSpPr txBox="1"/>
                <p:nvPr/>
              </p:nvSpPr>
              <p:spPr>
                <a:xfrm>
                  <a:off x="1113110" y="2723650"/>
                  <a:ext cx="5366239" cy="4391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ru-RU" sz="20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E17D83D-273F-0819-D906-DA2144446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3110" y="2723650"/>
                  <a:ext cx="5366239" cy="439112"/>
                </a:xfrm>
                <a:prstGeom prst="rect">
                  <a:avLst/>
                </a:prstGeom>
                <a:blipFill>
                  <a:blip r:embed="rId5"/>
                  <a:stretch>
                    <a:fillRect b="-6944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15F2C1-EAFD-EE9C-0E26-B2A220F50BC2}"/>
                </a:ext>
              </a:extLst>
            </p:cNvPr>
            <p:cNvSpPr txBox="1"/>
            <p:nvPr/>
          </p:nvSpPr>
          <p:spPr>
            <a:xfrm>
              <a:off x="607515" y="2714633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(1)</a:t>
              </a:r>
              <a:endParaRPr lang="ru-BY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551EE0-9D93-5240-B808-2A0A652CF624}"/>
                  </a:ext>
                </a:extLst>
              </p:cNvPr>
              <p:cNvSpPr txBox="1"/>
              <p:nvPr/>
            </p:nvSpPr>
            <p:spPr>
              <a:xfrm>
                <a:off x="1050265" y="3743841"/>
                <a:ext cx="260109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Домножим (1)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ru-RU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dirty="0"/>
                  <a:t> </a:t>
                </a:r>
                <a:endParaRPr lang="ru-BY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551EE0-9D93-5240-B808-2A0A652CF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265" y="3743841"/>
                <a:ext cx="2601097" cy="374270"/>
              </a:xfrm>
              <a:prstGeom prst="rect">
                <a:avLst/>
              </a:prstGeom>
              <a:blipFill>
                <a:blip r:embed="rId6"/>
                <a:stretch>
                  <a:fillRect l="-1874" t="-6452" b="-2419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168B4B90-D9E5-B859-6530-C7FF01ADDC34}"/>
              </a:ext>
            </a:extLst>
          </p:cNvPr>
          <p:cNvGrpSpPr/>
          <p:nvPr/>
        </p:nvGrpSpPr>
        <p:grpSpPr>
          <a:xfrm>
            <a:off x="1600431" y="2956416"/>
            <a:ext cx="6574886" cy="440249"/>
            <a:chOff x="652321" y="3343430"/>
            <a:chExt cx="6574886" cy="4402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68E2743-AEA6-3BB8-A08A-92B3CB8A942B}"/>
                    </a:ext>
                  </a:extLst>
                </p:cNvPr>
                <p:cNvSpPr txBox="1"/>
                <p:nvPr/>
              </p:nvSpPr>
              <p:spPr>
                <a:xfrm>
                  <a:off x="1095071" y="3343430"/>
                  <a:ext cx="6132136" cy="4402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ru-RU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ru-RU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ru-BY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68E2743-AEA6-3BB8-A08A-92B3CB8A9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071" y="3343430"/>
                  <a:ext cx="6132136" cy="440249"/>
                </a:xfrm>
                <a:prstGeom prst="rect">
                  <a:avLst/>
                </a:prstGeom>
                <a:blipFill>
                  <a:blip r:embed="rId7"/>
                  <a:stretch>
                    <a:fillRect b="-6944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F2E21D-96BE-DED5-F937-93FC7082A289}"/>
                </a:ext>
              </a:extLst>
            </p:cNvPr>
            <p:cNvSpPr txBox="1"/>
            <p:nvPr/>
          </p:nvSpPr>
          <p:spPr>
            <a:xfrm>
              <a:off x="652321" y="3413921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(2)</a:t>
              </a:r>
              <a:endParaRPr lang="ru-BY" dirty="0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36A59492-E71D-299B-C0C4-A4832FF178FB}"/>
              </a:ext>
            </a:extLst>
          </p:cNvPr>
          <p:cNvGrpSpPr/>
          <p:nvPr/>
        </p:nvGrpSpPr>
        <p:grpSpPr>
          <a:xfrm>
            <a:off x="1600432" y="4068803"/>
            <a:ext cx="8546458" cy="1012229"/>
            <a:chOff x="652321" y="4350917"/>
            <a:chExt cx="9035275" cy="821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CD68DAD-FEA3-AADF-37B2-9E78B81CE85B}"/>
                    </a:ext>
                  </a:extLst>
                </p:cNvPr>
                <p:cNvSpPr txBox="1"/>
                <p:nvPr/>
              </p:nvSpPr>
              <p:spPr>
                <a:xfrm>
                  <a:off x="1307518" y="4350917"/>
                  <a:ext cx="7542112" cy="4402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пр.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пр.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пр.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r>
                    <a:rPr lang="ru-RU" sz="2000" dirty="0"/>
                    <a:t>)</a:t>
                  </a:r>
                  <a:endParaRPr lang="ru-BY" sz="20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CD68DAD-FEA3-AADF-37B2-9E78B81CE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518" y="4350917"/>
                  <a:ext cx="7542112" cy="440249"/>
                </a:xfrm>
                <a:prstGeom prst="rect">
                  <a:avLst/>
                </a:prstGeom>
                <a:blipFill>
                  <a:blip r:embed="rId8"/>
                  <a:stretch>
                    <a:fillRect t="-2740" b="-17808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D20BD677-1E27-CD1F-8398-DE1F261FCA91}"/>
                </a:ext>
              </a:extLst>
            </p:cNvPr>
            <p:cNvGrpSpPr/>
            <p:nvPr/>
          </p:nvGrpSpPr>
          <p:grpSpPr>
            <a:xfrm>
              <a:off x="652321" y="4732237"/>
              <a:ext cx="9035275" cy="440249"/>
              <a:chOff x="652321" y="4732237"/>
              <a:chExt cx="9035275" cy="44024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88B4E6-FA04-362D-5E20-DE2CFC4F3C54}"/>
                  </a:ext>
                </a:extLst>
              </p:cNvPr>
              <p:cNvSpPr txBox="1"/>
              <p:nvPr/>
            </p:nvSpPr>
            <p:spPr>
              <a:xfrm>
                <a:off x="652321" y="4762940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(3)</a:t>
                </a:r>
                <a:endParaRPr lang="ru-BY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E39C978-B46E-AEF9-B14D-B2F2752EB172}"/>
                      </a:ext>
                    </a:extLst>
                  </p:cNvPr>
                  <p:cNvSpPr txBox="1"/>
                  <p:nvPr/>
                </p:nvSpPr>
                <p:spPr>
                  <a:xfrm>
                    <a:off x="2145484" y="4732237"/>
                    <a:ext cx="7542112" cy="44024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пр.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пр.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a14:m>
                    <a:r>
                      <a:rPr lang="ru-RU" sz="2000" dirty="0"/>
                      <a:t>)</a:t>
                    </a:r>
                    <a:endParaRPr lang="ru-BY" sz="200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E39C978-B46E-AEF9-B14D-B2F2752EB1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5484" y="4732237"/>
                    <a:ext cx="7542112" cy="44024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2778" b="-19444"/>
                    </a:stretch>
                  </a:blipFill>
                </p:spPr>
                <p:txBody>
                  <a:bodyPr/>
                  <a:lstStyle/>
                  <a:p>
                    <a:r>
                      <a:rPr lang="ru-BY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271794-0CA9-5A7A-9465-3BE67555C2C2}"/>
                  </a:ext>
                </a:extLst>
              </p:cNvPr>
              <p:cNvSpPr txBox="1"/>
              <p:nvPr/>
            </p:nvSpPr>
            <p:spPr>
              <a:xfrm>
                <a:off x="1087803" y="5319400"/>
                <a:ext cx="10563552" cy="77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Из (2) и (3) получаем, что для того, 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, </a:t>
                </a:r>
                <a:r>
                  <a:rPr lang="ru-RU" dirty="0"/>
                  <a:t>надо, чтобы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0: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пр.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0: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 </a:t>
                </a:r>
                <a:endParaRPr lang="ru-BY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271794-0CA9-5A7A-9465-3BE67555C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803" y="5319400"/>
                <a:ext cx="10563552" cy="775533"/>
              </a:xfrm>
              <a:prstGeom prst="rect">
                <a:avLst/>
              </a:prstGeom>
              <a:blipFill>
                <a:blip r:embed="rId10"/>
                <a:stretch>
                  <a:fillRect l="-462" t="-3937" b="-1023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8F01C55E-34DA-33A1-C785-10DB9B278A7C}"/>
              </a:ext>
            </a:extLst>
          </p:cNvPr>
          <p:cNvCxnSpPr>
            <a:cxnSpLocks/>
          </p:cNvCxnSpPr>
          <p:nvPr/>
        </p:nvCxnSpPr>
        <p:spPr>
          <a:xfrm>
            <a:off x="1050265" y="2052773"/>
            <a:ext cx="0" cy="41312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83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3" grpId="0" animBg="1"/>
      <p:bldP spid="2" grpId="0"/>
      <p:bldP spid="12" grpId="0"/>
      <p:bldP spid="2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FE3FBB8-1EAA-4F02-A252-C91166B7B09F}"/>
                  </a:ext>
                </a:extLst>
              </p:cNvPr>
              <p:cNvSpPr txBox="1"/>
              <p:nvPr/>
            </p:nvSpPr>
            <p:spPr>
              <a:xfrm>
                <a:off x="481378" y="432105"/>
                <a:ext cx="11467368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сравнение двух подстрок на равенство: если выполнить </a:t>
                </a:r>
                <a:r>
                  <a:rPr lang="ru-RU" sz="2000" dirty="0" err="1"/>
                  <a:t>предподсчёт</a:t>
                </a:r>
                <a:r>
                  <a:rPr lang="ru-RU" sz="2000" dirty="0"/>
                  <a:t> всех префиксов, то сравнение на равенство выполняется 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;</a:t>
                </a:r>
              </a:p>
              <a:p>
                <a:pPr algn="just"/>
                <a:endParaRPr lang="en-US" sz="2000" dirty="0"/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лексикографически сравнить две строки на больше (меньше): подсчитаем </a:t>
                </a:r>
                <a:r>
                  <a:rPr lang="ru-RU" sz="2000" dirty="0" err="1"/>
                  <a:t>хеши</a:t>
                </a:r>
                <a:r>
                  <a:rPr lang="ru-RU" sz="2000" dirty="0"/>
                  <a:t> всех префиксов строки </a:t>
                </a:r>
                <a:r>
                  <a:rPr lang="en-US" sz="2000" dirty="0"/>
                  <a:t>S</a:t>
                </a:r>
                <a:r>
                  <a:rPr lang="ru-RU" sz="2000" dirty="0"/>
                  <a:t>, тогда можно за время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func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лексикографически сравнить две строки на больше (меньше): дихотомией ищут такой наибольший индекс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/>
                  <a:t>, что префиксы обеих строк длины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/>
                  <a:t> равны, после чего сравнивают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2000" dirty="0"/>
                  <a:t>+1 символ соответствующих строк</a:t>
                </a:r>
                <a:r>
                  <a:rPr lang="en-US" sz="2000" dirty="0"/>
                  <a:t>;</a:t>
                </a:r>
                <a:endParaRPr lang="ru-RU" sz="2000" dirty="0"/>
              </a:p>
              <a:p>
                <a:pPr algn="just"/>
                <a:endParaRPr lang="en-US" sz="2000" dirty="0"/>
              </a:p>
              <a:p>
                <a:pPr marL="285750" indent="-285750" algn="justLow">
                  <a:buFont typeface="Wingdings" panose="05000000000000000000" pitchFamily="2" charset="2"/>
                  <a:buChar char="ü"/>
                </a:pPr>
                <a:r>
                  <a:rPr lang="ru-RU" sz="2000" dirty="0"/>
                  <a:t>за время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ru-RU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2000" dirty="0"/>
                  <a:t> можно найти все вхождения образца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 в текст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(</a:t>
                </a:r>
                <a:r>
                  <a:rPr lang="ru-RU" sz="2000" dirty="0"/>
                  <a:t>алгоритм Рабина (</a:t>
                </a:r>
                <a:r>
                  <a:rPr lang="ru-RU" sz="2000" dirty="0" err="1"/>
                  <a:t>Rabin</a:t>
                </a:r>
                <a:r>
                  <a:rPr lang="ru-RU" sz="2000" dirty="0"/>
                  <a:t>)- Карпа (</a:t>
                </a:r>
                <a:r>
                  <a:rPr lang="ru-RU" sz="2000" dirty="0" err="1"/>
                  <a:t>Karp</a:t>
                </a:r>
                <a:r>
                  <a:rPr lang="ru-RU" sz="2000" dirty="0"/>
                  <a:t>), 1987 год</a:t>
                </a:r>
                <a:r>
                  <a:rPr lang="en-US" sz="2000" dirty="0"/>
                  <a:t>)</a:t>
                </a:r>
                <a:r>
                  <a:rPr lang="ru-RU" sz="2000" dirty="0"/>
                  <a:t>: сначала для всех префиксов текста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000" dirty="0"/>
                  <a:t> вычислить </a:t>
                </a:r>
                <a:r>
                  <a:rPr lang="ru-RU" sz="2000" dirty="0" err="1"/>
                  <a:t>хеши</a:t>
                </a:r>
                <a:r>
                  <a:rPr lang="ru-RU" sz="2000" dirty="0"/>
                  <a:t>, вычислить </a:t>
                </a:r>
                <a:r>
                  <a:rPr lang="ru-RU" sz="2000" dirty="0" err="1"/>
                  <a:t>хеш</a:t>
                </a:r>
                <a:r>
                  <a:rPr lang="ru-RU" sz="2000" dirty="0"/>
                  <a:t> для образца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; </a:t>
                </a:r>
                <a:r>
                  <a:rPr lang="ru-RU" sz="2000" dirty="0"/>
                  <a:t>затем, двигаясь слева направо по тексту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000" dirty="0"/>
                  <a:t>,</a:t>
                </a:r>
                <a:r>
                  <a:rPr lang="en-US" sz="2000" dirty="0"/>
                  <a:t> </a:t>
                </a:r>
                <a:r>
                  <a:rPr lang="ru-RU" sz="2000" dirty="0"/>
                  <a:t>пробуем накладывать окно длины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FE3FBB8-1EAA-4F02-A252-C91166B7B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78" y="432105"/>
                <a:ext cx="11467368" cy="3477875"/>
              </a:xfrm>
              <a:prstGeom prst="rect">
                <a:avLst/>
              </a:prstGeom>
              <a:blipFill>
                <a:blip r:embed="rId2"/>
                <a:stretch>
                  <a:fillRect l="-478" t="-1053" r="-1063" b="-228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98E2710-0B54-40CA-8E77-E8DE28B9B5E4}"/>
              </a:ext>
            </a:extLst>
          </p:cNvPr>
          <p:cNvSpPr txBox="1"/>
          <p:nvPr/>
        </p:nvSpPr>
        <p:spPr>
          <a:xfrm>
            <a:off x="4069568" y="107390"/>
            <a:ext cx="38674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Применение хеширования строк</a:t>
            </a:r>
            <a:endParaRPr lang="ru-BY" sz="2000" b="1"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B6F87C9F-289B-4781-A4DA-4759D00B288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90592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4921120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989685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466091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17065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435874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049078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115217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1422636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63339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53355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9449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A8798B-FFC9-46D3-A4A9-AE4A7341B7FE}"/>
              </a:ext>
            </a:extLst>
          </p:cNvPr>
          <p:cNvSpPr txBox="1"/>
          <p:nvPr/>
        </p:nvSpPr>
        <p:spPr>
          <a:xfrm>
            <a:off x="1735124" y="386983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</a:t>
            </a:r>
            <a:endParaRPr lang="ru-BY" dirty="0"/>
          </a:p>
        </p:txBody>
      </p:sp>
      <p:graphicFrame>
        <p:nvGraphicFramePr>
          <p:cNvPr id="24" name="Таблица 5">
            <a:extLst>
              <a:ext uri="{FF2B5EF4-FFF2-40B4-BE49-F238E27FC236}">
                <a16:creationId xmlns:a16="http://schemas.microsoft.com/office/drawing/2014/main" id="{A9B6887B-1C14-49F3-8636-9AF07B9F3691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115539"/>
          <a:ext cx="243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4921120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989685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466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94499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254A6F4-B93F-4925-B8D3-A40B888AA06B}"/>
              </a:ext>
            </a:extLst>
          </p:cNvPr>
          <p:cNvSpPr txBox="1"/>
          <p:nvPr/>
        </p:nvSpPr>
        <p:spPr>
          <a:xfrm>
            <a:off x="3154382" y="441953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endParaRPr lang="ru-BY" dirty="0"/>
          </a:p>
        </p:txBody>
      </p:sp>
      <p:graphicFrame>
        <p:nvGraphicFramePr>
          <p:cNvPr id="28" name="Таблица 5">
            <a:extLst>
              <a:ext uri="{FF2B5EF4-FFF2-40B4-BE49-F238E27FC236}">
                <a16:creationId xmlns:a16="http://schemas.microsoft.com/office/drawing/2014/main" id="{24CF0CD1-8A27-40AF-9CC7-E244FDF3F211}"/>
              </a:ext>
            </a:extLst>
          </p:cNvPr>
          <p:cNvGraphicFramePr>
            <a:graphicFrameLocks noGrp="1"/>
          </p:cNvGraphicFramePr>
          <p:nvPr/>
        </p:nvGraphicFramePr>
        <p:xfrm>
          <a:off x="1939303" y="4911281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4921120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989685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466091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17065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435874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049078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115217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1422636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63339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53355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944999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E8F31812-214C-4D7F-848E-6710BCDACB99}"/>
              </a:ext>
            </a:extLst>
          </p:cNvPr>
          <p:cNvSpPr txBox="1"/>
          <p:nvPr/>
        </p:nvSpPr>
        <p:spPr>
          <a:xfrm>
            <a:off x="1642427" y="487519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</a:t>
            </a:r>
            <a:endParaRPr lang="ru-BY" dirty="0"/>
          </a:p>
        </p:txBody>
      </p:sp>
      <p:graphicFrame>
        <p:nvGraphicFramePr>
          <p:cNvPr id="32" name="Таблица 5">
            <a:extLst>
              <a:ext uri="{FF2B5EF4-FFF2-40B4-BE49-F238E27FC236}">
                <a16:creationId xmlns:a16="http://schemas.microsoft.com/office/drawing/2014/main" id="{B23A0735-9669-4A47-BE98-516BB3EC5845}"/>
              </a:ext>
            </a:extLst>
          </p:cNvPr>
          <p:cNvGraphicFramePr>
            <a:graphicFrameLocks noGrp="1"/>
          </p:cNvGraphicFramePr>
          <p:nvPr/>
        </p:nvGraphicFramePr>
        <p:xfrm>
          <a:off x="2759435" y="5119612"/>
          <a:ext cx="243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4921120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989685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466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944999"/>
                  </a:ext>
                </a:extLst>
              </a:tr>
            </a:tbl>
          </a:graphicData>
        </a:graphic>
      </p:graphicFrame>
      <p:graphicFrame>
        <p:nvGraphicFramePr>
          <p:cNvPr id="35" name="Таблица 5">
            <a:extLst>
              <a:ext uri="{FF2B5EF4-FFF2-40B4-BE49-F238E27FC236}">
                <a16:creationId xmlns:a16="http://schemas.microsoft.com/office/drawing/2014/main" id="{6548AC7D-622E-458D-B564-61B5E1A25195}"/>
              </a:ext>
            </a:extLst>
          </p:cNvPr>
          <p:cNvGraphicFramePr>
            <a:graphicFrameLocks noGrp="1"/>
          </p:cNvGraphicFramePr>
          <p:nvPr/>
        </p:nvGraphicFramePr>
        <p:xfrm>
          <a:off x="1999530" y="579462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4921120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989685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466091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17065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435874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049078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115217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1422636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63339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53355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94499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EE8E9E2-AAE4-49AB-8E8B-7B198287C0B9}"/>
              </a:ext>
            </a:extLst>
          </p:cNvPr>
          <p:cNvSpPr txBox="1"/>
          <p:nvPr/>
        </p:nvSpPr>
        <p:spPr>
          <a:xfrm>
            <a:off x="1702654" y="575853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</a:t>
            </a:r>
            <a:endParaRPr lang="ru-BY" dirty="0"/>
          </a:p>
        </p:txBody>
      </p:sp>
      <p:graphicFrame>
        <p:nvGraphicFramePr>
          <p:cNvPr id="37" name="Таблица 5">
            <a:extLst>
              <a:ext uri="{FF2B5EF4-FFF2-40B4-BE49-F238E27FC236}">
                <a16:creationId xmlns:a16="http://schemas.microsoft.com/office/drawing/2014/main" id="{8108FAA2-C1A7-45BA-86A1-A804266A7D85}"/>
              </a:ext>
            </a:extLst>
          </p:cNvPr>
          <p:cNvGraphicFramePr>
            <a:graphicFrameLocks noGrp="1"/>
          </p:cNvGraphicFramePr>
          <p:nvPr/>
        </p:nvGraphicFramePr>
        <p:xfrm>
          <a:off x="3625130" y="5954232"/>
          <a:ext cx="2438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4921120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989685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466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B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944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050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Общие задачи в </a:t>
            </a:r>
            <a:r>
              <a:rPr lang="en-US" dirty="0" err="1"/>
              <a:t>iRunner</a:t>
            </a:r>
            <a:r>
              <a:rPr lang="en-US" dirty="0"/>
              <a:t> </a:t>
            </a:r>
            <a:r>
              <a:rPr lang="ru-RU" dirty="0"/>
              <a:t>для закрепления навыков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74376" y="2238104"/>
            <a:ext cx="10650071" cy="907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144E9D"/>
                </a:solidFill>
                <a:effectLst/>
                <a:latin typeface="SFMono-Regular"/>
                <a:hlinkClick r:id="rId2"/>
              </a:rPr>
              <a:t>0.5. Хеш-таблица (разрешение коллизий метом открытой адресации)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396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4431" y="6413958"/>
            <a:ext cx="42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2024 год</a:t>
            </a:r>
          </a:p>
        </p:txBody>
      </p:sp>
    </p:spTree>
    <p:extLst>
      <p:ext uri="{BB962C8B-B14F-4D97-AF65-F5344CB8AC3E}">
        <p14:creationId xmlns:p14="http://schemas.microsoft.com/office/powerpoint/2010/main" val="36659706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12705</TotalTime>
  <Words>7093</Words>
  <Application>Microsoft Office PowerPoint</Application>
  <PresentationFormat>Широкоэкранный</PresentationFormat>
  <Paragraphs>958</Paragraphs>
  <Slides>79</Slides>
  <Notes>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91" baseType="lpstr">
      <vt:lpstr>Arial</vt:lpstr>
      <vt:lpstr>Calibri</vt:lpstr>
      <vt:lpstr>Calibri Light</vt:lpstr>
      <vt:lpstr>Cambria Math</vt:lpstr>
      <vt:lpstr>Consolas</vt:lpstr>
      <vt:lpstr>Courier New</vt:lpstr>
      <vt:lpstr>SFMono-Regular</vt:lpstr>
      <vt:lpstr>Symbol</vt:lpstr>
      <vt:lpstr>Times New Roman</vt:lpstr>
      <vt:lpstr>Wingdings</vt:lpstr>
      <vt:lpstr>Тема Office</vt:lpstr>
      <vt:lpstr>Equation</vt:lpstr>
      <vt:lpstr>Организация поиска  Хеширование </vt:lpstr>
      <vt:lpstr>Презентация PowerPoint</vt:lpstr>
      <vt:lpstr> Абстрактный тип данных: множество (set)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Общие задачи в iRunner для закрепления навыков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Victor Demianov</dc:creator>
  <cp:lastModifiedBy>Victor Demianov</cp:lastModifiedBy>
  <cp:revision>1332</cp:revision>
  <dcterms:created xsi:type="dcterms:W3CDTF">2020-04-14T05:04:13Z</dcterms:created>
  <dcterms:modified xsi:type="dcterms:W3CDTF">2024-11-25T19:07:59Z</dcterms:modified>
</cp:coreProperties>
</file>