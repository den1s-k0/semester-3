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2" r:id="rId2"/>
    <p:sldId id="363" r:id="rId3"/>
    <p:sldId id="364" r:id="rId4"/>
    <p:sldId id="345" r:id="rId5"/>
    <p:sldId id="352" r:id="rId6"/>
    <p:sldId id="359" r:id="rId7"/>
    <p:sldId id="344" r:id="rId8"/>
    <p:sldId id="358" r:id="rId9"/>
    <p:sldId id="360" r:id="rId10"/>
    <p:sldId id="356" r:id="rId11"/>
    <p:sldId id="263" r:id="rId12"/>
    <p:sldId id="403" r:id="rId13"/>
    <p:sldId id="341" r:id="rId14"/>
    <p:sldId id="342" r:id="rId15"/>
    <p:sldId id="426" r:id="rId16"/>
    <p:sldId id="355" r:id="rId17"/>
    <p:sldId id="354" r:id="rId18"/>
    <p:sldId id="424" r:id="rId19"/>
    <p:sldId id="425" r:id="rId20"/>
    <p:sldId id="357" r:id="rId21"/>
    <p:sldId id="427" r:id="rId22"/>
    <p:sldId id="428" r:id="rId23"/>
    <p:sldId id="40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94" autoAdjust="0"/>
  </p:normalViewPr>
  <p:slideViewPr>
    <p:cSldViewPr snapToGrid="0">
      <p:cViewPr varScale="1">
        <p:scale>
          <a:sx n="107" d="100"/>
          <a:sy n="107" d="100"/>
        </p:scale>
        <p:origin x="138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259A9-3A86-43F2-8EEA-2E8ACEF2D414}" type="datetimeFigureOut">
              <a:rPr lang="ru-RU" smtClean="0"/>
              <a:t>31.08.2025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C6387-718A-4A54-A45C-B847388D3C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79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D1483D-07A6-4C4B-A88B-5F4D1972733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91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1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4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6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434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58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3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1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96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2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76552-E558-4846-BB9C-6F97A16E9C82}" type="datetimeFigureOut">
              <a:rPr lang="ru-RU" smtClean="0"/>
              <a:pPr/>
              <a:t>31.08.2025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CB7-2943-489B-A12D-BC62224E8A2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fpmi.bsu.by/main.aspx?guid=3005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fpmi.bsu.by/main.aspx?guid=30051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hyperlink" Target="http://fpmi.bsu.by/main.aspx?guid=3932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m.bsu.by/" TargetMode="External"/><Relationship Id="rId2" Type="http://schemas.openxmlformats.org/officeDocument/2006/relationships/hyperlink" Target="https://edufpmi.bsu.by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m.bsu.b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cm.bsu.b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cm.bsu.b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Gd9wyfuhkzqwiQtMsUFpT4uw_Cgc-rAY/view?usp=share_link" TargetMode="External"/><Relationship Id="rId13" Type="http://schemas.openxmlformats.org/officeDocument/2006/relationships/hyperlink" Target="https://drive.google.com/file/d/1Zc9ad2ycl9NCwvunbHfkNApZ9NQTmes9/view?usp=sharing" TargetMode="External"/><Relationship Id="rId18" Type="http://schemas.openxmlformats.org/officeDocument/2006/relationships/hyperlink" Target="https://drive.google.com/file/d/15o9QDmH41rkT9oyPGhep501aJp_hCK7I/view?usp=share_link" TargetMode="External"/><Relationship Id="rId3" Type="http://schemas.openxmlformats.org/officeDocument/2006/relationships/hyperlink" Target="https://drive.google.com/file/d/1IwKxb0W9pSEEXx2qUJ-sADxI0wMxO-yY/view?usp=sharing" TargetMode="External"/><Relationship Id="rId7" Type="http://schemas.openxmlformats.org/officeDocument/2006/relationships/hyperlink" Target="https://drive.google.com/file/d/1J8fCdiVEdOq62nvTDOGHWmxKzdSHjuwG/view?usp=share_link" TargetMode="External"/><Relationship Id="rId12" Type="http://schemas.openxmlformats.org/officeDocument/2006/relationships/hyperlink" Target="https://drive.google.com/file/d/1WDO5vfxvjT96q3VyJaPbn6OvtNIGBNXT/view?usp=sharing" TargetMode="External"/><Relationship Id="rId17" Type="http://schemas.openxmlformats.org/officeDocument/2006/relationships/hyperlink" Target="https://drive.google.com/file/d/1rAxI7ITDHS_YnQCNnBazMPJ1jpj668I9/view?usp=sharing" TargetMode="External"/><Relationship Id="rId2" Type="http://schemas.openxmlformats.org/officeDocument/2006/relationships/image" Target="../media/image3.png"/><Relationship Id="rId16" Type="http://schemas.openxmlformats.org/officeDocument/2006/relationships/hyperlink" Target="https://drive.google.com/file/d/1edTYU1aW_nz8HKTMI49500gyoF84DZJI/view?usp=sharing" TargetMode="Externa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rive.google.com/file/d/1nlTrRAIUXXmToM-CEDItv7n7tahi0mam/view?usp=sharing" TargetMode="External"/><Relationship Id="rId11" Type="http://schemas.openxmlformats.org/officeDocument/2006/relationships/hyperlink" Target="https://drive.google.com/file/d/1kR80BTkoTxzOeqmvT8vErXY_SwaeiFiR/view?usp=sharing" TargetMode="External"/><Relationship Id="rId5" Type="http://schemas.openxmlformats.org/officeDocument/2006/relationships/hyperlink" Target="https://drive.google.com/file/d/1euiiezZ3qkPUILwR_BEkB5bwcumGBek6/view?usp=sharing" TargetMode="External"/><Relationship Id="rId15" Type="http://schemas.openxmlformats.org/officeDocument/2006/relationships/hyperlink" Target="https://drive.google.com/file/d/1LZWCjf8c3U2Pk7BStHaW566c5JGPryml/view?usp=share_link" TargetMode="External"/><Relationship Id="rId10" Type="http://schemas.openxmlformats.org/officeDocument/2006/relationships/hyperlink" Target="https://drive.google.com/file/d/1s_BBZMaNHKfVMbn_KTQ18UbQrslWFVmA/view?usp=sharing" TargetMode="External"/><Relationship Id="rId19" Type="http://schemas.openxmlformats.org/officeDocument/2006/relationships/hyperlink" Target="https://drive.google.com/file/d/1dG_92bY7v88EourBIkBm-HxnZHr7KWd0/view?usp=sharing" TargetMode="External"/><Relationship Id="rId4" Type="http://schemas.openxmlformats.org/officeDocument/2006/relationships/hyperlink" Target="https://drive.google.com/file/d/1odlUIuwQZuB9hztfi5Uu9o7f8ZWZ9SAy/view?usp=sharing" TargetMode="External"/><Relationship Id="rId9" Type="http://schemas.openxmlformats.org/officeDocument/2006/relationships/hyperlink" Target="https://drive.google.com/file/d/1UjE_lzaqpVT0sP13g7pfXU-_qZp1PGqV/view?usp=share_link" TargetMode="External"/><Relationship Id="rId14" Type="http://schemas.openxmlformats.org/officeDocument/2006/relationships/hyperlink" Target="https://drive.google.com/file/d/1hqdl2GA9iNM1um0HOCuC3uOk35w7o26j/view?usp=sharing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-SRhGvCJg7uLBF5PGu_owumumvpmPV_y/view?usp=sharing" TargetMode="External"/><Relationship Id="rId13" Type="http://schemas.openxmlformats.org/officeDocument/2006/relationships/hyperlink" Target="https://drive.google.com/file/d/1V15yM56vPBDPMQqGe-8V-FOeuLd87XU0/view?usp=sharing" TargetMode="External"/><Relationship Id="rId18" Type="http://schemas.openxmlformats.org/officeDocument/2006/relationships/hyperlink" Target="https://drive.google.com/file/d/10tcj3MeIaHXMc4kZseeKdISe-TR9aFq-/view?usp=sharing" TargetMode="External"/><Relationship Id="rId3" Type="http://schemas.openxmlformats.org/officeDocument/2006/relationships/hyperlink" Target="https://drive.google.com/file/d/1t-pefqa3ThEk0cUHKtbPL9ceCXETAvqJ/view?usp=share_link" TargetMode="External"/><Relationship Id="rId21" Type="http://schemas.openxmlformats.org/officeDocument/2006/relationships/hyperlink" Target="https://drive.google.com/file/d/1x8_YTBbKNACUeCM-fDeUWbcTwjejh7YC/view?usp=sharing" TargetMode="External"/><Relationship Id="rId7" Type="http://schemas.openxmlformats.org/officeDocument/2006/relationships/hyperlink" Target="https://acm.bsu.by/problems/3271/statement/?nav-folder=557" TargetMode="External"/><Relationship Id="rId12" Type="http://schemas.openxmlformats.org/officeDocument/2006/relationships/hyperlink" Target="https://drive.google.com/file/d/1yMWDe_cIMSULGMeY-u0g0TqiieSjZcSy/view?usp=sharing" TargetMode="External"/><Relationship Id="rId17" Type="http://schemas.openxmlformats.org/officeDocument/2006/relationships/hyperlink" Target="https://drive.google.com/file/d/1rNnlPPaeYirtD5apvKUsTtRLZfXnAJB0/view?usp=sharing" TargetMode="External"/><Relationship Id="rId2" Type="http://schemas.openxmlformats.org/officeDocument/2006/relationships/image" Target="../media/image3.png"/><Relationship Id="rId16" Type="http://schemas.openxmlformats.org/officeDocument/2006/relationships/hyperlink" Target="https://drive.google.com/file/d/15hU7JIh1T_7c7EPREoQ882JvSt2B1v1-/view?usp=sharing" TargetMode="External"/><Relationship Id="rId20" Type="http://schemas.openxmlformats.org/officeDocument/2006/relationships/hyperlink" Target="https://acm.bsu.by/problems/4157/statement/?nav-folder=557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rive.google.com/file/d/15rYuv3YoTkCnB37zRNgCX89h6yb5fmaP/view?usp=sharing" TargetMode="External"/><Relationship Id="rId11" Type="http://schemas.openxmlformats.org/officeDocument/2006/relationships/hyperlink" Target="https://drive.google.com/file/d/1Dd8B94pkwo803ZR-JLaIAMQSNUu2R4l7/view?usp=sharing" TargetMode="External"/><Relationship Id="rId5" Type="http://schemas.openxmlformats.org/officeDocument/2006/relationships/hyperlink" Target="https://drive.google.com/file/d/1kR80BTkoTxzOeqmvT8vErXY_SwaeiFiR/view?usp=sharing" TargetMode="External"/><Relationship Id="rId15" Type="http://schemas.openxmlformats.org/officeDocument/2006/relationships/hyperlink" Target="https://acm.bsu.by/problems/4139/statement/?nav-folder=557" TargetMode="External"/><Relationship Id="rId10" Type="http://schemas.openxmlformats.org/officeDocument/2006/relationships/hyperlink" Target="https://drive.google.com/file/d/1oML-5DQrYxL-XoSD9xCGioHqFN4_muYv/view?usp=sharing" TargetMode="External"/><Relationship Id="rId19" Type="http://schemas.openxmlformats.org/officeDocument/2006/relationships/hyperlink" Target="https://drive.google.com/file/d/1X2RmcoiAfYs7dBnXon8RxbN_o72ge4gI/view?usp=sharing" TargetMode="External"/><Relationship Id="rId4" Type="http://schemas.openxmlformats.org/officeDocument/2006/relationships/hyperlink" Target="https://drive.google.com/file/d/1UrXLJJRP6k7efrsSmkeQnq1Hg0TcNw7_/view?usp=share_link" TargetMode="External"/><Relationship Id="rId9" Type="http://schemas.openxmlformats.org/officeDocument/2006/relationships/hyperlink" Target="https://acm.bsu.by/problems/3563/statement/?nav-folder=557" TargetMode="External"/><Relationship Id="rId14" Type="http://schemas.openxmlformats.org/officeDocument/2006/relationships/hyperlink" Target="https://drive.google.com/file/d/1n_xLgP_2UaEUTLoUFgOoI3ugoYHFqWlw/view?usp=sharing" TargetMode="External"/><Relationship Id="rId22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m.bsu.by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lib.bsu.by/handle/123456789/8522" TargetMode="External"/><Relationship Id="rId7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lib.bsu.by/handle/123456789/255033" TargetMode="External"/><Relationship Id="rId5" Type="http://schemas.openxmlformats.org/officeDocument/2006/relationships/hyperlink" Target="https://elib.bsu.by/handle/123456789/181529" TargetMode="External"/><Relationship Id="rId4" Type="http://schemas.openxmlformats.org/officeDocument/2006/relationships/hyperlink" Target="https://elib.bsu.by/handle/123456789/91612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fpmi.bsu.by/mod/url/view.php?id=37420" TargetMode="External"/><Relationship Id="rId2" Type="http://schemas.openxmlformats.org/officeDocument/2006/relationships/hyperlink" Target="https://elib.bsu.by/handle/123456789/309510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ILGDed1miKTFxGUDq98e7GkYYqNoXq-/view?usp=sharin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vo_K2RAvIVOBRbIS9HF9kJq_6ZJEjNOe/view?usp=sharing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687555" y="6336912"/>
            <a:ext cx="4292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2025 год</a:t>
            </a:r>
            <a:endParaRPr lang="en-US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43000" y="2226943"/>
            <a:ext cx="101430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latin typeface="+mj-lt"/>
              </a:rPr>
              <a:t>Алгоритмы</a:t>
            </a:r>
            <a:r>
              <a:rPr lang="ru-RU" sz="4400" b="1" dirty="0">
                <a:latin typeface="+mj-lt"/>
              </a:rPr>
              <a:t> </a:t>
            </a:r>
            <a:r>
              <a:rPr lang="ru-RU" sz="5400" b="1" dirty="0">
                <a:latin typeface="+mj-lt"/>
              </a:rPr>
              <a:t>и структуры данных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610E429-5F12-0685-5088-BD793D66905B}"/>
              </a:ext>
            </a:extLst>
          </p:cNvPr>
          <p:cNvGrpSpPr/>
          <p:nvPr/>
        </p:nvGrpSpPr>
        <p:grpSpPr>
          <a:xfrm>
            <a:off x="3364658" y="3611938"/>
            <a:ext cx="6208124" cy="1200329"/>
            <a:chOff x="2442601" y="2984779"/>
            <a:chExt cx="6208124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2442601" y="2984780"/>
              <a:ext cx="231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/>
                <a:t>специальности: </a:t>
              </a:r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4657581" y="2984779"/>
              <a:ext cx="3993144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400" dirty="0"/>
                <a:t>«Прикладная информатика»</a:t>
              </a:r>
              <a:br>
                <a:rPr lang="ru-RU" sz="2400" dirty="0"/>
              </a:br>
              <a:r>
                <a:rPr lang="ru-RU" sz="2400" dirty="0"/>
                <a:t>«Прикладная криптография»</a:t>
              </a:r>
            </a:p>
            <a:p>
              <a:r>
                <a:rPr lang="ru-RU" sz="2400" dirty="0"/>
                <a:t>«Прикладная математика»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22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85808" y="1930625"/>
            <a:ext cx="7871721" cy="2313256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2000" b="1" dirty="0"/>
              <a:t>Соболевская Елена Павловна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2000" dirty="0"/>
              <a:t>доцент кафедры дискретной математики и </a:t>
            </a:r>
            <a:r>
              <a:rPr lang="ru-RU" sz="2000" dirty="0" err="1"/>
              <a:t>алгоритмики</a:t>
            </a:r>
            <a:r>
              <a:rPr lang="ru-RU" sz="2000" dirty="0"/>
              <a:t>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2000" dirty="0"/>
              <a:t>кандидат физико-математических наук, доцент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2000" dirty="0"/>
              <a:t>Лауреат премии имени А.Н. </a:t>
            </a:r>
            <a:r>
              <a:rPr lang="ru-RU" sz="2000" dirty="0" err="1"/>
              <a:t>Севченко</a:t>
            </a:r>
            <a:r>
              <a:rPr lang="ru-RU" sz="2000" dirty="0"/>
              <a:t> в номинации «Образование»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2000" dirty="0"/>
              <a:t>за цикл пособий по дискретной математике, проектированию и анализу алгоритмов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hlinkClick r:id="rId2"/>
              </a:rPr>
              <a:t>http://fpmi.bsu.by/main.aspx?guid=30051</a:t>
            </a:r>
            <a:r>
              <a:rPr lang="ru-RU" sz="1800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7" y="1930625"/>
            <a:ext cx="3917222" cy="26147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0" name="Рисунок 9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>
                <a:solidFill>
                  <a:schemeClr val="bg1"/>
                </a:solidFill>
              </a:rPr>
              <a:t>     Лектор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6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0" y="1392753"/>
            <a:ext cx="2847214" cy="1900780"/>
          </a:xfrm>
          <a:prstGeom prst="rect">
            <a:avLst/>
          </a:prstGeom>
        </p:spPr>
      </p:pic>
      <p:sp>
        <p:nvSpPr>
          <p:cNvPr id="9" name="Объект 2"/>
          <p:cNvSpPr txBox="1">
            <a:spLocks/>
          </p:cNvSpPr>
          <p:nvPr/>
        </p:nvSpPr>
        <p:spPr>
          <a:xfrm>
            <a:off x="3167843" y="1489446"/>
            <a:ext cx="8834717" cy="17073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b="1" dirty="0" err="1"/>
              <a:t>Буславский</a:t>
            </a:r>
            <a:r>
              <a:rPr lang="ru-RU" sz="1800" b="1" dirty="0"/>
              <a:t> Александр Андреевич</a:t>
            </a:r>
          </a:p>
          <a:p>
            <a:pPr marL="0" indent="0">
              <a:buNone/>
            </a:pPr>
            <a:r>
              <a:rPr lang="ru-RU" sz="1800" dirty="0"/>
              <a:t>старший преподаватель кафедры дискретной математики и </a:t>
            </a:r>
            <a:r>
              <a:rPr lang="ru-RU" sz="1800" dirty="0" err="1"/>
              <a:t>алгоритмики</a:t>
            </a:r>
            <a:r>
              <a:rPr lang="ru-RU" sz="1800" dirty="0"/>
              <a:t>, </a:t>
            </a:r>
          </a:p>
          <a:p>
            <a:pPr marL="0" indent="0">
              <a:buNone/>
            </a:pPr>
            <a:r>
              <a:rPr lang="ru-RU" sz="1800" dirty="0"/>
              <a:t>Лауреат специального фонда Президента Республики Беларусь по социальной поддержке одарённых учащихся и студентов.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/>
              <a:t> </a:t>
            </a:r>
            <a:r>
              <a:rPr lang="en-US" sz="1800" dirty="0">
                <a:hlinkClick r:id="rId4"/>
              </a:rPr>
              <a:t>http://fpmi.bsu.by/main.aspx?guid=39321</a:t>
            </a:r>
            <a:r>
              <a:rPr lang="ru-RU" sz="1800" dirty="0"/>
              <a:t>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5" name="Рисунок 14" descr="png..png"/>
          <p:cNvPicPr>
            <a:picLocks noChangeAspect="1"/>
          </p:cNvPicPr>
          <p:nvPr/>
        </p:nvPicPr>
        <p:blipFill>
          <a:blip r:embed="rId5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/>
              <a:t>Практические занятия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1B8F4D-0685-E94B-B5FC-77229E5A74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0" y="3866564"/>
            <a:ext cx="2912745" cy="1944255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0FAF6C50-401C-8954-6084-722C8FF7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43" y="3780378"/>
            <a:ext cx="7871721" cy="2313256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1800" b="1" dirty="0"/>
              <a:t>Соболевская Елена Павловна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800" dirty="0"/>
              <a:t>доцент кафедры дискретной математики и </a:t>
            </a:r>
            <a:r>
              <a:rPr lang="ru-RU" sz="1800" dirty="0" err="1"/>
              <a:t>алгоритмики</a:t>
            </a:r>
            <a:r>
              <a:rPr lang="ru-RU" sz="1800" dirty="0"/>
              <a:t>,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800" dirty="0"/>
              <a:t>кандидат физико-математических наук, доцент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800" dirty="0"/>
              <a:t>Лауреат премии имени А.Н. </a:t>
            </a:r>
            <a:r>
              <a:rPr lang="ru-RU" sz="1800" dirty="0" err="1"/>
              <a:t>Севченко</a:t>
            </a:r>
            <a:r>
              <a:rPr lang="ru-RU" sz="1800" dirty="0"/>
              <a:t> в номинации «Образование»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800" dirty="0"/>
              <a:t>за цикл пособий по дискретной математике, проектированию и анализу алгоритмов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hlinkClick r:id="rId8"/>
              </a:rPr>
              <a:t>http://fpmi.bsu.by/main.aspx?guid=30051</a:t>
            </a: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826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136510" y="2134150"/>
            <a:ext cx="10068269" cy="2539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/>
              <a:t>Информационно-коммуникационные технологии:</a:t>
            </a:r>
          </a:p>
          <a:p>
            <a:endParaRPr lang="ru-RU" dirty="0"/>
          </a:p>
          <a:p>
            <a:pPr marL="342900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800" dirty="0"/>
              <a:t>Образовательный портал БГУ </a:t>
            </a:r>
            <a:r>
              <a:rPr lang="en-US" sz="2800" dirty="0">
                <a:hlinkClick r:id="rId2"/>
              </a:rPr>
              <a:t>https://edufpmi.bsu.by</a:t>
            </a:r>
            <a:endParaRPr lang="ru-RU" sz="2800" dirty="0"/>
          </a:p>
          <a:p>
            <a:pPr marL="342900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800" dirty="0"/>
              <a:t>Образовательная платформа </a:t>
            </a:r>
            <a:r>
              <a:rPr lang="en-US" sz="2800" dirty="0"/>
              <a:t>Insight Runner  </a:t>
            </a:r>
            <a:r>
              <a:rPr lang="en-US" altLang="ru-R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https://acm.bsu.by/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000"/>
              </a:spcBef>
              <a:buFont typeface="+mj-lt"/>
              <a:buAutoNum type="arabicPeriod"/>
            </a:pPr>
            <a:r>
              <a:rPr lang="ru-RU" sz="2800" dirty="0"/>
              <a:t>Группы в мессенджере </a:t>
            </a:r>
            <a:r>
              <a:rPr lang="en-US" sz="2800" dirty="0"/>
              <a:t>Telegram</a:t>
            </a:r>
            <a:r>
              <a:rPr lang="ru-RU" sz="2800" dirty="0"/>
              <a:t>, сервисы </a:t>
            </a:r>
            <a:r>
              <a:rPr lang="en-US" sz="2800" dirty="0"/>
              <a:t>Google.</a:t>
            </a:r>
            <a:endParaRPr lang="ru-R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1" name="Рисунок 10" descr="png..png"/>
          <p:cNvPicPr>
            <a:picLocks noChangeAspect="1"/>
          </p:cNvPicPr>
          <p:nvPr/>
        </p:nvPicPr>
        <p:blipFill>
          <a:blip r:embed="rId4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0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bg1"/>
                </a:solidFill>
              </a:rPr>
              <a:t>Разработчик Образовательной  платформы </a:t>
            </a:r>
            <a:r>
              <a:rPr lang="en-US" sz="2400" dirty="0">
                <a:solidFill>
                  <a:schemeClr val="bg1"/>
                </a:solidFill>
              </a:rPr>
              <a:t>Insight Runner 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4921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77" y="1654739"/>
            <a:ext cx="4181766" cy="2791729"/>
          </a:xfrm>
          <a:prstGeom prst="rect">
            <a:avLst/>
          </a:prstGeom>
        </p:spPr>
      </p:pic>
      <p:sp>
        <p:nvSpPr>
          <p:cNvPr id="10" name="Объект 2"/>
          <p:cNvSpPr txBox="1">
            <a:spLocks/>
          </p:cNvSpPr>
          <p:nvPr/>
        </p:nvSpPr>
        <p:spPr>
          <a:xfrm>
            <a:off x="4628768" y="1734638"/>
            <a:ext cx="7186628" cy="27917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b="1" dirty="0">
                <a:solidFill>
                  <a:srgbClr val="0070C0"/>
                </a:solidFill>
              </a:rPr>
              <a:t>Соболь Сергей Александрович </a:t>
            </a:r>
            <a:endParaRPr lang="ru-RU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dirty="0"/>
              <a:t>инженер-программист ООО </a:t>
            </a:r>
            <a:r>
              <a:rPr lang="ru-RU" sz="2000" dirty="0" err="1"/>
              <a:t>ЯндексБел</a:t>
            </a:r>
            <a:r>
              <a:rPr lang="ru-RU" sz="2000" dirty="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dirty="0"/>
              <a:t>старший преподаватель кафедры дискретной математики и </a:t>
            </a:r>
            <a:r>
              <a:rPr lang="ru-RU" sz="2000" dirty="0" err="1"/>
              <a:t>алгоритмики</a:t>
            </a:r>
            <a:r>
              <a:rPr lang="ru-RU" sz="2000" dirty="0"/>
              <a:t> (2014-2020 год), </a:t>
            </a:r>
          </a:p>
          <a:p>
            <a:pPr marL="0" indent="0">
              <a:buNone/>
            </a:pPr>
            <a:r>
              <a:rPr lang="ru-RU" sz="2000" dirty="0"/>
              <a:t>магистр математики и информационных технологий,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</a:t>
            </a:r>
            <a:r>
              <a:rPr lang="ru-RU" sz="2000" dirty="0" err="1"/>
              <a:t>еребряная</a:t>
            </a:r>
            <a:r>
              <a:rPr lang="ru-RU" sz="2000" dirty="0"/>
              <a:t> медаль  </a:t>
            </a:r>
            <a:r>
              <a:rPr lang="en-US" sz="2000" dirty="0"/>
              <a:t>ACM ICPC 2013</a:t>
            </a:r>
            <a:r>
              <a:rPr lang="ru-RU" sz="2000" dirty="0"/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2" name="Рисунок 11" descr="png..png"/>
          <p:cNvPicPr>
            <a:picLocks noChangeAspect="1"/>
          </p:cNvPicPr>
          <p:nvPr/>
        </p:nvPicPr>
        <p:blipFill>
          <a:blip r:embed="rId3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3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-4117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323689" y="289679"/>
            <a:ext cx="26427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Insight Runner 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2" name="Рисунок 11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055440" y="1456528"/>
            <a:ext cx="92337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ru-RU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https://acm.bsu.by/</a:t>
            </a:r>
            <a:endParaRPr lang="en-US" alt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логин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2307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altLang="ru-RU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пароль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 умолчанию): 11111</a:t>
            </a:r>
            <a:endParaRPr lang="ru-RU" alt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40" y="4182913"/>
            <a:ext cx="5634625" cy="20370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5440" y="3096719"/>
            <a:ext cx="106572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solidFill>
                  <a:srgbClr val="FF0000"/>
                </a:solidFill>
              </a:rPr>
              <a:t>После первого входа в </a:t>
            </a:r>
            <a:r>
              <a:rPr lang="en-US" sz="2000" dirty="0" err="1">
                <a:solidFill>
                  <a:srgbClr val="FF0000"/>
                </a:solidFill>
              </a:rPr>
              <a:t>iRunner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ru-RU" sz="2000" dirty="0">
                <a:solidFill>
                  <a:srgbClr val="FF0000"/>
                </a:solidFill>
              </a:rPr>
              <a:t>необходимо сменить пароль и установить двухфакторную аутентификацию (для исключения противоправных действий в системе при несанкционированном доступе.)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59ABD9-08B6-8E75-DEAF-EB951BECC6CD}"/>
              </a:ext>
            </a:extLst>
          </p:cNvPr>
          <p:cNvSpPr txBox="1"/>
          <p:nvPr/>
        </p:nvSpPr>
        <p:spPr>
          <a:xfrm>
            <a:off x="5013027" y="1375167"/>
            <a:ext cx="756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год рег.</a:t>
            </a:r>
            <a:endParaRPr lang="ru-BY" sz="1400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E85A255-066C-CFE4-BE84-A1F5A65DFAF8}"/>
              </a:ext>
            </a:extLst>
          </p:cNvPr>
          <p:cNvCxnSpPr>
            <a:cxnSpLocks/>
          </p:cNvCxnSpPr>
          <p:nvPr/>
        </p:nvCxnSpPr>
        <p:spPr>
          <a:xfrm>
            <a:off x="5441541" y="1704567"/>
            <a:ext cx="0" cy="23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678F1B8-2E56-347A-203A-B54CA48453BF}"/>
              </a:ext>
            </a:extLst>
          </p:cNvPr>
          <p:cNvSpPr txBox="1"/>
          <p:nvPr/>
        </p:nvSpPr>
        <p:spPr>
          <a:xfrm>
            <a:off x="5672329" y="1394725"/>
            <a:ext cx="952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№ группы</a:t>
            </a:r>
            <a:endParaRPr lang="ru-BY" sz="1400" dirty="0"/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FBDF36E-6210-B850-E121-A4ABD963C464}"/>
              </a:ext>
            </a:extLst>
          </p:cNvPr>
          <p:cNvCxnSpPr>
            <a:cxnSpLocks/>
          </p:cNvCxnSpPr>
          <p:nvPr/>
        </p:nvCxnSpPr>
        <p:spPr>
          <a:xfrm>
            <a:off x="5938412" y="1693774"/>
            <a:ext cx="0" cy="244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5E23C1-299C-B856-387C-D0B9441D9486}"/>
              </a:ext>
            </a:extLst>
          </p:cNvPr>
          <p:cNvSpPr txBox="1"/>
          <p:nvPr/>
        </p:nvSpPr>
        <p:spPr>
          <a:xfrm>
            <a:off x="6484946" y="1629974"/>
            <a:ext cx="2919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№ в списке на момент регистрации</a:t>
            </a:r>
            <a:endParaRPr lang="ru-BY" sz="1400" dirty="0"/>
          </a:p>
        </p:txBody>
      </p: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14CBDEB8-45CB-B188-38DD-4709B9FCE6E5}"/>
              </a:ext>
            </a:extLst>
          </p:cNvPr>
          <p:cNvCxnSpPr>
            <a:cxnSpLocks/>
          </p:cNvCxnSpPr>
          <p:nvPr/>
        </p:nvCxnSpPr>
        <p:spPr>
          <a:xfrm flipH="1">
            <a:off x="6121506" y="1704566"/>
            <a:ext cx="429432" cy="267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299B4E33-A739-4F0B-E97B-695202114F5C}"/>
              </a:ext>
            </a:extLst>
          </p:cNvPr>
          <p:cNvCxnSpPr>
            <a:cxnSpLocks/>
          </p:cNvCxnSpPr>
          <p:nvPr/>
        </p:nvCxnSpPr>
        <p:spPr>
          <a:xfrm flipH="1" flipV="1">
            <a:off x="5689169" y="2184089"/>
            <a:ext cx="146459" cy="267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37A8A3-5488-1E1F-ABAC-71DC0807B7F9}"/>
              </a:ext>
            </a:extLst>
          </p:cNvPr>
          <p:cNvSpPr txBox="1"/>
          <p:nvPr/>
        </p:nvSpPr>
        <p:spPr>
          <a:xfrm>
            <a:off x="5835628" y="2345241"/>
            <a:ext cx="1191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шифр ФПМИ</a:t>
            </a:r>
            <a:endParaRPr lang="ru-BY" sz="1400" dirty="0"/>
          </a:p>
        </p:txBody>
      </p:sp>
    </p:spTree>
    <p:extLst>
      <p:ext uri="{BB962C8B-B14F-4D97-AF65-F5344CB8AC3E}">
        <p14:creationId xmlns:p14="http://schemas.microsoft.com/office/powerpoint/2010/main" val="265204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5" y="1271849"/>
            <a:ext cx="5818094" cy="55245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613" y="1271849"/>
            <a:ext cx="5737183" cy="5524538"/>
          </a:xfrm>
          <a:prstGeom prst="rect">
            <a:avLst/>
          </a:prstGeom>
        </p:spPr>
      </p:pic>
      <p:sp>
        <p:nvSpPr>
          <p:cNvPr id="4" name="Стрелка вправо 3"/>
          <p:cNvSpPr/>
          <p:nvPr/>
        </p:nvSpPr>
        <p:spPr>
          <a:xfrm>
            <a:off x="5298141" y="4034118"/>
            <a:ext cx="797859" cy="4482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36" y="236597"/>
            <a:ext cx="3024336" cy="768610"/>
          </a:xfrm>
          <a:prstGeom prst="rect">
            <a:avLst/>
          </a:prstGeom>
        </p:spPr>
      </p:pic>
      <p:sp>
        <p:nvSpPr>
          <p:cNvPr id="19" name="Прямоугольник 18"/>
          <p:cNvSpPr/>
          <p:nvPr/>
        </p:nvSpPr>
        <p:spPr>
          <a:xfrm>
            <a:off x="1055440" y="30045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-4117" y="30046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447662" y="194631"/>
            <a:ext cx="72966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Insight Runner </a:t>
            </a:r>
            <a:r>
              <a:rPr lang="en-US" sz="3200" b="1" dirty="0">
                <a:solidFill>
                  <a:schemeClr val="bg1"/>
                </a:solidFill>
              </a:rPr>
              <a:t>Wiki</a:t>
            </a:r>
            <a:endParaRPr lang="ru-RU" sz="3200" b="1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руководство по работе с системой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5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80" y="1241803"/>
            <a:ext cx="6946490" cy="54864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55440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2397551" y="328514"/>
            <a:ext cx="60267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Insight Runner </a:t>
            </a:r>
            <a:r>
              <a:rPr lang="en-US" sz="3200" b="1" dirty="0">
                <a:solidFill>
                  <a:schemeClr val="bg1"/>
                </a:solidFill>
              </a:rPr>
              <a:t>Wiki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9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8612" y="1559258"/>
            <a:ext cx="11992398" cy="3739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/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самоконтроля усвоения теоретического материала в  </a:t>
            </a:r>
            <a:r>
              <a:rPr lang="ru-RU" altLang="ru-RU" sz="2800" dirty="0" err="1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Insight</a:t>
            </a:r>
            <a:r>
              <a:rPr lang="ru-RU" altLang="ru-RU" sz="2800" dirty="0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altLang="ru-RU" sz="2800" dirty="0" err="1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Runner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разработана 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 тестов. </a:t>
            </a:r>
          </a:p>
          <a:p>
            <a:pPr lvl="0" algn="just"/>
            <a:r>
              <a:rPr lang="ru-RU" altLang="ru-RU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Тесты разработаны для большинства разделов учебной дисциплины.  </a:t>
            </a:r>
            <a:b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Ответы к тестам (на усмотрение преподавателя) могут быть открыты после прохождения теста 	всеми учащимися.</a:t>
            </a:r>
          </a:p>
          <a:p>
            <a:pPr lvl="0" algn="just"/>
            <a:endParaRPr lang="ru-RU" altLang="ru-RU" sz="24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alt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тесты в </a:t>
            </a:r>
            <a:r>
              <a:rPr lang="ru-RU" altLang="ru-RU" sz="2000" dirty="0" err="1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iRunner</a:t>
            </a:r>
            <a:r>
              <a:rPr lang="ru-RU" altLang="ru-RU" sz="2000" dirty="0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altLang="ru-RU" sz="2000" dirty="0">
                <a:solidFill>
                  <a:srgbClr val="144E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генерируются автоматически, то это позволяет бороться со списыванием. </a:t>
            </a:r>
            <a:b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altLang="ru-RU" sz="20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тест 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 в себя </a:t>
            </a:r>
            <a:r>
              <a:rPr lang="ru-RU" altLang="ru-RU" sz="28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тестовых вопросов (</a:t>
            </a:r>
            <a:r>
              <a:rPr lang="ru-RU" altLang="ru-RU" sz="28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минут) и его результат учитывается в рейтинговой оценке за работу в семестре.</a:t>
            </a:r>
            <a:endParaRPr lang="ru-RU" alt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55440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4117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055440" y="86466"/>
            <a:ext cx="7605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</a:p>
          <a:p>
            <a:pPr algn="ctr"/>
            <a:r>
              <a:rPr lang="ru-RU" sz="3200" dirty="0">
                <a:solidFill>
                  <a:schemeClr val="bg1"/>
                </a:solidFill>
              </a:rPr>
              <a:t>             тесты для самоконтроля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1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59557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292640" y="164585"/>
            <a:ext cx="709782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pPr algn="ctr"/>
            <a:r>
              <a:rPr lang="ru-RU" sz="3200" dirty="0">
                <a:solidFill>
                  <a:schemeClr val="bg1"/>
                </a:solidFill>
              </a:rPr>
              <a:t>                 тесты для самоконтроля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664" y="236597"/>
            <a:ext cx="3024336" cy="76861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0B6D51-95DA-AE1A-0DDF-0EB633071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77" y="1584339"/>
            <a:ext cx="10849340" cy="516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62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15112" y="1466173"/>
            <a:ext cx="11415746" cy="1646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закрепления на практике теоретических знаний</a:t>
            </a:r>
            <a:r>
              <a:rPr kumimoji="0" lang="ru-RU" altLang="ru-RU" sz="2800" b="0" i="0" u="none" strike="noStrike" cap="none" normalizeH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rgbClr val="3333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Insight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rgbClr val="3333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rgbClr val="3333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Runner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</a:t>
            </a:r>
            <a:r>
              <a:rPr lang="ru-RU" alt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общие задачи </a:t>
            </a:r>
            <a:r>
              <a:rPr lang="ru-RU" altLang="ru-RU" sz="28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(их должны выполнить все студенты).  </a:t>
            </a:r>
          </a:p>
          <a:p>
            <a:endParaRPr lang="ru-RU" altLang="ru-RU" sz="24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82808" y="3305890"/>
            <a:ext cx="100803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Общие задачи открываются в </a:t>
            </a:r>
            <a:r>
              <a:rPr lang="en-US" altLang="ru-RU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iRunner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как правило,</a:t>
            </a:r>
            <a:r>
              <a:rPr lang="en-US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 каждой лекции и нацелены на проработку базовых знаний по пройденному на лекции материалу. </a:t>
            </a:r>
          </a:p>
          <a:p>
            <a:pPr lvl="0" algn="just"/>
            <a:endParaRPr lang="ru-RU" altLang="ru-RU" sz="20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 задачи достаточно простые, не предполагают разработки сложных алгоритмов решения, а готовят студентов к решению индивидуальных задач.  </a:t>
            </a:r>
            <a:endParaRPr lang="ru-RU" alt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59557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145622" y="82292"/>
            <a:ext cx="67228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pPr algn="ctr"/>
            <a:r>
              <a:rPr lang="ru-RU" sz="3200" dirty="0">
                <a:solidFill>
                  <a:schemeClr val="bg1"/>
                </a:solidFill>
              </a:rPr>
              <a:t>общие задачи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78225" y="5101749"/>
            <a:ext cx="100803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может установить  крайний срок выполнения задания. Задания, выполненные с нарушением этого срока, в системе </a:t>
            </a:r>
            <a:r>
              <a:rPr lang="en-US" altLang="ru-RU" sz="2000" dirty="0" err="1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iRunner</a:t>
            </a:r>
            <a:r>
              <a:rPr lang="en-US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имеют особые пометки.</a:t>
            </a:r>
            <a:endParaRPr lang="ru-RU" sz="20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2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85129" y="1348666"/>
            <a:ext cx="8166349" cy="54630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 1. Рекуррентные соотношения (динамическое программирование)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Кувшинки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Единицы 1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Единицы 2 (модульная арифметика)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Оптимальное перемножение группы матриц 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Наибольшая общая подпоследовательность двух строк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LCS)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Наибольшая подпоследовательность-палиндром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Наибольшая возрастающая подпоследовательность (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Преобразование строк (взвешенное расстояние 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евенштейна)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 2. Структуры данных для организации поиска: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Бинарный поиск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BinarySearch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LowerBound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UpperBound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Построение бинарного поискового дерева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Удаление вершин из бинарного поискового дерева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Проверка является ли бинарное дерево поисковым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 3. Специальные структуры данных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Бинарная куча 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Кодирование Хаффмана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Биномиальная куча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Задача о сумме (реализация структур данных для 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выполенения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интервальных запросов)</a:t>
            </a:r>
          </a:p>
          <a:p>
            <a:pPr lvl="1"/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Дерево отрезков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  <a:hlinkClick r:id="rId1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Хеш-таблица (разрешение коллизий метом открытой адресации)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144E9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55440" y="39536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4209" y="39536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145622" y="82292"/>
            <a:ext cx="36984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общие задачи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43213" y="1343634"/>
            <a:ext cx="7817223" cy="4724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 4. Строковые алгоритмы и структуры данных (</a:t>
            </a:r>
            <a:r>
              <a:rPr kumimoji="0" lang="ru-RU" altLang="ru-RU" sz="1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желающих, выполняются в обязательном порядке студентами специальности Информатика</a:t>
            </a: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sng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Циклический сдвиг</a:t>
            </a:r>
            <a:endParaRPr kumimoji="0" lang="ru-RU" altLang="ru-RU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Суффиксный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массив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 5. Алгоритмы на графах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Матрица смежности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Канонический вид (по списку дуг)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Список смежности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Канонический вид (по матрице смежности)</a:t>
            </a: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Строительство дорог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Разрушение дорог  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Разрушение дорог (большие ограничения)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BFS (поиск в ширину)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DFS (поиск в глубину)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Кратчайший путь. Алгоритм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Дейкстры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Максимальный поток в сети (простая версия)</a:t>
            </a:r>
            <a:b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Максимальный поток в сети (большие ограничения, только для желающих)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59557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145622" y="82292"/>
            <a:ext cx="36984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r>
              <a:rPr lang="ru-RU" sz="3200" dirty="0">
                <a:solidFill>
                  <a:schemeClr val="bg1"/>
                </a:solidFill>
              </a:rPr>
              <a:t>(общие задачи)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6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6" name="Рисунок 5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1184397"/>
            <a:ext cx="12039600" cy="527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учебной дисциплины студентами также выполняются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индивидуальные задачи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Число индивидуальных задач - по каждой </a:t>
            </a:r>
            <a:r>
              <a:rPr lang="ru-RU" altLang="ru-RU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 5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 курса не менее одной. </a:t>
            </a:r>
            <a:endParaRPr lang="ru-RU" altLang="ru-RU" dirty="0">
              <a:solidFill>
                <a:srgbClr val="212529"/>
              </a:solidFill>
              <a:latin typeface="SFMono-Regular"/>
              <a:cs typeface="Times New Roman" panose="02020603050405020304" pitchFamily="18" charset="0"/>
            </a:endParaRPr>
          </a:p>
          <a:p>
            <a:pPr lvl="2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Индивидуальная задача предполагает разработку эффективного алгоритма решения задачи с 	последующей реализацией его в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44E9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Insight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44E9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Runne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любом языке программирования.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2016 г. в учебных курсах </a:t>
            </a:r>
            <a:r>
              <a:rPr kumimoji="0" lang="ru-RU" altLang="ru-RU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ограничивается до пяти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число решений,  которые можно отправить по каждой из назначенных задач в течение суток. </a:t>
            </a:r>
          </a:p>
          <a:p>
            <a:pPr lvl="2" algn="just"/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протяжении любого 24-часового отрезка времени разрешается отправить не более чем 5 решений по каждой задаче. Ограничение не привязано к наступлению новых суток в 00:00. Решения с вердиктом «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Ошибка компиляции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а также решения, в которых не пройдены тесты из условия задачи (остальные тесты не проверяются), при подсчёт оставшихся попыток игнорируются.</a:t>
            </a:r>
          </a:p>
          <a:p>
            <a:pPr lvl="1" algn="just"/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Отметим, что в течение многих лет для всех студентов, которые работали в старой версии системы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Insight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Runne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действовало ограничение в 20 попыток по задаче в семестр. Это ограничение 	нельзя было увеличить индивидуально. Политика ограничения числа посылок в день вместо 	ограничения общего числа посылок является более гибкой и применяется во многих системах, 	например на платформе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lvl="1" algn="just"/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2125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Призываем вас более качественно тестировать свои решения перед отправкой!!!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59557" y="-1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059558" y="82292"/>
            <a:ext cx="71954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pPr lvl="4"/>
            <a:r>
              <a:rPr lang="ru-RU" sz="3200" dirty="0">
                <a:solidFill>
                  <a:schemeClr val="bg1"/>
                </a:solidFill>
              </a:rPr>
              <a:t>индивидуальные задачи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664" y="236597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1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1F4EF0CC-2E31-25E1-9F46-DE2DA4CA1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A2E728-0041-44AC-1A99-68A6B38C4E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DAD1C4-0393-9F24-48D8-201617DD5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979374-E104-2CD3-F574-120AC5025B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1DC86A-950A-30F6-0083-0DACFF946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2" y="552053"/>
            <a:ext cx="12073467" cy="575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38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2" name="Рисунок 11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059558" y="30409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1059558" y="82292"/>
            <a:ext cx="478451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pPr algn="ctr"/>
            <a:r>
              <a:rPr lang="ru-RU" sz="3200" dirty="0">
                <a:solidFill>
                  <a:schemeClr val="bg1"/>
                </a:solidFill>
              </a:rPr>
              <a:t>проверка на плагиат</a:t>
            </a:r>
          </a:p>
          <a:p>
            <a:r>
              <a:rPr lang="ru-RU" sz="3200" dirty="0">
                <a:solidFill>
                  <a:schemeClr val="bg1"/>
                </a:solidFill>
              </a:rPr>
              <a:t>)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664" y="236597"/>
            <a:ext cx="3024336" cy="76861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30" y="1478401"/>
            <a:ext cx="10058400" cy="5175885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H="1">
            <a:off x="10822024" y="2286000"/>
            <a:ext cx="536258" cy="3720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357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1157995" y="6627034"/>
            <a:ext cx="10340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1600" dirty="0">
                <a:solidFill>
                  <a:srgbClr val="144E9D"/>
                </a:solidFill>
              </a:rPr>
              <a:t>ФПМИ БГУ</a:t>
            </a:r>
          </a:p>
        </p:txBody>
      </p:sp>
      <p:pic>
        <p:nvPicPr>
          <p:cNvPr id="12" name="Рисунок 11" descr="png..png"/>
          <p:cNvPicPr>
            <a:picLocks noChangeAspect="1"/>
          </p:cNvPicPr>
          <p:nvPr/>
        </p:nvPicPr>
        <p:blipFill>
          <a:blip r:embed="rId2" cstate="print"/>
          <a:srcRect r="82957"/>
          <a:stretch>
            <a:fillRect/>
          </a:stretch>
        </p:blipFill>
        <p:spPr>
          <a:xfrm>
            <a:off x="10933610" y="6425188"/>
            <a:ext cx="259107" cy="38651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0" y="1427379"/>
            <a:ext cx="10058400" cy="499301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59558" y="30409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59558" y="82292"/>
            <a:ext cx="47845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Insight Runner</a:t>
            </a:r>
            <a:endParaRPr lang="ru-RU" sz="3200" b="1" dirty="0">
              <a:solidFill>
                <a:schemeClr val="bg1"/>
              </a:solidFill>
            </a:endParaRPr>
          </a:p>
          <a:p>
            <a:pPr algn="ctr"/>
            <a:r>
              <a:rPr lang="ru-RU" sz="3200" dirty="0">
                <a:solidFill>
                  <a:schemeClr val="bg1"/>
                </a:solidFill>
              </a:rPr>
              <a:t>проверка на плагиат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30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FE35D40F-9BDB-6CD6-7606-D384ACBCF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E51A53-C0E6-3D24-FC6F-2673CF1B148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BY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415CA3-8A07-1FA3-9ECF-0D3700AA1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79" y="369332"/>
            <a:ext cx="10398655" cy="6537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263FCE-D71A-C524-3F5F-58055FEAED65}"/>
              </a:ext>
            </a:extLst>
          </p:cNvPr>
          <p:cNvSpPr txBox="1"/>
          <p:nvPr/>
        </p:nvSpPr>
        <p:spPr>
          <a:xfrm>
            <a:off x="4123267" y="0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ДОВЕРЯЙ, НО ПРОВЕРЯЙ</a:t>
            </a:r>
            <a:r>
              <a:rPr lang="en-US"/>
              <a:t> …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859871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B42C5D5-6AA4-3D0A-0BDC-F5106854A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788587"/>
              </p:ext>
            </p:extLst>
          </p:nvPr>
        </p:nvGraphicFramePr>
        <p:xfrm>
          <a:off x="3505113" y="1908626"/>
          <a:ext cx="4067175" cy="423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975">
                  <a:extLst>
                    <a:ext uri="{9D8B030D-6E8A-4147-A177-3AD203B41FA5}">
                      <a16:colId xmlns:a16="http://schemas.microsoft.com/office/drawing/2014/main" val="3173180988"/>
                    </a:ext>
                  </a:extLst>
                </a:gridCol>
                <a:gridCol w="2772200">
                  <a:extLst>
                    <a:ext uri="{9D8B030D-6E8A-4147-A177-3AD203B41FA5}">
                      <a16:colId xmlns:a16="http://schemas.microsoft.com/office/drawing/2014/main" val="3370620191"/>
                    </a:ext>
                  </a:extLst>
                </a:gridCol>
              </a:tblGrid>
              <a:tr h="67427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Число принятых решений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</a:rPr>
                        <a:t>на 31.08.2025</a:t>
                      </a:r>
                      <a:r>
                        <a:rPr lang="ru-RU" sz="1600" dirty="0"/>
                        <a:t>24 </a:t>
                      </a:r>
                      <a:r>
                        <a:rPr lang="ru-RU" dirty="0"/>
                        <a:t>г.</a:t>
                      </a:r>
                      <a:endParaRPr lang="ru-B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Число принятых решений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на 12.01.2024 г. (начиная с  2003 г.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/>
                        <a:t>на 12.01.2024 г.</a:t>
                      </a:r>
                      <a:endParaRPr lang="ru-B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39473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ru-RU" sz="2400" b="1" dirty="0"/>
                        <a:t>С++</a:t>
                      </a:r>
                      <a:endParaRPr lang="ru-BY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161  133</a:t>
                      </a:r>
                      <a:endParaRPr lang="ru-BY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99614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en-US" sz="2400" b="1" dirty="0"/>
                        <a:t>Java</a:t>
                      </a:r>
                      <a:endParaRPr lang="ru-BY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  1</a:t>
                      </a:r>
                      <a:r>
                        <a:rPr lang="ru-RU" sz="2400" b="1" dirty="0"/>
                        <a:t>6</a:t>
                      </a:r>
                      <a:r>
                        <a:rPr lang="en-US" sz="2400" b="1" dirty="0"/>
                        <a:t> </a:t>
                      </a:r>
                      <a:r>
                        <a:rPr lang="ru-RU" sz="2400" b="1" dirty="0"/>
                        <a:t> 590</a:t>
                      </a:r>
                      <a:endParaRPr lang="ru-BY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480523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Python</a:t>
                      </a:r>
                      <a:endParaRPr lang="ru-BY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     </a:t>
                      </a:r>
                      <a:r>
                        <a:rPr lang="ru-RU" sz="2400" b="1" dirty="0"/>
                        <a:t>9</a:t>
                      </a:r>
                      <a:r>
                        <a:rPr lang="en-US" sz="2400" b="1" dirty="0"/>
                        <a:t> </a:t>
                      </a:r>
                      <a:r>
                        <a:rPr lang="ru-RU" sz="2400" b="1" dirty="0"/>
                        <a:t> 382</a:t>
                      </a:r>
                      <a:endParaRPr lang="ru-BY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574589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Pascal</a:t>
                      </a:r>
                      <a:endParaRPr lang="ru-BY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       3</a:t>
                      </a:r>
                      <a:r>
                        <a:rPr lang="en-US" b="1" dirty="0"/>
                        <a:t> </a:t>
                      </a:r>
                      <a:r>
                        <a:rPr lang="ru-RU" b="1" dirty="0"/>
                        <a:t> 237</a:t>
                      </a:r>
                      <a:r>
                        <a:rPr lang="en-US" b="1" dirty="0"/>
                        <a:t> </a:t>
                      </a:r>
                      <a:endParaRPr lang="ru-BY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443882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en-US" sz="2000" dirty="0"/>
                        <a:t>Delphi</a:t>
                      </a:r>
                      <a:endParaRPr lang="ru-BY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</a:t>
                      </a:r>
                      <a:r>
                        <a:rPr lang="ru-RU" b="1" dirty="0"/>
                        <a:t>   </a:t>
                      </a:r>
                      <a:r>
                        <a:rPr lang="en-US" b="1" dirty="0"/>
                        <a:t>2 </a:t>
                      </a:r>
                      <a:r>
                        <a:rPr lang="ru-RU" b="1" dirty="0"/>
                        <a:t> </a:t>
                      </a:r>
                      <a:r>
                        <a:rPr lang="en-US" b="1" dirty="0"/>
                        <a:t>62</a:t>
                      </a:r>
                      <a:r>
                        <a:rPr lang="ru-RU" b="1" dirty="0"/>
                        <a:t>2</a:t>
                      </a:r>
                      <a:endParaRPr lang="ru-BY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713806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en-US" sz="2000" dirty="0"/>
                        <a:t>C#</a:t>
                      </a:r>
                      <a:endParaRPr lang="ru-BY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</a:t>
                      </a:r>
                      <a:r>
                        <a:rPr lang="ru-RU" b="1" dirty="0"/>
                        <a:t>   </a:t>
                      </a:r>
                      <a:r>
                        <a:rPr lang="en-US" b="1" dirty="0"/>
                        <a:t> 2 </a:t>
                      </a:r>
                      <a:r>
                        <a:rPr lang="ru-RU" b="1" dirty="0"/>
                        <a:t> 448</a:t>
                      </a:r>
                      <a:endParaRPr lang="ru-BY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666904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ru-RU" sz="2000" dirty="0"/>
                        <a:t>С</a:t>
                      </a:r>
                      <a:endParaRPr lang="ru-BY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       1  997</a:t>
                      </a:r>
                      <a:endParaRPr lang="ru-BY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244661"/>
                  </a:ext>
                </a:extLst>
              </a:tr>
              <a:tr h="438279">
                <a:tc>
                  <a:txBody>
                    <a:bodyPr/>
                    <a:lstStyle/>
                    <a:p>
                      <a:r>
                        <a:rPr lang="en-US" sz="2000" dirty="0"/>
                        <a:t>Kotlin</a:t>
                      </a:r>
                      <a:endParaRPr lang="ru-BY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       </a:t>
                      </a:r>
                      <a:r>
                        <a:rPr lang="ru-RU" b="1" dirty="0"/>
                        <a:t>  </a:t>
                      </a:r>
                      <a:r>
                        <a:rPr lang="en-US" b="1" dirty="0"/>
                        <a:t> </a:t>
                      </a:r>
                      <a:r>
                        <a:rPr lang="ru-RU" b="1" dirty="0"/>
                        <a:t> 435</a:t>
                      </a:r>
                      <a:endParaRPr lang="ru-BY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4682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D3A799-2B29-A864-7B16-B52D6D07B8C3}"/>
              </a:ext>
            </a:extLst>
          </p:cNvPr>
          <p:cNvSpPr txBox="1"/>
          <p:nvPr/>
        </p:nvSpPr>
        <p:spPr>
          <a:xfrm>
            <a:off x="-24301" y="104678"/>
            <a:ext cx="51162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Отправлено с 2003г. в </a:t>
            </a:r>
            <a:r>
              <a:rPr lang="en-US" sz="2400" dirty="0" err="1"/>
              <a:t>iRunner</a:t>
            </a:r>
            <a:r>
              <a:rPr lang="ru-RU" sz="2400" dirty="0"/>
              <a:t>: </a:t>
            </a:r>
          </a:p>
          <a:p>
            <a:endParaRPr lang="ru-RU" sz="2400" dirty="0"/>
          </a:p>
          <a:p>
            <a:pPr lvl="1"/>
            <a:r>
              <a:rPr lang="ru-RU" sz="2400" b="1" dirty="0"/>
              <a:t>918  337 </a:t>
            </a:r>
            <a:r>
              <a:rPr lang="ru-RU" sz="2400" dirty="0"/>
              <a:t>решений, </a:t>
            </a:r>
          </a:p>
          <a:p>
            <a:endParaRPr lang="ru-RU" sz="2400" dirty="0"/>
          </a:p>
          <a:p>
            <a:r>
              <a:rPr lang="ru-RU" sz="2400" dirty="0"/>
              <a:t>из которых </a:t>
            </a:r>
            <a:r>
              <a:rPr lang="ru-RU" sz="2400" b="1" dirty="0">
                <a:solidFill>
                  <a:schemeClr val="accent6"/>
                </a:solidFill>
              </a:rPr>
              <a:t>принято </a:t>
            </a:r>
          </a:p>
          <a:p>
            <a:pPr lvl="1"/>
            <a:r>
              <a:rPr lang="ru-RU" sz="2400" b="1" dirty="0"/>
              <a:t>206  489</a:t>
            </a:r>
            <a:r>
              <a:rPr lang="en-US" sz="2400" b="1" dirty="0"/>
              <a:t> (22%)</a:t>
            </a:r>
            <a:r>
              <a:rPr lang="ru-RU" sz="2400" b="1" dirty="0"/>
              <a:t>.</a:t>
            </a:r>
            <a:endParaRPr lang="ru-BY" sz="2400" b="1" dirty="0"/>
          </a:p>
        </p:txBody>
      </p:sp>
      <p:pic>
        <p:nvPicPr>
          <p:cNvPr id="1026" name="Picture 2" descr="Здесь вы можете купить пьедестал почёта &quot;Классика&quot;">
            <a:extLst>
              <a:ext uri="{FF2B5EF4-FFF2-40B4-BE49-F238E27FC236}">
                <a16:creationId xmlns:a16="http://schemas.microsoft.com/office/drawing/2014/main" id="{C130D979-EEFC-A843-8D5D-18EE8A56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509" y="1952625"/>
            <a:ext cx="3095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A74E6F2-719E-F5EA-9B64-E5819D9B70CB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9281138" y="1256126"/>
            <a:ext cx="9891" cy="11247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FD6D380-68FD-273A-8108-C3B4DC64253D}"/>
              </a:ext>
            </a:extLst>
          </p:cNvPr>
          <p:cNvGrpSpPr/>
          <p:nvPr/>
        </p:nvGrpSpPr>
        <p:grpSpPr>
          <a:xfrm>
            <a:off x="8264030" y="1590578"/>
            <a:ext cx="576568" cy="724092"/>
            <a:chOff x="8158186" y="1656799"/>
            <a:chExt cx="576568" cy="7240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BF1293-D505-D23E-FF89-9C10F221D271}"/>
                </a:ext>
              </a:extLst>
            </p:cNvPr>
            <p:cNvSpPr txBox="1"/>
            <p:nvPr/>
          </p:nvSpPr>
          <p:spPr>
            <a:xfrm>
              <a:off x="8158186" y="1656799"/>
              <a:ext cx="576568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Java</a:t>
              </a:r>
              <a:endParaRPr lang="ru-BY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A8424506-153C-16AB-0A55-E3C25755F2C2}"/>
                </a:ext>
              </a:extLst>
            </p:cNvPr>
            <p:cNvCxnSpPr>
              <a:cxnSpLocks/>
            </p:cNvCxnSpPr>
            <p:nvPr/>
          </p:nvCxnSpPr>
          <p:spPr>
            <a:xfrm>
              <a:off x="8433706" y="2026131"/>
              <a:ext cx="12763" cy="354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7CE2533-CBE6-EE56-11D9-CF36CC8E54B3}"/>
              </a:ext>
            </a:extLst>
          </p:cNvPr>
          <p:cNvSpPr txBox="1"/>
          <p:nvPr/>
        </p:nvSpPr>
        <p:spPr>
          <a:xfrm>
            <a:off x="9020730" y="886794"/>
            <a:ext cx="54059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C++</a:t>
            </a:r>
            <a:endParaRPr lang="ru-BY" dirty="0">
              <a:solidFill>
                <a:schemeClr val="bg1"/>
              </a:solidFill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A93E4FA-792C-93F9-E5B2-906CBDAE1811}"/>
              </a:ext>
            </a:extLst>
          </p:cNvPr>
          <p:cNvGrpSpPr/>
          <p:nvPr/>
        </p:nvGrpSpPr>
        <p:grpSpPr>
          <a:xfrm>
            <a:off x="9920721" y="2053643"/>
            <a:ext cx="852413" cy="680133"/>
            <a:chOff x="8195819" y="1691598"/>
            <a:chExt cx="852413" cy="680133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65D80D-FA85-6E51-D78E-ECE343141FF1}"/>
                </a:ext>
              </a:extLst>
            </p:cNvPr>
            <p:cNvSpPr txBox="1"/>
            <p:nvPr/>
          </p:nvSpPr>
          <p:spPr>
            <a:xfrm>
              <a:off x="8195819" y="1691598"/>
              <a:ext cx="852413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Python</a:t>
              </a:r>
              <a:endParaRPr lang="ru-BY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6EB47990-007A-1C2D-DB0E-07C9B452648A}"/>
                </a:ext>
              </a:extLst>
            </p:cNvPr>
            <p:cNvCxnSpPr>
              <a:cxnSpLocks/>
            </p:cNvCxnSpPr>
            <p:nvPr/>
          </p:nvCxnSpPr>
          <p:spPr>
            <a:xfrm>
              <a:off x="8622026" y="2016971"/>
              <a:ext cx="12763" cy="354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197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" y="1365176"/>
            <a:ext cx="3449542" cy="4479812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574899" y="1566894"/>
            <a:ext cx="862121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Котов, В. М. Алгоритмы и структуры данных : учеб. пособие / В.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Котов, Е.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Соболевская, А.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Толстиков. – Минск : БГУ, 2011.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267 с. – (Классическое университетское издание). [Электронный ресурс]. – Режим доступа: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://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elib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.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bsu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.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by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/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handle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/123456789/8522</a:t>
            </a:r>
            <a:endParaRPr lang="ru-RU" sz="1600" u="none" strike="noStrike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Теория алгоритмов : учеб. пособие / П.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А.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Иржавский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др.] – Минск : БГУ, 2013. – 159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с. [Электронный ресурс]. – Режим доступа: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://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elib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.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bsu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.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by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/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handle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/123456789/91612</a:t>
            </a:r>
            <a:endParaRPr lang="ru-RU" sz="1600" u="none" strike="noStrike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Сборник задач по теории алгоритмов : учеб.-метод. пособие / В.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Котов [и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др.] – Минск : БГУ, 2017. – 183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с. [Электронный ресурс]. – Режим доступа: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://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elib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.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bsu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.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by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/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handle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/123456789/181529</a:t>
            </a:r>
            <a:endParaRPr lang="ru-RU" sz="1600" u="none" strike="noStrike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sz="16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Сборник задач по теории алгоритмов. Структуры данных : учеб.-метод. пособие / С.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Соболь [и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др.] – Минск : БГУ, 2020. – 159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с.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Электронный ресурс]. – Режим доступа: 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https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://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elib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.</a:t>
            </a:r>
            <a:r>
              <a:rPr lang="en-US" sz="1600" u="none" strike="noStrike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bsu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.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by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/</a:t>
            </a:r>
            <a:r>
              <a:rPr lang="en-US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handle</a:t>
            </a:r>
            <a:r>
              <a:rPr lang="ru-RU" sz="1600" u="none" strike="noStrike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/123456789/255033</a:t>
            </a:r>
            <a:endParaRPr lang="ru-RU" sz="1600" u="none" strike="noStrike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5871" y="664805"/>
            <a:ext cx="1934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Литература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059558" y="30409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1295278" y="372417"/>
            <a:ext cx="7444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Литература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8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04E5-A61F-CC80-6542-DE55387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20700DF-5D80-1126-52EE-891B9F47E789}"/>
              </a:ext>
            </a:extLst>
          </p:cNvPr>
          <p:cNvSpPr/>
          <p:nvPr/>
        </p:nvSpPr>
        <p:spPr>
          <a:xfrm>
            <a:off x="329036" y="1588486"/>
            <a:ext cx="1153392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  <a:tabLst>
                <a:tab pos="228600" algn="l"/>
              </a:tabLst>
            </a:pP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и структуры данных : электронный учебно-методический комплекс для специальностей: 6-05-0533-09 «Прикладная математика», 6-05-0533-10 «Информатика», 6-05-0533-11 «Прикладная информатика», 1-31 03 04 «Информатика», направлений специальностей: 1-31 03 03-01 «Прикладная математика (научно-производственная деятельность)», 1-31 03 07-01 «Прикладная информатика (программное обеспечение компьютерных систем)». В 3 ч. </a:t>
            </a:r>
            <a:r>
              <a:rPr lang="ru-RU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Ч. 1 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 Е. П. Соболевская [и др.] ; БГУ, Фак. прикладной математики и информатики, Каф. дискретной математики 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алгоритмики</a:t>
            </a:r>
            <a:r>
              <a:rPr lang="ru-RU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– Минск : БГУ, 2023. 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– 183 с.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[Электронный ресурс]. – Режим доступа: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https://elib.bsu.by/handle/123456789/309510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</a:tabLst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</a:tabLst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  <a:tabLst>
                <a:tab pos="228600" algn="l"/>
              </a:tabLst>
            </a:pP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и структуры данных : электронный учебно-методический комплекс для специальностей 6-05-0533-09 «Прикладная математика», 6-05-0533-10 «Информатика», 6-05-0533-11 «Прикладная информатика», 6-05-0533-12 «Кибербезопасность». В 3 ч. </a:t>
            </a:r>
            <a:r>
              <a:rPr lang="ru-RU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Ч. 2 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Е.П. Соболевская, В.М. Котов, А.А.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Буславский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БГУ, Фак. прикладной математики и информатики, Каф. дискретной математики и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алгоритмики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– Минск : БГУ, 2025. – 153 с. : ил. – </a:t>
            </a:r>
            <a:r>
              <a:rPr lang="ru-RU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Библиогр</a:t>
            </a:r>
            <a:r>
              <a:rPr lang="ru-RU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.: с. 147–148. </a:t>
            </a:r>
            <a:endParaRPr lang="en-US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https://edufpmi.bsu.by/mod/url/view.php?id=37420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4551A-97FA-18CD-6870-BF75B4627281}"/>
              </a:ext>
            </a:extLst>
          </p:cNvPr>
          <p:cNvSpPr txBox="1"/>
          <p:nvPr/>
        </p:nvSpPr>
        <p:spPr>
          <a:xfrm>
            <a:off x="3775871" y="664805"/>
            <a:ext cx="1934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Литература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939D11-4CA0-BC62-FEC6-D931C515AD49}"/>
              </a:ext>
            </a:extLst>
          </p:cNvPr>
          <p:cNvSpPr/>
          <p:nvPr/>
        </p:nvSpPr>
        <p:spPr>
          <a:xfrm>
            <a:off x="1059558" y="30409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AEFC45-CA6B-4164-B01C-AA048878B584}"/>
              </a:ext>
            </a:extLst>
          </p:cNvPr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7E2F866-A147-5388-CA24-B12A50BCA508}"/>
              </a:ext>
            </a:extLst>
          </p:cNvPr>
          <p:cNvSpPr/>
          <p:nvPr/>
        </p:nvSpPr>
        <p:spPr>
          <a:xfrm>
            <a:off x="1295278" y="372417"/>
            <a:ext cx="7444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ЭУМК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55D1124-508E-D809-05BA-42FAD4477B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9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B78D3-4E84-724F-4E01-CB52DC52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DC0D89-7A90-42F0-9FD2-391E9E265E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23" y="1451534"/>
            <a:ext cx="1816171" cy="25790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FEEDB9-2866-62F0-509B-3955085DEF00}"/>
              </a:ext>
            </a:extLst>
          </p:cNvPr>
          <p:cNvSpPr txBox="1"/>
          <p:nvPr/>
        </p:nvSpPr>
        <p:spPr>
          <a:xfrm>
            <a:off x="3775871" y="664805"/>
            <a:ext cx="1934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Литература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712348F-D61D-68B6-D3C0-B3C1B6F5B7C9}"/>
              </a:ext>
            </a:extLst>
          </p:cNvPr>
          <p:cNvSpPr/>
          <p:nvPr/>
        </p:nvSpPr>
        <p:spPr>
          <a:xfrm>
            <a:off x="2501153" y="1564601"/>
            <a:ext cx="935510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28600" algn="l"/>
              </a:tabLst>
            </a:pP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228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Алгоритмы: построение и анализ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 /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Т.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Кормен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[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и др.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]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М.: Вильямс, 2005. – 1296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c.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2A75F07-5280-81CE-46C2-1B38875A9A93}"/>
              </a:ext>
            </a:extLst>
          </p:cNvPr>
          <p:cNvSpPr/>
          <p:nvPr/>
        </p:nvSpPr>
        <p:spPr>
          <a:xfrm>
            <a:off x="1059558" y="30409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12FCEA6-A179-2DB0-73B5-9F1513346A0E}"/>
              </a:ext>
            </a:extLst>
          </p:cNvPr>
          <p:cNvSpPr/>
          <p:nvPr/>
        </p:nvSpPr>
        <p:spPr>
          <a:xfrm>
            <a:off x="0" y="4674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0651B94-7785-4D3F-28EB-92A611C9A002}"/>
              </a:ext>
            </a:extLst>
          </p:cNvPr>
          <p:cNvSpPr/>
          <p:nvPr/>
        </p:nvSpPr>
        <p:spPr>
          <a:xfrm>
            <a:off x="1295278" y="372417"/>
            <a:ext cx="7444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Литература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00AD842-6D8C-2E67-984D-8366383C03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5741" y="197922"/>
            <a:ext cx="3024336" cy="76861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CF53C6-94A5-F906-CA24-D67CA9328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53" y="4294094"/>
            <a:ext cx="1816171" cy="24750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0B5C2A-1265-28E2-F55C-B86581CF8CCE}"/>
              </a:ext>
            </a:extLst>
          </p:cNvPr>
          <p:cNvSpPr txBox="1"/>
          <p:nvPr/>
        </p:nvSpPr>
        <p:spPr>
          <a:xfrm>
            <a:off x="2665578" y="4924067"/>
            <a:ext cx="91906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hlinkClick r:id="rId6"/>
              </a:rPr>
              <a:t>Ла Рокка Марчелло.</a:t>
            </a:r>
          </a:p>
          <a:p>
            <a:r>
              <a:rPr lang="ru-RU" sz="2400" dirty="0">
                <a:hlinkClick r:id="rId6"/>
              </a:rPr>
              <a:t> Продвинутые алгоритмы и структуры данных. — СПб.: Питер, 2024. — 848 с.</a:t>
            </a:r>
            <a:endParaRPr lang="ru-RU" sz="2400" dirty="0"/>
          </a:p>
          <a:p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156124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936375"/>
            <a:ext cx="9144000" cy="1573587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Спасибо за внимание!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5440" y="0"/>
            <a:ext cx="1113656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236597"/>
            <a:ext cx="3024336" cy="76861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72280" cy="1241804"/>
          </a:xfrm>
          <a:prstGeom prst="rect">
            <a:avLst/>
          </a:prstGeom>
          <a:solidFill>
            <a:srgbClr val="15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3"/>
          <p:cNvSpPr txBox="1"/>
          <p:nvPr/>
        </p:nvSpPr>
        <p:spPr>
          <a:xfrm>
            <a:off x="7812321" y="6385155"/>
            <a:ext cx="42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©ДМА  ФПМИ Соболевская Е.П., 202</a:t>
            </a:r>
            <a:r>
              <a:rPr lang="en-US" dirty="0"/>
              <a:t>5</a:t>
            </a:r>
            <a:r>
              <a:rPr lang="ru-RU" dirty="0"/>
              <a:t> год</a:t>
            </a:r>
          </a:p>
        </p:txBody>
      </p:sp>
    </p:spTree>
    <p:extLst>
      <p:ext uri="{BB962C8B-B14F-4D97-AF65-F5344CB8AC3E}">
        <p14:creationId xmlns:p14="http://schemas.microsoft.com/office/powerpoint/2010/main" val="955546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3101</TotalTime>
  <Words>1576</Words>
  <Application>Microsoft Office PowerPoint</Application>
  <PresentationFormat>Широкоэкранный</PresentationFormat>
  <Paragraphs>179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SFMono-Regular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Victor Demianov</dc:creator>
  <cp:lastModifiedBy>Victor Demianov</cp:lastModifiedBy>
  <cp:revision>458</cp:revision>
  <dcterms:created xsi:type="dcterms:W3CDTF">2020-04-14T05:04:13Z</dcterms:created>
  <dcterms:modified xsi:type="dcterms:W3CDTF">2025-08-31T16:05:52Z</dcterms:modified>
</cp:coreProperties>
</file>